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0471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C State Engineering -- ANS / Conferences / 2021 Student Conference">
            <a:extLst>
              <a:ext uri="{FF2B5EF4-FFF2-40B4-BE49-F238E27FC236}">
                <a16:creationId xmlns:a16="http://schemas.microsoft.com/office/drawing/2014/main" id="{8F3784AA-2818-E7AF-6E6A-BD6117BEBCF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22871" y="212814"/>
            <a:ext cx="1551223" cy="43240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Y5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4048" y="1188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11631168" y="0"/>
            <a:ext cx="557784" cy="47548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D6D6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pic>
        <p:nvPicPr>
          <p:cNvPr id="5" name="Picture 4" descr="NC State Engineering -- ANS / Conferences / 2021 Student Conference">
            <a:extLst>
              <a:ext uri="{FF2B5EF4-FFF2-40B4-BE49-F238E27FC236}">
                <a16:creationId xmlns:a16="http://schemas.microsoft.com/office/drawing/2014/main" id="{8F3784AA-2818-E7AF-6E6A-BD6117BEBCF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61074" y="651225"/>
            <a:ext cx="1551223" cy="432403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D6D6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80467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0000"/>
                </a:solidFill>
              </a:rPr>
              <a:t>GUIDED LLM PROMPT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114300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B1F33"/>
                </a:solidFill>
              </a:rPr>
              <a:t>Recreate the Full ML Pipeline Notebook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30352" y="1920240"/>
            <a:ext cx="804672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454545"/>
                </a:solidFill>
              </a:rPr>
              <a:t>A classroom-ready prompt sequence for using an LLM to generate the same structure, code, and interpretation as the Day 3 notebook workflow.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183880" y="2880360"/>
            <a:ext cx="2926080" cy="2057400"/>
          </a:xfrm>
          <a:prstGeom prst="roundRect">
            <a:avLst>
              <a:gd name="adj" fmla="val 4889"/>
            </a:avLst>
          </a:prstGeom>
          <a:solidFill>
            <a:srgbClr val="FFFFFF"/>
          </a:solidFill>
          <a:ln w="12700">
            <a:solidFill>
              <a:srgbClr val="E7E0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430768" y="31272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3"/>
                </a:solidFill>
              </a:rPr>
              <a:t>Prompt chain outputs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58200" y="3547872"/>
            <a:ext cx="224028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 fontScale="85000" lnSpcReduction="20000"/>
          </a:bodyPr>
          <a:lstStyle/>
          <a:p>
            <a:r>
              <a:rPr lang="en-US" sz="1350" dirty="0">
                <a:solidFill>
                  <a:srgbClr val="0B1F33"/>
                </a:solidFill>
              </a:rPr>
              <a:t>notebook sections
</a:t>
            </a:r>
            <a:endParaRPr lang="en-US" sz="1350" dirty="0"/>
          </a:p>
          <a:p>
            <a:r>
              <a:rPr lang="en-US" sz="1350" dirty="0">
                <a:solidFill>
                  <a:srgbClr val="0B1F33"/>
                </a:solidFill>
              </a:rPr>
              <a:t>Python code cells
</a:t>
            </a:r>
            <a:endParaRPr lang="en-US" sz="1350" dirty="0"/>
          </a:p>
          <a:p>
            <a:r>
              <a:rPr lang="en-US" sz="1350" dirty="0">
                <a:solidFill>
                  <a:srgbClr val="0B1F33"/>
                </a:solidFill>
              </a:rPr>
              <a:t>metrics + plots
</a:t>
            </a:r>
            <a:endParaRPr lang="en-US" sz="1350" dirty="0"/>
          </a:p>
          <a:p>
            <a:r>
              <a:rPr lang="en-US" sz="1350" dirty="0">
                <a:solidFill>
                  <a:srgbClr val="0B1F33"/>
                </a:solidFill>
              </a:rPr>
              <a:t>model card summary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30352" y="5440680"/>
            <a:ext cx="5212080" cy="0"/>
          </a:xfrm>
          <a:prstGeom prst="line">
            <a:avLst/>
          </a:prstGeom>
          <a:noFill/>
          <a:ln w="381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30352" y="559612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54545"/>
                </a:solidFill>
              </a:rPr>
              <a:t>Applied AI Design Workshop for Faculty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454545"/>
                </a:solidFill>
              </a:rPr>
              <a:t>Fred Livingston • 2026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02920" y="647395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D6D6D"/>
                </a:solidFill>
              </a:rPr>
              <a:t>Guided LLM Prompt • Recreate the Day 3 ML notebook workflow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D6D6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7665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C0000"/>
                </a:solidFill>
              </a:rPr>
              <a:t>Activity framing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0B1F33"/>
                </a:solidFill>
              </a:rPr>
              <a:t>Why use a guided LLM prompt?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502920" y="1408176"/>
            <a:ext cx="10881360" cy="0"/>
          </a:xfrm>
          <a:prstGeom prst="line">
            <a:avLst/>
          </a:prstGeom>
          <a:noFill/>
          <a:ln w="13970">
            <a:solidFill>
              <a:srgbClr val="E7E0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418320" y="69494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C0000"/>
                </a:solidFill>
              </a:rPr>
              <a:t>MODEL → NOTEBOOK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664208"/>
            <a:ext cx="106070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454545"/>
                </a:solidFill>
              </a:rPr>
              <a:t>The goal is not to let the LLM “do the science.” The goal is to teach how to use an LLM to produce a reproducible notebook scaffold that still requires human validation.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2514600"/>
            <a:ext cx="33375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7E0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31520" y="2514600"/>
            <a:ext cx="91440" cy="2057400"/>
          </a:xfrm>
          <a:prstGeom prst="rect">
            <a:avLst/>
          </a:prstGeom>
          <a:solidFill>
            <a:srgbClr val="2E6E4F"/>
          </a:solidFill>
          <a:ln w="12700">
            <a:solidFill>
              <a:srgbClr val="2E6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50976" y="2633472"/>
            <a:ext cx="3026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3"/>
                </a:solidFill>
              </a:rPr>
              <a:t>LLM is useful for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50976" y="2953512"/>
            <a:ext cx="3026664" cy="1536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454545"/>
                </a:solidFill>
              </a:rPr>
              <a:t>• Generating notebook structure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454545"/>
                </a:solidFill>
              </a:rPr>
              <a:t>• Explaining code line by line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454545"/>
                </a:solidFill>
              </a:rPr>
              <a:t>• Drafting scikit-learn workflows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454545"/>
                </a:solidFill>
              </a:rPr>
              <a:t>• Writing interpretation templates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434840" y="2514600"/>
            <a:ext cx="33375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7E0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434840" y="2514600"/>
            <a:ext cx="91440" cy="2057400"/>
          </a:xfrm>
          <a:prstGeom prst="rect">
            <a:avLst/>
          </a:prstGeom>
          <a:solidFill>
            <a:srgbClr val="9D1B1E"/>
          </a:solidFill>
          <a:ln w="12700">
            <a:solidFill>
              <a:srgbClr val="9D1B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54296" y="2633472"/>
            <a:ext cx="3026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3"/>
                </a:solidFill>
              </a:rPr>
              <a:t>Human must validate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54296" y="2953512"/>
            <a:ext cx="3026664" cy="1536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454545"/>
                </a:solidFill>
              </a:rPr>
              <a:t>• Target and unit of observation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454545"/>
                </a:solidFill>
              </a:rPr>
              <a:t>• Leakage and data availability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454545"/>
                </a:solidFill>
              </a:rPr>
              <a:t>• Metric choice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454545"/>
                </a:solidFill>
              </a:rPr>
              <a:t>• Unsupported claims or causal language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138160" y="2514600"/>
            <a:ext cx="33375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7E0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138160" y="2514600"/>
            <a:ext cx="91440" cy="2057400"/>
          </a:xfrm>
          <a:prstGeom prst="rect">
            <a:avLst/>
          </a:prstGeom>
          <a:solidFill>
            <a:srgbClr val="1B4D7A"/>
          </a:solidFill>
          <a:ln w="12700">
            <a:solidFill>
              <a:srgbClr val="1B4D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357616" y="2633472"/>
            <a:ext cx="3026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3"/>
                </a:solidFill>
              </a:rPr>
              <a:t>Takeaway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57616" y="2953512"/>
            <a:ext cx="3026664" cy="1536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454545"/>
                </a:solidFill>
              </a:rPr>
              <a:t>AI accelerates the pipeline, but evidence, assumptions, and conclusions remain the researcher’s responsibility.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49808" y="5285232"/>
            <a:ext cx="105156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650" i="1" dirty="0">
                <a:solidFill>
                  <a:srgbClr val="0B1F33"/>
                </a:solidFill>
              </a:rPr>
              <a:t>Use the prompt chain as a transparent recipe: each prompt produces one part of the notebook, and each output is checked before the next step.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502920" y="647395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D6D6D"/>
                </a:solidFill>
              </a:rPr>
              <a:t>Guided LLM Prompt • Recreate the Day 3 ML notebook workflow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D6D6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7665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C0000"/>
                </a:solidFill>
              </a:rPr>
              <a:t>Guided sequence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0B1F33"/>
                </a:solidFill>
              </a:rPr>
              <a:t>Prompt chain overview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502920" y="1408176"/>
            <a:ext cx="10881360" cy="0"/>
          </a:xfrm>
          <a:prstGeom prst="line">
            <a:avLst/>
          </a:prstGeom>
          <a:noFill/>
          <a:ln w="13970">
            <a:solidFill>
              <a:srgbClr val="E7E0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418320" y="69494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C0000"/>
                </a:solidFill>
              </a:rPr>
              <a:t>7 PROMPTS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82496" y="2761488"/>
            <a:ext cx="347472" cy="0"/>
          </a:xfrm>
          <a:prstGeom prst="line">
            <a:avLst/>
          </a:prstGeom>
          <a:noFill/>
          <a:ln w="19050">
            <a:solidFill>
              <a:srgbClr val="BFB8A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310128" y="2761488"/>
            <a:ext cx="347472" cy="0"/>
          </a:xfrm>
          <a:prstGeom prst="line">
            <a:avLst/>
          </a:prstGeom>
          <a:noFill/>
          <a:ln w="19050">
            <a:solidFill>
              <a:srgbClr val="BFB8A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937760" y="2761488"/>
            <a:ext cx="347472" cy="0"/>
          </a:xfrm>
          <a:prstGeom prst="line">
            <a:avLst/>
          </a:prstGeom>
          <a:noFill/>
          <a:ln w="19050">
            <a:solidFill>
              <a:srgbClr val="BFB8A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565392" y="2761488"/>
            <a:ext cx="347472" cy="0"/>
          </a:xfrm>
          <a:prstGeom prst="line">
            <a:avLst/>
          </a:prstGeom>
          <a:noFill/>
          <a:ln w="19050">
            <a:solidFill>
              <a:srgbClr val="BFB8A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193024" y="2761488"/>
            <a:ext cx="347472" cy="0"/>
          </a:xfrm>
          <a:prstGeom prst="line">
            <a:avLst/>
          </a:prstGeom>
          <a:noFill/>
          <a:ln w="19050">
            <a:solidFill>
              <a:srgbClr val="BFB8A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820656" y="2761488"/>
            <a:ext cx="347472" cy="0"/>
          </a:xfrm>
          <a:prstGeom prst="line">
            <a:avLst/>
          </a:prstGeom>
          <a:noFill/>
          <a:ln w="19050">
            <a:solidFill>
              <a:srgbClr val="BFB8A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02920" y="2423160"/>
            <a:ext cx="1234440" cy="676656"/>
          </a:xfrm>
          <a:prstGeom prst="roundRect">
            <a:avLst>
              <a:gd name="adj" fmla="val 10811"/>
            </a:avLst>
          </a:prstGeom>
          <a:solidFill>
            <a:srgbClr val="1B4D7A"/>
          </a:solidFill>
          <a:ln w="8890">
            <a:solidFill>
              <a:srgbClr val="1B4D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251460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Frame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94360" y="277063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EAF0F5"/>
                </a:solidFill>
              </a:rPr>
              <a:t>problem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130552" y="2423160"/>
            <a:ext cx="1234440" cy="676656"/>
          </a:xfrm>
          <a:prstGeom prst="roundRect">
            <a:avLst>
              <a:gd name="adj" fmla="val 10811"/>
            </a:avLst>
          </a:prstGeom>
          <a:solidFill>
            <a:srgbClr val="2E6E4F"/>
          </a:solidFill>
          <a:ln w="8890">
            <a:solidFill>
              <a:srgbClr val="2E6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221992" y="251460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Audit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221992" y="277063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EAF0F5"/>
                </a:solidFill>
              </a:rPr>
              <a:t>data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758184" y="2423160"/>
            <a:ext cx="1234440" cy="676656"/>
          </a:xfrm>
          <a:prstGeom prst="roundRect">
            <a:avLst>
              <a:gd name="adj" fmla="val 10811"/>
            </a:avLst>
          </a:prstGeom>
          <a:solidFill>
            <a:srgbClr val="1B4D7A"/>
          </a:solidFill>
          <a:ln w="8890">
            <a:solidFill>
              <a:srgbClr val="1B4D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849624" y="251460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Find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849624" y="277063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EAF0F5"/>
                </a:solidFill>
              </a:rPr>
              <a:t>leakage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385816" y="2423160"/>
            <a:ext cx="1234440" cy="676656"/>
          </a:xfrm>
          <a:prstGeom prst="roundRect">
            <a:avLst>
              <a:gd name="adj" fmla="val 10811"/>
            </a:avLst>
          </a:prstGeom>
          <a:solidFill>
            <a:srgbClr val="2E6E4F"/>
          </a:solidFill>
          <a:ln w="8890">
            <a:solidFill>
              <a:srgbClr val="2E6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77256" y="251460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Engineer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77256" y="277063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EAF0F5"/>
                </a:solidFill>
              </a:rPr>
              <a:t>features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013448" y="2423160"/>
            <a:ext cx="1234440" cy="676656"/>
          </a:xfrm>
          <a:prstGeom prst="roundRect">
            <a:avLst>
              <a:gd name="adj" fmla="val 10811"/>
            </a:avLst>
          </a:prstGeom>
          <a:solidFill>
            <a:srgbClr val="1B4D7A"/>
          </a:solidFill>
          <a:ln w="8890">
            <a:solidFill>
              <a:srgbClr val="1B4D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104888" y="251460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Build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104888" y="277063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EAF0F5"/>
                </a:solidFill>
              </a:rPr>
              <a:t>pipeline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641080" y="2423160"/>
            <a:ext cx="1234440" cy="676656"/>
          </a:xfrm>
          <a:prstGeom prst="roundRect">
            <a:avLst>
              <a:gd name="adj" fmla="val 10811"/>
            </a:avLst>
          </a:prstGeom>
          <a:solidFill>
            <a:srgbClr val="2E6E4F"/>
          </a:solidFill>
          <a:ln w="8890">
            <a:solidFill>
              <a:srgbClr val="2E6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732520" y="251460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Evaluate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732520" y="277063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EAF0F5"/>
                </a:solidFill>
              </a:rPr>
              <a:t>metrics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0268712" y="2423160"/>
            <a:ext cx="1234440" cy="676656"/>
          </a:xfrm>
          <a:prstGeom prst="roundRect">
            <a:avLst>
              <a:gd name="adj" fmla="val 10811"/>
            </a:avLst>
          </a:prstGeom>
          <a:solidFill>
            <a:srgbClr val="1B4D7A"/>
          </a:solidFill>
          <a:ln w="8890">
            <a:solidFill>
              <a:srgbClr val="1B4D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0360152" y="251460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Explain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0360152" y="277063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EAF0F5"/>
                </a:solidFill>
              </a:rPr>
              <a:t>results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13232" y="1664208"/>
            <a:ext cx="97840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454545"/>
                </a:solidFill>
              </a:rPr>
              <a:t>Each prompt should return a </a:t>
            </a:r>
            <a:r>
              <a:rPr lang="en-US" sz="1800" b="1" dirty="0">
                <a:solidFill>
                  <a:srgbClr val="454545"/>
                </a:solidFill>
              </a:rPr>
              <a:t>notebook section</a:t>
            </a:r>
            <a:r>
              <a:rPr lang="en-US" sz="1800" dirty="0">
                <a:solidFill>
                  <a:srgbClr val="454545"/>
                </a:solidFill>
              </a:rPr>
              <a:t>, suggested code, and a checklist for human verification.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77240" y="406908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</a:rPr>
              <a:t>What should be generated?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14400" y="4462272"/>
            <a:ext cx="4846320" cy="11338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 fontScale="85000" lnSpcReduction="20000"/>
          </a:bodyPr>
          <a:lstStyle/>
          <a:p>
            <a:r>
              <a:rPr lang="en-US" sz="1500" dirty="0">
                <a:solidFill>
                  <a:srgbClr val="0B1F33"/>
                </a:solidFill>
              </a:rPr>
              <a:t>Markdown explanation for the notebook
</a:t>
            </a:r>
            <a:endParaRPr lang="en-US" sz="1500" dirty="0"/>
          </a:p>
          <a:p>
            <a:r>
              <a:rPr lang="en-US" sz="1500" dirty="0">
                <a:solidFill>
                  <a:srgbClr val="0B1F33"/>
                </a:solidFill>
              </a:rPr>
              <a:t>Executable Python code cells
</a:t>
            </a:r>
            <a:endParaRPr lang="en-US" sz="1500" dirty="0"/>
          </a:p>
          <a:p>
            <a:r>
              <a:rPr lang="en-US" sz="1500" dirty="0">
                <a:solidFill>
                  <a:srgbClr val="0B1F33"/>
                </a:solidFill>
              </a:rPr>
              <a:t>Expected outputs or interpretation cues
</a:t>
            </a:r>
            <a:endParaRPr lang="en-US" sz="1500" dirty="0"/>
          </a:p>
          <a:p>
            <a:r>
              <a:rPr lang="en-US" sz="1500" dirty="0">
                <a:solidFill>
                  <a:srgbClr val="0B1F33"/>
                </a:solidFill>
              </a:rPr>
              <a:t>A human-check question before continuing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446520" y="406908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</a:rPr>
              <a:t>What should not be delegated?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583680" y="4462272"/>
            <a:ext cx="4754880" cy="11338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 fontScale="85000" lnSpcReduction="20000"/>
          </a:bodyPr>
          <a:lstStyle/>
          <a:p>
            <a:r>
              <a:rPr lang="en-US" sz="1500" dirty="0">
                <a:solidFill>
                  <a:srgbClr val="0B1F33"/>
                </a:solidFill>
              </a:rPr>
              <a:t>Approving labels or assumptions
</a:t>
            </a:r>
            <a:endParaRPr lang="en-US" sz="1500" dirty="0"/>
          </a:p>
          <a:p>
            <a:r>
              <a:rPr lang="en-US" sz="1500" dirty="0">
                <a:solidFill>
                  <a:srgbClr val="0B1F33"/>
                </a:solidFill>
              </a:rPr>
              <a:t>Deciding whether unusual values are real
</a:t>
            </a:r>
            <a:endParaRPr lang="en-US" sz="1500" dirty="0"/>
          </a:p>
          <a:p>
            <a:r>
              <a:rPr lang="en-US" sz="1500" dirty="0">
                <a:solidFill>
                  <a:srgbClr val="0B1F33"/>
                </a:solidFill>
              </a:rPr>
              <a:t>Making causal claims from predictive models
</a:t>
            </a:r>
            <a:endParaRPr lang="en-US" sz="1500" dirty="0"/>
          </a:p>
          <a:p>
            <a:r>
              <a:rPr lang="en-US" sz="1500" dirty="0">
                <a:solidFill>
                  <a:srgbClr val="0B1F33"/>
                </a:solidFill>
              </a:rPr>
              <a:t>Declaring deployment readiness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502920" y="647395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D6D6D"/>
                </a:solidFill>
              </a:rPr>
              <a:t>Guided LLM Prompt • Recreate the Day 3 ML notebook workflow</a:t>
            </a:r>
            <a:endParaRPr lang="en-US" sz="85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D6D6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7665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C0000"/>
                </a:solidFill>
              </a:rPr>
              <a:t>Prompt 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0B1F33"/>
                </a:solidFill>
              </a:rPr>
              <a:t>Setup prompt: define the LLM’s role and boundaries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502920" y="1408176"/>
            <a:ext cx="10881360" cy="0"/>
          </a:xfrm>
          <a:prstGeom prst="line">
            <a:avLst/>
          </a:prstGeom>
          <a:noFill/>
          <a:ln w="13970">
            <a:solidFill>
              <a:srgbClr val="E7E0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418320" y="69494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C0000"/>
                </a:solidFill>
              </a:rPr>
              <a:t>GUARDRAILS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664208"/>
            <a:ext cx="10835640" cy="3063240"/>
          </a:xfrm>
          <a:prstGeom prst="roundRect">
            <a:avLst>
              <a:gd name="adj" fmla="val 1791"/>
            </a:avLst>
          </a:prstGeom>
          <a:solidFill>
            <a:srgbClr val="FFFDF8"/>
          </a:solidFill>
          <a:ln w="12700">
            <a:solidFill>
              <a:srgbClr val="BFB8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85800" y="1664208"/>
            <a:ext cx="10835640" cy="33832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50392" y="1737360"/>
            <a:ext cx="10506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COPY-PASTE PROMPT 0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68680" y="2121408"/>
            <a:ext cx="10469880" cy="2514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You are helping create a Jupyter notebook for an applied AI workshop.</a:t>
            </a:r>
            <a:endParaRPr lang="en-US" sz="1210" dirty="0"/>
          </a:p>
          <a:p>
            <a:pPr marL="0" indent="0">
              <a:buNone/>
            </a:pPr>
            <a:endParaRPr lang="en-US" sz="1210" dirty="0"/>
          </a:p>
          <a:p>
            <a:pPr marL="0" indent="0">
              <a:buNone/>
            </a:pPr>
            <a:r>
              <a:rPr lang="en-US" sz="121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Use Python, pandas, matplotlib/seaborn, and scikit-learn.</a:t>
            </a:r>
            <a:endParaRPr lang="en-US" sz="1210" dirty="0"/>
          </a:p>
          <a:p>
            <a:pPr marL="0" indent="0">
              <a:buNone/>
            </a:pPr>
            <a:r>
              <a:rPr lang="en-US" sz="121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Create short markdown explanations and executable code cells.</a:t>
            </a:r>
            <a:endParaRPr lang="en-US" sz="1210" dirty="0"/>
          </a:p>
          <a:p>
            <a:pPr marL="0" indent="0">
              <a:buNone/>
            </a:pPr>
            <a:endParaRPr lang="en-US" sz="1210" dirty="0"/>
          </a:p>
          <a:p>
            <a:pPr marL="0" indent="0">
              <a:buNone/>
            </a:pPr>
            <a:r>
              <a:rPr lang="en-US" sz="121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Do not invent dataset columns. Ask me to provide column names if needed.</a:t>
            </a:r>
            <a:endParaRPr lang="en-US" sz="1210" dirty="0"/>
          </a:p>
          <a:p>
            <a:pPr marL="0" indent="0">
              <a:buNone/>
            </a:pPr>
            <a:r>
              <a:rPr lang="en-US" sz="121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Do not claim causality from prediction results.</a:t>
            </a:r>
            <a:endParaRPr lang="en-US" sz="1210" dirty="0"/>
          </a:p>
          <a:p>
            <a:pPr marL="0" indent="0">
              <a:buNone/>
            </a:pPr>
            <a:r>
              <a:rPr lang="en-US" sz="121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Do not remove outliers without a documented domain-based rule.</a:t>
            </a:r>
            <a:endParaRPr lang="en-US" sz="1210" dirty="0"/>
          </a:p>
          <a:p>
            <a:pPr marL="0" indent="0">
              <a:buNone/>
            </a:pPr>
            <a:r>
              <a:rPr lang="en-US" sz="121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Preprocessing must be fitted only on training data.</a:t>
            </a:r>
            <a:endParaRPr lang="en-US" sz="1210" dirty="0"/>
          </a:p>
        </p:txBody>
      </p:sp>
      <p:sp>
        <p:nvSpPr>
          <p:cNvPr id="10" name="Text 8"/>
          <p:cNvSpPr/>
          <p:nvPr/>
        </p:nvSpPr>
        <p:spPr>
          <a:xfrm>
            <a:off x="777240" y="5166360"/>
            <a:ext cx="103327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454545"/>
                </a:solidFill>
              </a:rPr>
              <a:t>Note: before running the prompt chain, provide the dataset name and columns. This prevents the LLM from guessing the data structure.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D6D6D"/>
                </a:solidFill>
              </a:rPr>
              <a:t>Guided LLM Prompt • Recreate the Day 3 ML notebook workflow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D6D6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7665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C0000"/>
                </a:solidFill>
              </a:rPr>
              <a:t>Step 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0B1F33"/>
                </a:solidFill>
              </a:rPr>
              <a:t>Prompt 1: problem framing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502920" y="1408176"/>
            <a:ext cx="10881360" cy="0"/>
          </a:xfrm>
          <a:prstGeom prst="line">
            <a:avLst/>
          </a:prstGeom>
          <a:noFill/>
          <a:ln w="13970">
            <a:solidFill>
              <a:srgbClr val="E7E0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418320" y="69494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C0000"/>
                </a:solidFill>
              </a:rPr>
              <a:t>FRAMING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58368" y="1627632"/>
            <a:ext cx="5349240" cy="3886200"/>
          </a:xfrm>
          <a:prstGeom prst="roundRect">
            <a:avLst>
              <a:gd name="adj" fmla="val 1412"/>
            </a:avLst>
          </a:prstGeom>
          <a:solidFill>
            <a:srgbClr val="FFFDF8"/>
          </a:solidFill>
          <a:ln w="12700">
            <a:solidFill>
              <a:srgbClr val="BFB8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58368" y="1627632"/>
            <a:ext cx="5349240" cy="338328"/>
          </a:xfrm>
          <a:prstGeom prst="rect">
            <a:avLst/>
          </a:prstGeom>
          <a:solidFill>
            <a:srgbClr val="1B4D7A"/>
          </a:solidFill>
          <a:ln w="12700">
            <a:solidFill>
              <a:srgbClr val="1B4D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1700784"/>
            <a:ext cx="5020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COPY-PASTE PROMPT 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41248" y="2084832"/>
            <a:ext cx="4983480" cy="3337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Create the first notebook section for this dataset: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Dataset: classification_workshop.csv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Columns: temperature_c, pressure_kpa, speed_mm_s, vibration_mm_s, defect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Write markdown and code that identify: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the unit of observation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input variables and units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target variable and target meaning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model task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baseline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primary metric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Return the result as notebook-ready markdown and Python code.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6446520" y="1664208"/>
            <a:ext cx="48006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7E0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46520" y="1664208"/>
            <a:ext cx="91440" cy="1097280"/>
          </a:xfrm>
          <a:prstGeom prst="rect">
            <a:avLst/>
          </a:prstGeom>
          <a:solidFill>
            <a:srgbClr val="2E6E4F"/>
          </a:solidFill>
          <a:ln w="12700">
            <a:solidFill>
              <a:srgbClr val="2E6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665976" y="1783080"/>
            <a:ext cx="4489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3"/>
                </a:solidFill>
              </a:rPr>
              <a:t>Expected result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665976" y="2103120"/>
            <a:ext cx="4489704" cy="5760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454545"/>
                </a:solidFill>
              </a:rPr>
              <a:t>A notebook section that clearly states: one row = one process run; inputs are process measurements; target = defect; task = binary classification.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46520" y="3035808"/>
            <a:ext cx="48006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7E0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446520" y="3035808"/>
            <a:ext cx="91440" cy="1097280"/>
          </a:xfrm>
          <a:prstGeom prst="rect">
            <a:avLst/>
          </a:prstGeom>
          <a:solidFill>
            <a:srgbClr val="9D1B1E"/>
          </a:solidFill>
          <a:ln w="12700">
            <a:solidFill>
              <a:srgbClr val="9D1B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665976" y="3154680"/>
            <a:ext cx="4489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3"/>
                </a:solidFill>
              </a:rPr>
              <a:t>Human check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65976" y="3474720"/>
            <a:ext cx="4489704" cy="5760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454545"/>
                </a:solidFill>
              </a:rPr>
              <a:t>Are these variables available before the prediction would be made? Are the units and target definition correct?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46520" y="4407408"/>
            <a:ext cx="48006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7E0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46520" y="4407408"/>
            <a:ext cx="91440" cy="1097280"/>
          </a:xfrm>
          <a:prstGeom prst="rect">
            <a:avLst/>
          </a:prstGeom>
          <a:solidFill>
            <a:srgbClr val="C99700"/>
          </a:solidFill>
          <a:ln w="127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665976" y="4526280"/>
            <a:ext cx="4489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3"/>
                </a:solidFill>
              </a:rPr>
              <a:t>Classroom question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665976" y="4846320"/>
            <a:ext cx="4489704" cy="5760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454545"/>
                </a:solidFill>
              </a:rPr>
              <a:t>If the target were continuous yield instead of defect, how would the task and metric change?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02920" y="647395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D6D6D"/>
                </a:solidFill>
              </a:rPr>
              <a:t>Guided LLM Prompt • Recreate the Day 3 ML notebook workflow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D6D6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7665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C0000"/>
                </a:solidFill>
              </a:rPr>
              <a:t>Step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0B1F33"/>
                </a:solidFill>
              </a:rPr>
              <a:t>Prompt 2: data audit and visualization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502920" y="1408176"/>
            <a:ext cx="10881360" cy="0"/>
          </a:xfrm>
          <a:prstGeom prst="line">
            <a:avLst/>
          </a:prstGeom>
          <a:noFill/>
          <a:ln w="13970">
            <a:solidFill>
              <a:srgbClr val="E7E0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418320" y="69494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C0000"/>
                </a:solidFill>
              </a:rPr>
              <a:t>PANDAS + PLOTS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58368" y="1627632"/>
            <a:ext cx="5349240" cy="3950208"/>
          </a:xfrm>
          <a:prstGeom prst="roundRect">
            <a:avLst>
              <a:gd name="adj" fmla="val 1389"/>
            </a:avLst>
          </a:prstGeom>
          <a:solidFill>
            <a:srgbClr val="FFFDF8"/>
          </a:solidFill>
          <a:ln w="12700">
            <a:solidFill>
              <a:srgbClr val="BFB8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58368" y="1627632"/>
            <a:ext cx="5349240" cy="338328"/>
          </a:xfrm>
          <a:prstGeom prst="rect">
            <a:avLst/>
          </a:prstGeom>
          <a:solidFill>
            <a:srgbClr val="1B4D7A"/>
          </a:solidFill>
          <a:ln w="12700">
            <a:solidFill>
              <a:srgbClr val="1B4D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1700784"/>
            <a:ext cx="5020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COPY-PASTE PROMPT 2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41248" y="2084832"/>
            <a:ext cx="4983480" cy="34015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Generate notebook cells to load classification_workshop.csv and audit it.</a:t>
            </a:r>
            <a:endParaRPr lang="en-US" sz="1160" dirty="0"/>
          </a:p>
          <a:p>
            <a:pPr marL="0" indent="0">
              <a:buNone/>
            </a:pPr>
            <a:endParaRPr lang="en-US" sz="1160" dirty="0"/>
          </a:p>
          <a:p>
            <a:pPr marL="0" indent="0">
              <a:buNone/>
            </a:pPr>
            <a:r>
              <a:rPr lang="en-US" sz="116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Include code for:</a:t>
            </a:r>
            <a:endParaRPr lang="en-US" sz="1160" dirty="0"/>
          </a:p>
          <a:p>
            <a:pPr marL="0" indent="0">
              <a:buNone/>
            </a:pPr>
            <a:r>
              <a:rPr lang="en-US" sz="116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df.head(), df.shape, df.dtypes</a:t>
            </a:r>
            <a:endParaRPr lang="en-US" sz="1160" dirty="0"/>
          </a:p>
          <a:p>
            <a:pPr marL="0" indent="0">
              <a:buNone/>
            </a:pPr>
            <a:r>
              <a:rPr lang="en-US" sz="116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missing values</a:t>
            </a:r>
            <a:endParaRPr lang="en-US" sz="1160" dirty="0"/>
          </a:p>
          <a:p>
            <a:pPr marL="0" indent="0">
              <a:buNone/>
            </a:pPr>
            <a:r>
              <a:rPr lang="en-US" sz="116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duplicate rows</a:t>
            </a:r>
            <a:endParaRPr lang="en-US" sz="1160" dirty="0"/>
          </a:p>
          <a:p>
            <a:pPr marL="0" indent="0">
              <a:buNone/>
            </a:pPr>
            <a:r>
              <a:rPr lang="en-US" sz="116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target class balance</a:t>
            </a:r>
            <a:endParaRPr lang="en-US" sz="1160" dirty="0"/>
          </a:p>
          <a:p>
            <a:pPr marL="0" indent="0">
              <a:buNone/>
            </a:pPr>
            <a:r>
              <a:rPr lang="en-US" sz="116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summary statistics</a:t>
            </a:r>
            <a:endParaRPr lang="en-US" sz="1160" dirty="0"/>
          </a:p>
          <a:p>
            <a:pPr marL="0" indent="0">
              <a:buNone/>
            </a:pPr>
            <a:r>
              <a:rPr lang="en-US" sz="116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a count plot of defect</a:t>
            </a:r>
            <a:endParaRPr lang="en-US" sz="1160" dirty="0"/>
          </a:p>
          <a:p>
            <a:pPr marL="0" indent="0">
              <a:buNone/>
            </a:pPr>
            <a:r>
              <a:rPr lang="en-US" sz="116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scatter or box plots for process variables</a:t>
            </a:r>
            <a:endParaRPr lang="en-US" sz="1160" dirty="0"/>
          </a:p>
          <a:p>
            <a:pPr marL="0" indent="0">
              <a:buNone/>
            </a:pPr>
            <a:endParaRPr lang="en-US" sz="1160" dirty="0"/>
          </a:p>
          <a:p>
            <a:pPr marL="0" indent="0">
              <a:buNone/>
            </a:pPr>
            <a:r>
              <a:rPr lang="en-US" sz="116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Add brief markdown that explains what each audit output tells us.</a:t>
            </a:r>
            <a:endParaRPr lang="en-US" sz="1160" dirty="0"/>
          </a:p>
        </p:txBody>
      </p:sp>
      <p:sp>
        <p:nvSpPr>
          <p:cNvPr id="10" name="Text 8"/>
          <p:cNvSpPr/>
          <p:nvPr/>
        </p:nvSpPr>
        <p:spPr>
          <a:xfrm>
            <a:off x="6446520" y="1691640"/>
            <a:ext cx="4389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454545"/>
                </a:solidFill>
              </a:rPr>
              <a:t>Useful output is not just code; it should tell participants what to look for in the results.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46520" y="242316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</a:rPr>
              <a:t>Evidence to inspect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12908" y="2907166"/>
            <a:ext cx="4389120" cy="1280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 fontScale="70000" lnSpcReduction="20000"/>
          </a:bodyPr>
          <a:lstStyle/>
          <a:p>
            <a:r>
              <a:rPr lang="en-US" sz="1520" dirty="0">
                <a:solidFill>
                  <a:srgbClr val="0B1F33"/>
                </a:solidFill>
              </a:rPr>
              <a:t>class imbalance
</a:t>
            </a:r>
            <a:endParaRPr lang="en-US" sz="1520" dirty="0"/>
          </a:p>
          <a:p>
            <a:r>
              <a:rPr lang="en-US" sz="1520" dirty="0">
                <a:solidFill>
                  <a:srgbClr val="0B1F33"/>
                </a:solidFill>
              </a:rPr>
              <a:t>missing values
</a:t>
            </a:r>
            <a:endParaRPr lang="en-US" sz="1520" dirty="0"/>
          </a:p>
          <a:p>
            <a:r>
              <a:rPr lang="en-US" sz="1520" dirty="0">
                <a:solidFill>
                  <a:srgbClr val="0B1F33"/>
                </a:solidFill>
              </a:rPr>
              <a:t>unexpected data types
</a:t>
            </a:r>
            <a:endParaRPr lang="en-US" sz="1520" dirty="0"/>
          </a:p>
          <a:p>
            <a:r>
              <a:rPr lang="en-US" sz="1520" dirty="0">
                <a:solidFill>
                  <a:srgbClr val="0B1F33"/>
                </a:solidFill>
              </a:rPr>
              <a:t>range or scale differences
</a:t>
            </a:r>
            <a:endParaRPr lang="en-US" sz="1520" dirty="0"/>
          </a:p>
          <a:p>
            <a:r>
              <a:rPr lang="en-US" sz="1520" dirty="0">
                <a:solidFill>
                  <a:srgbClr val="0B1F33"/>
                </a:solidFill>
              </a:rPr>
              <a:t>variables that may be identifiers</a:t>
            </a:r>
            <a:endParaRPr lang="en-US" sz="1520" dirty="0"/>
          </a:p>
        </p:txBody>
      </p:sp>
      <p:sp>
        <p:nvSpPr>
          <p:cNvPr id="13" name="Text 11"/>
          <p:cNvSpPr/>
          <p:nvPr/>
        </p:nvSpPr>
        <p:spPr>
          <a:xfrm>
            <a:off x="6446520" y="460857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</a:rPr>
              <a:t>Human check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65392" y="4983480"/>
            <a:ext cx="438912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454545"/>
                </a:solidFill>
              </a:rPr>
              <a:t>Do the plots support the proposed task, or do they reveal that the data are too limited or noisy for the desired claim?</a:t>
            </a:r>
            <a:endParaRPr lang="en-US" sz="1520" dirty="0"/>
          </a:p>
        </p:txBody>
      </p:sp>
      <p:sp>
        <p:nvSpPr>
          <p:cNvPr id="15" name="Text 13"/>
          <p:cNvSpPr/>
          <p:nvPr/>
        </p:nvSpPr>
        <p:spPr>
          <a:xfrm>
            <a:off x="502920" y="647395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D6D6D"/>
                </a:solidFill>
              </a:rPr>
              <a:t>Guided LLM Prompt • Recreate the Day 3 ML notebook workflow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D6D6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7665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C0000"/>
                </a:solidFill>
              </a:rPr>
              <a:t>Step 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0B1F33"/>
                </a:solidFill>
              </a:rPr>
              <a:t>Prompt 3: leakage and availability review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502920" y="1408176"/>
            <a:ext cx="10881360" cy="0"/>
          </a:xfrm>
          <a:prstGeom prst="line">
            <a:avLst/>
          </a:prstGeom>
          <a:noFill/>
          <a:ln w="13970">
            <a:solidFill>
              <a:srgbClr val="E7E0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418320" y="69494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C0000"/>
                </a:solidFill>
              </a:rPr>
              <a:t>TRUST CHECK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58368" y="1627632"/>
            <a:ext cx="5349240" cy="3886200"/>
          </a:xfrm>
          <a:prstGeom prst="roundRect">
            <a:avLst>
              <a:gd name="adj" fmla="val 1412"/>
            </a:avLst>
          </a:prstGeom>
          <a:solidFill>
            <a:srgbClr val="FFFDF8"/>
          </a:solidFill>
          <a:ln w="12700">
            <a:solidFill>
              <a:srgbClr val="BFB8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58368" y="1627632"/>
            <a:ext cx="5349240" cy="338328"/>
          </a:xfrm>
          <a:prstGeom prst="rect">
            <a:avLst/>
          </a:prstGeom>
          <a:solidFill>
            <a:srgbClr val="9D1B1E"/>
          </a:solidFill>
          <a:ln w="12700">
            <a:solidFill>
              <a:srgbClr val="9D1B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1700784"/>
            <a:ext cx="5020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COPY-PASTE PROMPT 3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41248" y="2084832"/>
            <a:ext cx="4983480" cy="3337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Review these candidate inputs for target leakage.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Prediction time: before final quality inspection.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Inputs: temperature_c, pressure_kpa, speed_mm_s, vibration_mm_s.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Target: defect.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Create a notebook markdown table with columns: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variable, role, available at prediction time?, leakage risk?, decision.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Add one paragraph explaining why leakage can invalidate model evaluation.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6446520" y="1737360"/>
            <a:ext cx="47548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7E0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46520" y="1737360"/>
            <a:ext cx="91440" cy="1051560"/>
          </a:xfrm>
          <a:prstGeom prst="rect">
            <a:avLst/>
          </a:prstGeom>
          <a:solidFill>
            <a:srgbClr val="1B4D7A"/>
          </a:solidFill>
          <a:ln w="12700">
            <a:solidFill>
              <a:srgbClr val="1B4D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665976" y="1856232"/>
            <a:ext cx="4443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3"/>
                </a:solidFill>
              </a:rPr>
              <a:t>What the LLM can do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665976" y="2176272"/>
            <a:ext cx="4443984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454545"/>
                </a:solidFill>
              </a:rPr>
              <a:t>Flag variables that might be unavailable or outcome-derived; suggest questions to ask the data owner.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46520" y="3063240"/>
            <a:ext cx="47548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7E0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446520" y="3063240"/>
            <a:ext cx="91440" cy="1051560"/>
          </a:xfrm>
          <a:prstGeom prst="rect">
            <a:avLst/>
          </a:prstGeom>
          <a:solidFill>
            <a:srgbClr val="9D1B1E"/>
          </a:solidFill>
          <a:ln w="12700">
            <a:solidFill>
              <a:srgbClr val="9D1B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665976" y="3182112"/>
            <a:ext cx="4443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3"/>
                </a:solidFill>
              </a:rPr>
              <a:t>What the LLM cannot know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65976" y="3502152"/>
            <a:ext cx="4443984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454545"/>
                </a:solidFill>
              </a:rPr>
              <a:t>Whether a sensor value was recorded before, during, or after the decision unless you provide that temporal context.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46520" y="4389120"/>
            <a:ext cx="47548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7E0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46520" y="4389120"/>
            <a:ext cx="91440" cy="1051560"/>
          </a:xfrm>
          <a:prstGeom prst="rect">
            <a:avLst/>
          </a:prstGeom>
          <a:solidFill>
            <a:srgbClr val="2E6E4F"/>
          </a:solidFill>
          <a:ln w="12700">
            <a:solidFill>
              <a:srgbClr val="2E6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665976" y="4507992"/>
            <a:ext cx="4443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3"/>
                </a:solidFill>
              </a:rPr>
              <a:t>Emphasis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665976" y="4828032"/>
            <a:ext cx="4443984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454545"/>
                </a:solidFill>
              </a:rPr>
              <a:t>Leakage is a workflow problem, not just a coding problem. The timeline defines what the model is allowed to know.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02920" y="647395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D6D6D"/>
                </a:solidFill>
              </a:rPr>
              <a:t>Guided LLM Prompt • Recreate the Day 3 ML notebook workflow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D6D6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7665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C0000"/>
                </a:solidFill>
              </a:rPr>
              <a:t>Step 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0B1F33"/>
                </a:solidFill>
              </a:rPr>
              <a:t>Prompt 4: feature engineering with discipline checks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502920" y="1408176"/>
            <a:ext cx="10881360" cy="0"/>
          </a:xfrm>
          <a:prstGeom prst="line">
            <a:avLst/>
          </a:prstGeom>
          <a:noFill/>
          <a:ln w="13970">
            <a:solidFill>
              <a:srgbClr val="E7E0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418320" y="69494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C0000"/>
                </a:solidFill>
              </a:rPr>
              <a:t>FEATURES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58368" y="1627632"/>
            <a:ext cx="5349240" cy="3886200"/>
          </a:xfrm>
          <a:prstGeom prst="roundRect">
            <a:avLst>
              <a:gd name="adj" fmla="val 1412"/>
            </a:avLst>
          </a:prstGeom>
          <a:solidFill>
            <a:srgbClr val="FFFDF8"/>
          </a:solidFill>
          <a:ln w="12700">
            <a:solidFill>
              <a:srgbClr val="BFB8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58368" y="1627632"/>
            <a:ext cx="5349240" cy="338328"/>
          </a:xfrm>
          <a:prstGeom prst="rect">
            <a:avLst/>
          </a:prstGeom>
          <a:solidFill>
            <a:srgbClr val="2E6E4F"/>
          </a:solidFill>
          <a:ln w="12700">
            <a:solidFill>
              <a:srgbClr val="2E6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1700784"/>
            <a:ext cx="5020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COPY-PASTE PROMPT 4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41248" y="2084832"/>
            <a:ext cx="4983480" cy="3337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Suggest candidate engineered features for a defect-classification notebook using: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temperature_c, pressure_kpa, speed_mm_s, vibration_mm_s.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Separate the suggestions into: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1. domain-informed features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2. mathematically convenient features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3. features that require caution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Provide Python code for only the clearly justified features.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Do not claim that any feature causes defects.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6400800" y="173736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</a:rPr>
              <a:t>Example outputs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37960" y="2212848"/>
            <a:ext cx="4389120" cy="1051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 fontScale="77500" lnSpcReduction="20000"/>
          </a:bodyPr>
          <a:lstStyle/>
          <a:p>
            <a:r>
              <a:rPr lang="en-US" sz="1500" dirty="0">
                <a:solidFill>
                  <a:srgbClr val="0B1F33"/>
                </a:solidFill>
              </a:rPr>
              <a:t>temperature deviation from nominal
</a:t>
            </a:r>
            <a:endParaRPr lang="en-US" sz="1500" dirty="0"/>
          </a:p>
          <a:p>
            <a:r>
              <a:rPr lang="en-US" sz="1500" dirty="0">
                <a:solidFill>
                  <a:srgbClr val="0B1F33"/>
                </a:solidFill>
              </a:rPr>
              <a:t>pressure deviation from target
</a:t>
            </a:r>
            <a:endParaRPr lang="en-US" sz="1500" dirty="0"/>
          </a:p>
          <a:p>
            <a:r>
              <a:rPr lang="en-US" sz="1500" dirty="0">
                <a:solidFill>
                  <a:srgbClr val="0B1F33"/>
                </a:solidFill>
              </a:rPr>
              <a:t>vibration-to-speed ratio
</a:t>
            </a:r>
            <a:endParaRPr lang="en-US" sz="1500" dirty="0"/>
          </a:p>
          <a:p>
            <a:r>
              <a:rPr lang="en-US" sz="1500" dirty="0">
                <a:solidFill>
                  <a:srgbClr val="0B1F33"/>
                </a:solidFill>
              </a:rPr>
              <a:t>process intensity proxy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0" y="370332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</a:rPr>
              <a:t>Verification questions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37960" y="4219393"/>
            <a:ext cx="4389120" cy="1143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 fontScale="85000" lnSpcReduction="20000"/>
          </a:bodyPr>
          <a:lstStyle/>
          <a:p>
            <a:r>
              <a:rPr lang="en-US" sz="1500" dirty="0">
                <a:solidFill>
                  <a:srgbClr val="0B1F33"/>
                </a:solidFill>
              </a:rPr>
              <a:t>Is the nominal value known?
</a:t>
            </a:r>
            <a:endParaRPr lang="en-US" sz="1500" dirty="0"/>
          </a:p>
          <a:p>
            <a:r>
              <a:rPr lang="en-US" sz="1500" dirty="0">
                <a:solidFill>
                  <a:srgbClr val="0B1F33"/>
                </a:solidFill>
              </a:rPr>
              <a:t>Does the feature have a physical meaning?
</a:t>
            </a:r>
            <a:endParaRPr lang="en-US" sz="1500" dirty="0"/>
          </a:p>
          <a:p>
            <a:r>
              <a:rPr lang="en-US" sz="1500" dirty="0">
                <a:solidFill>
                  <a:srgbClr val="0B1F33"/>
                </a:solidFill>
              </a:rPr>
              <a:t>Is it available before prediction?
</a:t>
            </a:r>
            <a:endParaRPr lang="en-US" sz="1500" dirty="0"/>
          </a:p>
          <a:p>
            <a:r>
              <a:rPr lang="en-US" sz="1500" dirty="0">
                <a:solidFill>
                  <a:srgbClr val="0B1F33"/>
                </a:solidFill>
              </a:rPr>
              <a:t>Does it duplicate or leak the target?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" y="647395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D6D6D"/>
                </a:solidFill>
              </a:rPr>
              <a:t>Guided LLM Prompt • Recreate the Day 3 ML notebook workflow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D6D6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7665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C0000"/>
                </a:solidFill>
              </a:rPr>
              <a:t>Step 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0B1F33"/>
                </a:solidFill>
              </a:rPr>
              <a:t>Prompt 5: generate the reproducible notebook workflow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502920" y="1408176"/>
            <a:ext cx="10881360" cy="0"/>
          </a:xfrm>
          <a:prstGeom prst="line">
            <a:avLst/>
          </a:prstGeom>
          <a:noFill/>
          <a:ln w="13970">
            <a:solidFill>
              <a:srgbClr val="E7E0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418320" y="69494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C0000"/>
                </a:solidFill>
              </a:rPr>
              <a:t>CODE CELLS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58368" y="1536192"/>
            <a:ext cx="10835640" cy="4160520"/>
          </a:xfrm>
          <a:prstGeom prst="roundRect">
            <a:avLst>
              <a:gd name="adj" fmla="val 1319"/>
            </a:avLst>
          </a:prstGeom>
          <a:solidFill>
            <a:srgbClr val="FFFDF8"/>
          </a:solidFill>
          <a:ln w="12700">
            <a:solidFill>
              <a:srgbClr val="BFB8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58368" y="1536192"/>
            <a:ext cx="10835640" cy="33832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1609344"/>
            <a:ext cx="10506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COPY-PASTE PROMPT 5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41248" y="1993392"/>
            <a:ext cx="10469880" cy="3611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Create the next notebook section using scikit-learn.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Build a reproducible binary-classification workflow that: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defines X and 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uses train_test_split with stratify=y and random_state=42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creates a majority-class baseline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standardizes numeric features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fits LogisticRegression(max_iter=1000)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predicts on the test set only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reports accuracy, precision, recall, F1, and confusion matrix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Use clear markdown headings and short explanations before each code cell.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5925312"/>
            <a:ext cx="102412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/>
          </a:bodyPr>
          <a:lstStyle/>
          <a:p>
            <a:pPr marL="0" indent="0">
              <a:buNone/>
            </a:pPr>
            <a:r>
              <a:rPr lang="en-US" sz="1550" i="1" dirty="0">
                <a:solidFill>
                  <a:srgbClr val="0B1F33"/>
                </a:solidFill>
              </a:rPr>
              <a:t>Prompt after generation: “Where is preprocessing fitted? Did the code evaluate on the held-out test set? Is the baseline included?”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D6D6D"/>
                </a:solidFill>
              </a:rPr>
              <a:t>Guided LLM Prompt • Recreate the Day 3 ML notebook workflow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D6D6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7665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C0000"/>
                </a:solidFill>
              </a:rPr>
              <a:t>Step 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0B1F33"/>
                </a:solidFill>
              </a:rPr>
              <a:t>Prompt 6: evaluation and error analysis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502920" y="1408176"/>
            <a:ext cx="10881360" cy="0"/>
          </a:xfrm>
          <a:prstGeom prst="line">
            <a:avLst/>
          </a:prstGeom>
          <a:noFill/>
          <a:ln w="13970">
            <a:solidFill>
              <a:srgbClr val="E7E0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418320" y="69494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C0000"/>
                </a:solidFill>
              </a:rPr>
              <a:t>METRICS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58368" y="1627632"/>
            <a:ext cx="5349240" cy="3886200"/>
          </a:xfrm>
          <a:prstGeom prst="roundRect">
            <a:avLst>
              <a:gd name="adj" fmla="val 1412"/>
            </a:avLst>
          </a:prstGeom>
          <a:solidFill>
            <a:srgbClr val="FFFDF8"/>
          </a:solidFill>
          <a:ln w="12700">
            <a:solidFill>
              <a:srgbClr val="BFB8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58368" y="1627632"/>
            <a:ext cx="5349240" cy="338328"/>
          </a:xfrm>
          <a:prstGeom prst="rect">
            <a:avLst/>
          </a:prstGeom>
          <a:solidFill>
            <a:srgbClr val="1B4D7A"/>
          </a:solidFill>
          <a:ln w="12700">
            <a:solidFill>
              <a:srgbClr val="1B4D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1700784"/>
            <a:ext cx="5020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COPY-PASTE PROMPT 6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41248" y="2084832"/>
            <a:ext cx="4983480" cy="3337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Add a notebook section that interprets the model results.</a:t>
            </a:r>
            <a:endParaRPr lang="en-US" sz="1140" dirty="0"/>
          </a:p>
          <a:p>
            <a:pPr marL="0" indent="0">
              <a:buNone/>
            </a:pP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Use these concepts: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baseline comparison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confusion matrix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false positives and false negatives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accuracy versus recall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precision, recall, and F1</a:t>
            </a:r>
            <a:endParaRPr lang="en-US" sz="1140" dirty="0"/>
          </a:p>
          <a:p>
            <a:pPr marL="0" indent="0">
              <a:buNone/>
            </a:pP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Write markdown prompts that ask the participant: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1. Did the model beat the baseline?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2. Which error is more costly?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3. Is the improvement practically meaningful?</a:t>
            </a:r>
            <a:endParaRPr lang="en-US" sz="1140" dirty="0"/>
          </a:p>
        </p:txBody>
      </p:sp>
      <p:sp>
        <p:nvSpPr>
          <p:cNvPr id="10" name="Shape 8"/>
          <p:cNvSpPr/>
          <p:nvPr/>
        </p:nvSpPr>
        <p:spPr>
          <a:xfrm>
            <a:off x="6446520" y="1627632"/>
            <a:ext cx="4773168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7E0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46520" y="1627632"/>
            <a:ext cx="91440" cy="1188720"/>
          </a:xfrm>
          <a:prstGeom prst="rect">
            <a:avLst/>
          </a:prstGeom>
          <a:solidFill>
            <a:srgbClr val="2E6E4F"/>
          </a:solidFill>
          <a:ln w="12700">
            <a:solidFill>
              <a:srgbClr val="2E6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665976" y="1746504"/>
            <a:ext cx="4462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3"/>
                </a:solidFill>
              </a:rPr>
              <a:t>Expected notebook output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665976" y="2066544"/>
            <a:ext cx="4462272" cy="667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454545"/>
                </a:solidFill>
              </a:rPr>
              <a:t>A table comparing baseline and model metrics plus a confusion matrix with labels meaningful to the application.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46520" y="3108960"/>
            <a:ext cx="4773168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7E0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446520" y="3108960"/>
            <a:ext cx="91440" cy="1188720"/>
          </a:xfrm>
          <a:prstGeom prst="rect">
            <a:avLst/>
          </a:prstGeom>
          <a:solidFill>
            <a:srgbClr val="9D1B1E"/>
          </a:solidFill>
          <a:ln w="12700">
            <a:solidFill>
              <a:srgbClr val="9D1B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665976" y="3227832"/>
            <a:ext cx="4462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3"/>
                </a:solidFill>
              </a:rPr>
              <a:t>Evaluation emphasis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65976" y="3547872"/>
            <a:ext cx="4462272" cy="667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454545"/>
                </a:solidFill>
              </a:rPr>
              <a:t>Accuracy can improve while recall remains too low for quality inspection or safety-sensitive use.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46520" y="4590288"/>
            <a:ext cx="477316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7E0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46520" y="4590288"/>
            <a:ext cx="91440" cy="960120"/>
          </a:xfrm>
          <a:prstGeom prst="rect">
            <a:avLst/>
          </a:prstGeom>
          <a:solidFill>
            <a:srgbClr val="C99700"/>
          </a:solidFill>
          <a:ln w="127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665976" y="5029200"/>
            <a:ext cx="44622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454545"/>
                </a:solidFill>
              </a:rPr>
              <a:t>Ask participants to select the metric before viewing model performance.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02920" y="647395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D6D6D"/>
                </a:solidFill>
              </a:rPr>
              <a:t>Guided LLM Prompt • Recreate the Day 3 ML notebook workflow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D6D6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7665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C0000"/>
                </a:solidFill>
              </a:rPr>
              <a:t>Step 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0B1F33"/>
                </a:solidFill>
              </a:rPr>
              <a:t>Prompt 7: interpretation and model card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502920" y="1408176"/>
            <a:ext cx="10881360" cy="0"/>
          </a:xfrm>
          <a:prstGeom prst="line">
            <a:avLst/>
          </a:prstGeom>
          <a:noFill/>
          <a:ln w="13970">
            <a:solidFill>
              <a:srgbClr val="E7E0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418320" y="69494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C0000"/>
                </a:solidFill>
              </a:rPr>
              <a:t>DOCUMENTATION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58368" y="1600200"/>
            <a:ext cx="5349240" cy="4041648"/>
          </a:xfrm>
          <a:prstGeom prst="roundRect">
            <a:avLst>
              <a:gd name="adj" fmla="val 1357"/>
            </a:avLst>
          </a:prstGeom>
          <a:solidFill>
            <a:srgbClr val="FFFDF8"/>
          </a:solidFill>
          <a:ln w="12700">
            <a:solidFill>
              <a:srgbClr val="BFB8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58368" y="1600200"/>
            <a:ext cx="5349240" cy="338328"/>
          </a:xfrm>
          <a:prstGeom prst="rect">
            <a:avLst/>
          </a:prstGeom>
          <a:solidFill>
            <a:srgbClr val="5A4E8C"/>
          </a:solidFill>
          <a:ln w="12700">
            <a:solidFill>
              <a:srgbClr val="5A4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1673352"/>
            <a:ext cx="5020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COPY-PASTE PROMPT 7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41248" y="2057400"/>
            <a:ext cx="4983480" cy="3493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Create the final notebook section: an initial model card.</a:t>
            </a:r>
            <a:endParaRPr lang="en-US" sz="1140" dirty="0"/>
          </a:p>
          <a:p>
            <a:pPr marL="0" indent="0">
              <a:buNone/>
            </a:pP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Include fields for: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intended use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out-of-scope use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dataset and target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baseline result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model result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primary error pattern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supported conclusion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unsupported conclusion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limitations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recommended next analysis</a:t>
            </a:r>
            <a:endParaRPr lang="en-US" sz="1140" dirty="0"/>
          </a:p>
          <a:p>
            <a:pPr marL="0" indent="0">
              <a:buNone/>
            </a:pP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Avoid causal claims and deployment-ready language.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6437376" y="166420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</a:rPr>
              <a:t>Strong interpretation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37960" y="2039112"/>
            <a:ext cx="44348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454545"/>
                </a:solidFill>
              </a:rPr>
              <a:t>“The model improves over baseline but misses many actual defects, so it may support review prioritization only after further validation.”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437376" y="329184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</a:rPr>
              <a:t>Weak interpretation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37960" y="3675888"/>
            <a:ext cx="44348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9D1B1E"/>
                </a:solidFill>
              </a:rPr>
              <a:t>“The model proves which process settings cause defects and is ready for production use.”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437376" y="480060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</a:rPr>
              <a:t>Output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37960" y="5184648"/>
            <a:ext cx="4434840" cy="5120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454545"/>
                </a:solidFill>
              </a:rPr>
              <a:t>One concise evidence-grounded paragraph that could be reused in a report, proposal, or class example.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02920" y="647395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D6D6D"/>
                </a:solidFill>
              </a:rPr>
              <a:t>Guided LLM Prompt • Recreate the Day 3 ML notebook workflow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D6D6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7665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C0000"/>
                </a:solidFill>
              </a:rPr>
              <a:t>Combined prompt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0B1F33"/>
                </a:solidFill>
              </a:rPr>
              <a:t>One-shot prompt: generate the full notebook scaffold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502920" y="1408176"/>
            <a:ext cx="10881360" cy="0"/>
          </a:xfrm>
          <a:prstGeom prst="line">
            <a:avLst/>
          </a:prstGeom>
          <a:noFill/>
          <a:ln w="13970">
            <a:solidFill>
              <a:srgbClr val="E7E0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418320" y="69494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C0000"/>
                </a:solidFill>
              </a:rPr>
              <a:t>ADVANCED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58368" y="1554480"/>
            <a:ext cx="10863072" cy="4443984"/>
          </a:xfrm>
          <a:prstGeom prst="roundRect">
            <a:avLst>
              <a:gd name="adj" fmla="val 1235"/>
            </a:avLst>
          </a:prstGeom>
          <a:solidFill>
            <a:srgbClr val="FFFDF8"/>
          </a:solidFill>
          <a:ln w="12700">
            <a:solidFill>
              <a:srgbClr val="BFB8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58368" y="1554480"/>
            <a:ext cx="10863072" cy="33832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1627632"/>
            <a:ext cx="10533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COPY-PASTE FULL PROMPT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41248" y="2011680"/>
            <a:ext cx="10497312" cy="38953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Create a complete Jupyter notebook for an applied AI workshop using classification_workshop.csv.</a:t>
            </a:r>
            <a:endParaRPr lang="en-US" sz="1160" dirty="0"/>
          </a:p>
          <a:p>
            <a:pPr marL="0" indent="0">
              <a:buNone/>
            </a:pPr>
            <a:r>
              <a:rPr lang="en-US" sz="116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Columns: temperature_c, pressure_kpa, speed_mm_s, vibration_mm_s, defect.</a:t>
            </a:r>
            <a:endParaRPr lang="en-US" sz="1160" dirty="0"/>
          </a:p>
          <a:p>
            <a:pPr marL="0" indent="0">
              <a:buNone/>
            </a:pPr>
            <a:endParaRPr lang="en-US" sz="1160" dirty="0"/>
          </a:p>
          <a:p>
            <a:pPr marL="0" indent="0">
              <a:buNone/>
            </a:pPr>
            <a:r>
              <a:rPr lang="en-US" sz="116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Notebook sections must include:</a:t>
            </a:r>
            <a:endParaRPr lang="en-US" sz="1160" dirty="0"/>
          </a:p>
          <a:p>
            <a:pPr marL="0" indent="0">
              <a:buNone/>
            </a:pPr>
            <a:r>
              <a:rPr lang="en-US" sz="116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1. problem framing and unit of observation</a:t>
            </a:r>
            <a:endParaRPr lang="en-US" sz="1160" dirty="0"/>
          </a:p>
          <a:p>
            <a:pPr marL="0" indent="0">
              <a:buNone/>
            </a:pPr>
            <a:r>
              <a:rPr lang="en-US" sz="116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2. data loading and audit</a:t>
            </a:r>
            <a:endParaRPr lang="en-US" sz="1160" dirty="0"/>
          </a:p>
          <a:p>
            <a:pPr marL="0" indent="0">
              <a:buNone/>
            </a:pPr>
            <a:r>
              <a:rPr lang="en-US" sz="116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3. class balance and visualization</a:t>
            </a:r>
            <a:endParaRPr lang="en-US" sz="1160" dirty="0"/>
          </a:p>
          <a:p>
            <a:pPr marL="0" indent="0">
              <a:buNone/>
            </a:pPr>
            <a:r>
              <a:rPr lang="en-US" sz="116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4. leakage review</a:t>
            </a:r>
            <a:endParaRPr lang="en-US" sz="1160" dirty="0"/>
          </a:p>
          <a:p>
            <a:pPr marL="0" indent="0">
              <a:buNone/>
            </a:pPr>
            <a:r>
              <a:rPr lang="en-US" sz="116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5. X/y definition and stratified train/test split</a:t>
            </a:r>
            <a:endParaRPr lang="en-US" sz="1160" dirty="0"/>
          </a:p>
          <a:p>
            <a:pPr marL="0" indent="0">
              <a:buNone/>
            </a:pPr>
            <a:r>
              <a:rPr lang="en-US" sz="116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6. majority-class baseline</a:t>
            </a:r>
            <a:endParaRPr lang="en-US" sz="1160" dirty="0"/>
          </a:p>
          <a:p>
            <a:pPr marL="0" indent="0">
              <a:buNone/>
            </a:pPr>
            <a:r>
              <a:rPr lang="en-US" sz="116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7. standardized logistic regression workflow</a:t>
            </a:r>
            <a:endParaRPr lang="en-US" sz="1160" dirty="0"/>
          </a:p>
          <a:p>
            <a:pPr marL="0" indent="0">
              <a:buNone/>
            </a:pPr>
            <a:r>
              <a:rPr lang="en-US" sz="116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8. accuracy, precision, recall, F1, and confusion matrix</a:t>
            </a:r>
            <a:endParaRPr lang="en-US" sz="1160" dirty="0"/>
          </a:p>
          <a:p>
            <a:pPr marL="0" indent="0">
              <a:buNone/>
            </a:pPr>
            <a:r>
              <a:rPr lang="en-US" sz="116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9. interpretation, limitations, and a short model card</a:t>
            </a:r>
            <a:endParaRPr lang="en-US" sz="1160" dirty="0"/>
          </a:p>
          <a:p>
            <a:pPr marL="0" indent="0">
              <a:buNone/>
            </a:pPr>
            <a:endParaRPr lang="en-US" sz="1160" dirty="0"/>
          </a:p>
          <a:p>
            <a:pPr marL="0" indent="0">
              <a:buNone/>
            </a:pPr>
            <a:r>
              <a:rPr lang="en-US" sz="116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Use markdown plus executable code cells. Do not invent columns or causal claims.</a:t>
            </a:r>
            <a:endParaRPr lang="en-US" sz="1160" dirty="0"/>
          </a:p>
        </p:txBody>
      </p:sp>
      <p:sp>
        <p:nvSpPr>
          <p:cNvPr id="10" name="Text 8"/>
          <p:cNvSpPr/>
          <p:nvPr/>
        </p:nvSpPr>
        <p:spPr>
          <a:xfrm>
            <a:off x="777240" y="6217920"/>
            <a:ext cx="102412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/>
          </a:bodyPr>
          <a:lstStyle/>
          <a:p>
            <a:pPr marL="0" indent="0">
              <a:buNone/>
            </a:pPr>
            <a:r>
              <a:rPr lang="en-US" sz="1420" b="1" i="1" dirty="0">
                <a:solidFill>
                  <a:srgbClr val="FF0000"/>
                </a:solidFill>
              </a:rPr>
              <a:t>Use the full prompt only after participants understand the seven-step chain. Prompt chaining is usually easier to debug and teach.</a:t>
            </a:r>
            <a:endParaRPr lang="en-US" sz="1420" b="1" dirty="0">
              <a:solidFill>
                <a:srgbClr val="FF0000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D6D6D"/>
                </a:solidFill>
              </a:rPr>
              <a:t>Guided LLM Prompt • Recreate the Day 3 ML notebook workflow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D6D6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7665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C0000"/>
                </a:solidFill>
              </a:rPr>
              <a:t>Live demo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0B1F33"/>
                </a:solidFill>
              </a:rPr>
              <a:t>Class demonstration: before and after grounding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502920" y="1408176"/>
            <a:ext cx="10881360" cy="0"/>
          </a:xfrm>
          <a:prstGeom prst="line">
            <a:avLst/>
          </a:prstGeom>
          <a:noFill/>
          <a:ln w="13970">
            <a:solidFill>
              <a:srgbClr val="E7E0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418320" y="69494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C0000"/>
                </a:solidFill>
              </a:rPr>
              <a:t>AI AUDIT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64592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7E0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85800" y="1645920"/>
            <a:ext cx="91440" cy="1234440"/>
          </a:xfrm>
          <a:prstGeom prst="rect">
            <a:avLst/>
          </a:prstGeom>
          <a:solidFill>
            <a:srgbClr val="9D1B1E"/>
          </a:solidFill>
          <a:ln w="12700">
            <a:solidFill>
              <a:srgbClr val="9D1B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05256" y="1764792"/>
            <a:ext cx="4764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3"/>
                </a:solidFill>
              </a:rPr>
              <a:t>Ungrounded prompt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05256" y="2084832"/>
            <a:ext cx="4764024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454545"/>
                </a:solidFill>
              </a:rPr>
              <a:t>“Build a machine-learning notebook for defect prediction and explain the results.”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454545"/>
                </a:solidFill>
              </a:rPr>
              <a:t>Risk: invented columns, unsupported claims, missing baseline.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0" y="164592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7E0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00800" y="1645920"/>
            <a:ext cx="91440" cy="1234440"/>
          </a:xfrm>
          <a:prstGeom prst="rect">
            <a:avLst/>
          </a:prstGeom>
          <a:solidFill>
            <a:srgbClr val="2E6E4F"/>
          </a:solidFill>
          <a:ln w="12700">
            <a:solidFill>
              <a:srgbClr val="2E6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620256" y="1764792"/>
            <a:ext cx="4764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3"/>
                </a:solidFill>
              </a:rPr>
              <a:t>Grounded prompt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620256" y="2084832"/>
            <a:ext cx="4764024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454545"/>
                </a:solidFill>
              </a:rPr>
              <a:t>Provides dataset name, exact columns, task, constraints, metrics, and required interpretation boundaries.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843016" y="2267712"/>
            <a:ext cx="448056" cy="0"/>
          </a:xfrm>
          <a:prstGeom prst="line">
            <a:avLst/>
          </a:prstGeom>
          <a:noFill/>
          <a:ln w="19050">
            <a:solidFill>
              <a:srgbClr val="BFB8A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8680" y="352044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</a:rPr>
              <a:t>Class audit questions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24128" y="4142233"/>
            <a:ext cx="480060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 fontScale="77500" lnSpcReduction="20000"/>
          </a:bodyPr>
          <a:lstStyle/>
          <a:p>
            <a:r>
              <a:rPr lang="en-US" sz="1500" dirty="0">
                <a:solidFill>
                  <a:srgbClr val="0B1F33"/>
                </a:solidFill>
              </a:rPr>
              <a:t>Did it invent any column names?
</a:t>
            </a:r>
            <a:endParaRPr lang="en-US" sz="1500" dirty="0"/>
          </a:p>
          <a:p>
            <a:r>
              <a:rPr lang="en-US" sz="1500" dirty="0">
                <a:solidFill>
                  <a:srgbClr val="0B1F33"/>
                </a:solidFill>
              </a:rPr>
              <a:t>Did it include a baseline?
</a:t>
            </a:r>
            <a:endParaRPr lang="en-US" sz="1500" dirty="0"/>
          </a:p>
          <a:p>
            <a:r>
              <a:rPr lang="en-US" sz="1500" dirty="0">
                <a:solidFill>
                  <a:srgbClr val="0B1F33"/>
                </a:solidFill>
              </a:rPr>
              <a:t>Did it fit preprocessing before the split?
</a:t>
            </a:r>
            <a:endParaRPr lang="en-US" sz="1500" dirty="0"/>
          </a:p>
          <a:p>
            <a:r>
              <a:rPr lang="en-US" sz="1500" dirty="0">
                <a:solidFill>
                  <a:srgbClr val="0B1F33"/>
                </a:solidFill>
              </a:rPr>
              <a:t>Did it overclaim causality?
</a:t>
            </a:r>
            <a:endParaRPr lang="en-US" sz="1500" dirty="0"/>
          </a:p>
          <a:p>
            <a:r>
              <a:rPr lang="en-US" sz="1500" dirty="0">
                <a:solidFill>
                  <a:srgbClr val="0B1F33"/>
                </a:solidFill>
              </a:rPr>
              <a:t>Did it produce a notebook section participants can run?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92240" y="352044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</a:rPr>
              <a:t>Instructor debrief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29400" y="3886200"/>
            <a:ext cx="448056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454545"/>
                </a:solidFill>
              </a:rPr>
              <a:t>The LLM output becomes a draft artifact. The class evaluates the draft against the ML workflow, not against how polished the response sounds.</a:t>
            </a:r>
            <a:endParaRPr lang="en-US" sz="1620" dirty="0"/>
          </a:p>
        </p:txBody>
      </p:sp>
      <p:sp>
        <p:nvSpPr>
          <p:cNvPr id="19" name="Text 17"/>
          <p:cNvSpPr/>
          <p:nvPr/>
        </p:nvSpPr>
        <p:spPr>
          <a:xfrm>
            <a:off x="502920" y="647395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D6D6D"/>
                </a:solidFill>
              </a:rPr>
              <a:t>Guided LLM Prompt • Recreate the Day 3 ML notebook workflow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D6D6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7665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C0000"/>
                </a:solidFill>
              </a:rPr>
              <a:t>Participant activity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0B1F33"/>
                </a:solidFill>
              </a:rPr>
              <a:t>Prompt-chain worksheet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502920" y="1408176"/>
            <a:ext cx="10881360" cy="0"/>
          </a:xfrm>
          <a:prstGeom prst="line">
            <a:avLst/>
          </a:prstGeom>
          <a:noFill/>
          <a:ln w="13970">
            <a:solidFill>
              <a:srgbClr val="E7E0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418320" y="69494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C0000"/>
                </a:solidFill>
              </a:rPr>
              <a:t>GROUP WORK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3232" y="1645920"/>
            <a:ext cx="1005840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85000" lnSpcReduction="10000"/>
          </a:bodyPr>
          <a:lstStyle/>
          <a:p>
            <a:pPr marL="0" indent="0">
              <a:buNone/>
            </a:pPr>
            <a:r>
              <a:rPr lang="en-US" sz="1750" dirty="0">
                <a:solidFill>
                  <a:srgbClr val="454545"/>
                </a:solidFill>
              </a:rPr>
              <a:t>Each group uses the prompt sequence to generate one notebook section, then audits it before moving to the next step.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658368" y="2331720"/>
            <a:ext cx="31546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7E0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58368" y="2331720"/>
            <a:ext cx="91440" cy="1920240"/>
          </a:xfrm>
          <a:prstGeom prst="rect">
            <a:avLst/>
          </a:prstGeom>
          <a:solidFill>
            <a:srgbClr val="1B4D7A"/>
          </a:solidFill>
          <a:ln w="12700">
            <a:solidFill>
              <a:srgbClr val="1B4D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77824" y="245059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3"/>
                </a:solidFill>
              </a:rPr>
              <a:t>Group 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7824" y="2770632"/>
            <a:ext cx="2843784" cy="1399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454545"/>
                </a:solidFill>
              </a:rPr>
              <a:t>Problem framing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454545"/>
                </a:solidFill>
              </a:rPr>
              <a:t>Data audit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454545"/>
                </a:solidFill>
              </a:rPr>
              <a:t>Visualization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454545"/>
                </a:solidFill>
              </a:rPr>
              <a:t>Check: task, target, units, class balance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251960" y="2331720"/>
            <a:ext cx="31546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7E0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251960" y="2331720"/>
            <a:ext cx="91440" cy="1920240"/>
          </a:xfrm>
          <a:prstGeom prst="rect">
            <a:avLst/>
          </a:prstGeom>
          <a:solidFill>
            <a:srgbClr val="2E6E4F"/>
          </a:solidFill>
          <a:ln w="12700">
            <a:solidFill>
              <a:srgbClr val="2E6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471416" y="245059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3"/>
                </a:solidFill>
              </a:rPr>
              <a:t>Group 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471416" y="2770632"/>
            <a:ext cx="2843784" cy="1399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454545"/>
                </a:solidFill>
              </a:rPr>
              <a:t>Leakage review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454545"/>
                </a:solidFill>
              </a:rPr>
              <a:t>Feature ideas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454545"/>
                </a:solidFill>
              </a:rPr>
              <a:t>Pipeline code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454545"/>
                </a:solidFill>
              </a:rPr>
              <a:t>Check: availability, preprocessing, split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845552" y="2331720"/>
            <a:ext cx="31546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7E0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845552" y="2331720"/>
            <a:ext cx="91440" cy="1920240"/>
          </a:xfrm>
          <a:prstGeom prst="rect">
            <a:avLst/>
          </a:prstGeom>
          <a:solidFill>
            <a:srgbClr val="9D1B1E"/>
          </a:solidFill>
          <a:ln w="12700">
            <a:solidFill>
              <a:srgbClr val="9D1B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065008" y="245059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3"/>
                </a:solidFill>
              </a:rPr>
              <a:t>Group C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065008" y="2770632"/>
            <a:ext cx="2843784" cy="1399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454545"/>
                </a:solidFill>
              </a:rPr>
              <a:t>Metrics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454545"/>
                </a:solidFill>
              </a:rPr>
              <a:t>Interpretation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454545"/>
                </a:solidFill>
              </a:rPr>
              <a:t>Model card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454545"/>
                </a:solidFill>
              </a:rPr>
              <a:t>Check: baseline, error costs, limitations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77240" y="484632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</a:rPr>
              <a:t>Share-out format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5313666"/>
            <a:ext cx="960120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 fontScale="70000" lnSpcReduction="20000"/>
          </a:bodyPr>
          <a:lstStyle/>
          <a:p>
            <a:r>
              <a:rPr lang="en-US" sz="1600" dirty="0">
                <a:solidFill>
                  <a:srgbClr val="0B1F33"/>
                </a:solidFill>
              </a:rPr>
              <a:t>One useful LLM output
</a:t>
            </a:r>
            <a:endParaRPr lang="en-US" sz="1600" dirty="0"/>
          </a:p>
          <a:p>
            <a:r>
              <a:rPr lang="en-US" sz="1600" dirty="0">
                <a:solidFill>
                  <a:srgbClr val="0B1F33"/>
                </a:solidFill>
              </a:rPr>
              <a:t>One output that required correction
</a:t>
            </a:r>
            <a:endParaRPr lang="en-US" sz="1600" dirty="0"/>
          </a:p>
          <a:p>
            <a:r>
              <a:rPr lang="en-US" sz="1600" dirty="0">
                <a:solidFill>
                  <a:srgbClr val="0B1F33"/>
                </a:solidFill>
              </a:rPr>
              <a:t>One decision that required human expertise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D6D6D"/>
                </a:solidFill>
              </a:rPr>
              <a:t>Guided LLM Prompt • Recreate the Day 3 ML notebook workflow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D6D6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7665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C0000"/>
                </a:solidFill>
              </a:rPr>
              <a:t>Quality criteria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0B1F33"/>
                </a:solidFill>
              </a:rPr>
              <a:t>What the LLM should produce — and what it should not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502920" y="1408176"/>
            <a:ext cx="10881360" cy="0"/>
          </a:xfrm>
          <a:prstGeom prst="line">
            <a:avLst/>
          </a:prstGeom>
          <a:noFill/>
          <a:ln w="13970">
            <a:solidFill>
              <a:srgbClr val="E7E0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418320" y="69494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C0000"/>
                </a:solidFill>
              </a:rPr>
              <a:t>CHECKLIST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13232" y="1627632"/>
            <a:ext cx="507492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7E0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13232" y="1627632"/>
            <a:ext cx="91440" cy="3383280"/>
          </a:xfrm>
          <a:prstGeom prst="rect">
            <a:avLst/>
          </a:prstGeom>
          <a:solidFill>
            <a:srgbClr val="2E6E4F"/>
          </a:solidFill>
          <a:ln w="12700">
            <a:solidFill>
              <a:srgbClr val="2E6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32688" y="1746504"/>
            <a:ext cx="4764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3"/>
                </a:solidFill>
              </a:rPr>
              <a:t>Acceptable output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32688" y="2066544"/>
            <a:ext cx="4764024" cy="28620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454545"/>
                </a:solidFill>
              </a:rPr>
              <a:t>• clear notebook sections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454545"/>
                </a:solidFill>
              </a:rPr>
              <a:t>• executable code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454545"/>
                </a:solidFill>
              </a:rPr>
              <a:t>• explicit X/y definition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454545"/>
                </a:solidFill>
              </a:rPr>
              <a:t>• baseline comparison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454545"/>
                </a:solidFill>
              </a:rPr>
              <a:t>• held-out evaluation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454545"/>
                </a:solidFill>
              </a:rPr>
              <a:t>• confusion matrix or metrics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454545"/>
                </a:solidFill>
              </a:rPr>
              <a:t>• cautious interpretation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454545"/>
                </a:solidFill>
              </a:rPr>
              <a:t>• limitation statement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0" y="1627632"/>
            <a:ext cx="507492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7E0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00800" y="1627632"/>
            <a:ext cx="91440" cy="3383280"/>
          </a:xfrm>
          <a:prstGeom prst="rect">
            <a:avLst/>
          </a:prstGeom>
          <a:solidFill>
            <a:srgbClr val="9D1B1E"/>
          </a:solidFill>
          <a:ln w="12700">
            <a:solidFill>
              <a:srgbClr val="9D1B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620256" y="1746504"/>
            <a:ext cx="4764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3"/>
                </a:solidFill>
              </a:rPr>
              <a:t>Reject or revise output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620256" y="2066544"/>
            <a:ext cx="4764024" cy="28620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454545"/>
                </a:solidFill>
              </a:rPr>
              <a:t>• invented variables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454545"/>
                </a:solidFill>
              </a:rPr>
              <a:t>• no baseline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454545"/>
                </a:solidFill>
              </a:rPr>
              <a:t>• no train/test split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454545"/>
                </a:solidFill>
              </a:rPr>
              <a:t>• preprocessing on full data before split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454545"/>
                </a:solidFill>
              </a:rPr>
              <a:t>• accuracy-only conclusion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454545"/>
                </a:solidFill>
              </a:rPr>
              <a:t>• causal claims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454545"/>
                </a:solidFill>
              </a:rPr>
              <a:t>• deployment-ready language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454545"/>
                </a:solidFill>
              </a:rPr>
              <a:t>• missing human verification questions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41248" y="5669280"/>
            <a:ext cx="1033272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85000"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1F33"/>
                </a:solidFill>
              </a:rPr>
              <a:t>Evaluation rule: a prompt-generated notebook is useful only if </a:t>
            </a:r>
            <a:r>
              <a:rPr lang="en-US" b="1" dirty="0">
                <a:solidFill>
                  <a:srgbClr val="0B1F33"/>
                </a:solidFill>
              </a:rPr>
              <a:t>you</a:t>
            </a:r>
            <a:r>
              <a:rPr lang="en-US" sz="1800" b="1" dirty="0">
                <a:solidFill>
                  <a:srgbClr val="0B1F33"/>
                </a:solidFill>
              </a:rPr>
              <a:t> can inspect, run, and defend every step.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2920" y="647395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D6D6D"/>
                </a:solidFill>
              </a:rPr>
              <a:t>Guided LLM Prompt • Recreate the Day 3 ML notebook workflow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D6D6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7665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C0000"/>
                </a:solidFill>
              </a:rPr>
              <a:t>Takeaways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0B1F33"/>
                </a:solidFill>
              </a:rPr>
              <a:t>Closing synthesis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502920" y="1408176"/>
            <a:ext cx="10881360" cy="0"/>
          </a:xfrm>
          <a:prstGeom prst="line">
            <a:avLst/>
          </a:prstGeom>
          <a:noFill/>
          <a:ln w="13970">
            <a:solidFill>
              <a:srgbClr val="E7E0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418320" y="69494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C0000"/>
                </a:solidFill>
              </a:rPr>
              <a:t>ML + AI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94944" y="1673352"/>
            <a:ext cx="1042416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454545"/>
                </a:solidFill>
              </a:rPr>
              <a:t>The prompt chain converts the Day 3 pipeline into an AI-assisted workflow while preserving the core responsibilities of applied machine learning.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057400" y="3246120"/>
            <a:ext cx="448056" cy="0"/>
          </a:xfrm>
          <a:prstGeom prst="line">
            <a:avLst/>
          </a:prstGeom>
          <a:noFill/>
          <a:ln w="19050">
            <a:solidFill>
              <a:srgbClr val="BFB8A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050792" y="3246120"/>
            <a:ext cx="448056" cy="0"/>
          </a:xfrm>
          <a:prstGeom prst="line">
            <a:avLst/>
          </a:prstGeom>
          <a:noFill/>
          <a:ln w="19050">
            <a:solidFill>
              <a:srgbClr val="BFB8A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044184" y="3246120"/>
            <a:ext cx="448056" cy="0"/>
          </a:xfrm>
          <a:prstGeom prst="line">
            <a:avLst/>
          </a:prstGeom>
          <a:noFill/>
          <a:ln w="19050">
            <a:solidFill>
              <a:srgbClr val="BFB8A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037576" y="3246120"/>
            <a:ext cx="448056" cy="0"/>
          </a:xfrm>
          <a:prstGeom prst="line">
            <a:avLst/>
          </a:prstGeom>
          <a:noFill/>
          <a:ln w="19050">
            <a:solidFill>
              <a:srgbClr val="BFB8A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04088" y="2907792"/>
            <a:ext cx="1417320" cy="676656"/>
          </a:xfrm>
          <a:prstGeom prst="roundRect">
            <a:avLst>
              <a:gd name="adj" fmla="val 10811"/>
            </a:avLst>
          </a:prstGeom>
          <a:solidFill>
            <a:srgbClr val="1B4D7A"/>
          </a:solidFill>
          <a:ln w="8890">
            <a:solidFill>
              <a:srgbClr val="1B4D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99923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Data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68680" y="325526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EAF0F5"/>
                </a:solidFill>
              </a:rPr>
              <a:t>evidence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61488" y="2907792"/>
            <a:ext cx="1417320" cy="676656"/>
          </a:xfrm>
          <a:prstGeom prst="roundRect">
            <a:avLst>
              <a:gd name="adj" fmla="val 10811"/>
            </a:avLst>
          </a:prstGeom>
          <a:solidFill>
            <a:srgbClr val="5A4E8C"/>
          </a:solidFill>
          <a:ln w="8890">
            <a:solidFill>
              <a:srgbClr val="5A4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852928" y="299923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LLM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852928" y="325526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EAF0F5"/>
                </a:solidFill>
              </a:rPr>
              <a:t>drafts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45736" y="2907792"/>
            <a:ext cx="1417320" cy="676656"/>
          </a:xfrm>
          <a:prstGeom prst="roundRect">
            <a:avLst>
              <a:gd name="adj" fmla="val 10811"/>
            </a:avLst>
          </a:prstGeom>
          <a:solidFill>
            <a:srgbClr val="2E6E4F"/>
          </a:solidFill>
          <a:ln w="8890">
            <a:solidFill>
              <a:srgbClr val="2E6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37176" y="299923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Notebook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837176" y="325526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EAF0F5"/>
                </a:solidFill>
              </a:rPr>
              <a:t>runs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729984" y="2907792"/>
            <a:ext cx="1417320" cy="676656"/>
          </a:xfrm>
          <a:prstGeom prst="roundRect">
            <a:avLst>
              <a:gd name="adj" fmla="val 10811"/>
            </a:avLst>
          </a:prstGeom>
          <a:solidFill>
            <a:srgbClr val="C99700"/>
          </a:solidFill>
          <a:ln w="889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21424" y="299923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Metrics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821424" y="325526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EAF0F5"/>
                </a:solidFill>
              </a:rPr>
              <a:t>evaluate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714232" y="2907792"/>
            <a:ext cx="1417320" cy="676656"/>
          </a:xfrm>
          <a:prstGeom prst="roundRect">
            <a:avLst>
              <a:gd name="adj" fmla="val 10811"/>
            </a:avLst>
          </a:prstGeom>
          <a:solidFill>
            <a:srgbClr val="9D1B1E"/>
          </a:solidFill>
          <a:ln w="8890">
            <a:solidFill>
              <a:srgbClr val="9D1B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805672" y="299923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Human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805672" y="325526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EAF0F5"/>
                </a:solidFill>
              </a:rPr>
              <a:t>validates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60120" y="46817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</a:rPr>
              <a:t>Final message to participants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60120" y="5074920"/>
            <a:ext cx="987552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0B1F33"/>
                </a:solidFill>
              </a:rPr>
              <a:t>AI can accelerate every stage of the ML pipeline, but it does not remove the need to define the task, check data quality, prevent leakage, evaluate models, and state limitations.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502920" y="647395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D6D6D"/>
                </a:solidFill>
              </a:rPr>
              <a:t>Guided LLM Prompt • Recreate the Day 3 ML notebook workflow</a:t>
            </a:r>
            <a:endParaRPr lang="en-US" sz="85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D6D6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2186</Words>
  <Application>Microsoft Office PowerPoint</Application>
  <PresentationFormat>Widescreen</PresentationFormat>
  <Paragraphs>375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Mono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NC State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Guided LLM Prompt: Recreate the Full ML Pipeline</dc:title>
  <dc:subject>Guided LLM prompts to recreate a Day 3 full ML pipeline notebook</dc:subject>
  <dc:creator>Fred Livingston</dc:creator>
  <cp:lastModifiedBy>Fred Livingston</cp:lastModifiedBy>
  <cp:revision>5</cp:revision>
  <dcterms:created xsi:type="dcterms:W3CDTF">2026-07-17T06:15:13Z</dcterms:created>
  <dcterms:modified xsi:type="dcterms:W3CDTF">2026-07-17T15:36:49Z</dcterms:modified>
</cp:coreProperties>
</file>