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0471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8F3784AA-2818-E7AF-6E6A-BD6117BEBC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22871" y="212814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Y5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84048" y="1188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11631168" y="0"/>
            <a:ext cx="557784" cy="47548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pic>
        <p:nvPicPr>
          <p:cNvPr id="5" name="Picture 4" descr="NC State Engineering -- ANS / Conferences / 2021 Student Conference">
            <a:extLst>
              <a:ext uri="{FF2B5EF4-FFF2-40B4-BE49-F238E27FC236}">
                <a16:creationId xmlns:a16="http://schemas.microsoft.com/office/drawing/2014/main" id="{8F3784AA-2818-E7AF-6E6A-BD6117BEBC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61074" y="651225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0467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</a:rPr>
              <a:t>GUIDED LLM PROMPT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1143000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0B1F33"/>
                </a:solidFill>
              </a:rPr>
              <a:t>Recreate the Full ML Pipeline Notebook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30352" y="1920240"/>
            <a:ext cx="804672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454545"/>
                </a:solidFill>
              </a:rPr>
              <a:t>A classroom-ready prompt sequence for using an LLM to generate the same structure, code, and interpretation as the Day 3 notebook workflow.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183880" y="2880360"/>
            <a:ext cx="2926080" cy="20574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430768" y="31272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Prompt chain outputs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58200" y="3547872"/>
            <a:ext cx="2240280" cy="10058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20000"/>
          </a:bodyPr>
          <a:lstStyle/>
          <a:p>
            <a:r>
              <a:rPr lang="en-US" sz="1350" dirty="0">
                <a:solidFill>
                  <a:srgbClr val="0B1F33"/>
                </a:solidFill>
              </a:rPr>
              <a:t>notebook sections
</a:t>
            </a:r>
            <a:endParaRPr lang="en-US" sz="1350" dirty="0"/>
          </a:p>
          <a:p>
            <a:r>
              <a:rPr lang="en-US" sz="1350" dirty="0">
                <a:solidFill>
                  <a:srgbClr val="0B1F33"/>
                </a:solidFill>
              </a:rPr>
              <a:t>Python code cells
</a:t>
            </a:r>
            <a:endParaRPr lang="en-US" sz="1350" dirty="0"/>
          </a:p>
          <a:p>
            <a:r>
              <a:rPr lang="en-US" sz="1350" dirty="0">
                <a:solidFill>
                  <a:srgbClr val="0B1F33"/>
                </a:solidFill>
              </a:rPr>
              <a:t>metrics + plots
</a:t>
            </a:r>
            <a:endParaRPr lang="en-US" sz="1350" dirty="0"/>
          </a:p>
          <a:p>
            <a:r>
              <a:rPr lang="en-US" sz="1350" dirty="0">
                <a:solidFill>
                  <a:srgbClr val="0B1F33"/>
                </a:solidFill>
              </a:rPr>
              <a:t>model card summary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30352" y="5440680"/>
            <a:ext cx="5212080" cy="0"/>
          </a:xfrm>
          <a:prstGeom prst="line">
            <a:avLst/>
          </a:prstGeom>
          <a:noFill/>
          <a:ln w="381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30352" y="559612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Applied AI Design Workshop for Faculty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Fred Livingston • 2026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Activity framing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Why use a guided LLM prompt?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MODEL → NOTEBOOK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664208"/>
            <a:ext cx="106070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54545"/>
                </a:solidFill>
              </a:rPr>
              <a:t>The goal is not to let the LLM “do the science.” The goal is to teach how to use an LLM to produce a reproducible notebook scaffold that still requires human validation.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251460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91440" cy="205740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50976" y="2633472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LLM is useful for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50976" y="2953512"/>
            <a:ext cx="3026664" cy="1536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Generating notebook structure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Explaining code line by line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Drafting scikit-learn workflows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Writing interpretation templates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434840" y="251460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34840" y="2514600"/>
            <a:ext cx="91440" cy="205740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54296" y="2633472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Human must validate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54296" y="2953512"/>
            <a:ext cx="3026664" cy="1536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Target and unit of observation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Leakage and data availability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Metric choice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Unsupported claims or causal language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38160" y="2514600"/>
            <a:ext cx="33375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138160" y="2514600"/>
            <a:ext cx="91440" cy="2057400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57616" y="2633472"/>
            <a:ext cx="3026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Takeaway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7616" y="2953512"/>
            <a:ext cx="3026664" cy="1536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AI accelerates the pipeline, but evidence, assumptions, and conclusions remain the researcher’s responsibility.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" y="5285232"/>
            <a:ext cx="10515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50" i="1" dirty="0">
                <a:solidFill>
                  <a:srgbClr val="0B1F33"/>
                </a:solidFill>
              </a:rPr>
              <a:t>Use the prompt chain as a transparent recipe: each prompt produces one part of the notebook, and each output is checked before the next step.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Guided sequence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chain overview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7 PROMPTS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82496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310128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937760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565392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193024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820656" y="2761488"/>
            <a:ext cx="347472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1B4D7A"/>
          </a:solidFill>
          <a:ln w="889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Frame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4360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problem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130552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2E6E4F"/>
          </a:solidFill>
          <a:ln w="889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221992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Audit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221992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data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3758184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1B4D7A"/>
          </a:solidFill>
          <a:ln w="889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49624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Find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849624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leakage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5385816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2E6E4F"/>
          </a:solidFill>
          <a:ln w="889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77256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Engineer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77256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features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013448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1B4D7A"/>
          </a:solidFill>
          <a:ln w="889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04888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Build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104888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pipeline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641080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2E6E4F"/>
          </a:solidFill>
          <a:ln w="889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732520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Evaluate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732520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metrics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10268712" y="2423160"/>
            <a:ext cx="1234440" cy="676656"/>
          </a:xfrm>
          <a:prstGeom prst="roundRect">
            <a:avLst>
              <a:gd name="adj" fmla="val 10811"/>
            </a:avLst>
          </a:prstGeom>
          <a:solidFill>
            <a:srgbClr val="1B4D7A"/>
          </a:solidFill>
          <a:ln w="889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360152" y="251460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Explain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0360152" y="27706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results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13232" y="1664208"/>
            <a:ext cx="97840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54545"/>
                </a:solidFill>
              </a:rPr>
              <a:t>Each prompt should return a </a:t>
            </a:r>
            <a:r>
              <a:rPr lang="en-US" sz="1800" b="1" dirty="0">
                <a:solidFill>
                  <a:srgbClr val="454545"/>
                </a:solidFill>
              </a:rPr>
              <a:t>notebook section</a:t>
            </a:r>
            <a:r>
              <a:rPr lang="en-US" sz="1800" dirty="0">
                <a:solidFill>
                  <a:srgbClr val="454545"/>
                </a:solidFill>
              </a:rPr>
              <a:t>, suggested code, and a checklist for human verification.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77240" y="4069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What should be generated?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4462272"/>
            <a:ext cx="4846320" cy="11338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20000"/>
          </a:bodyPr>
          <a:lstStyle/>
          <a:p>
            <a:r>
              <a:rPr lang="en-US" sz="1500" dirty="0">
                <a:solidFill>
                  <a:srgbClr val="0B1F33"/>
                </a:solidFill>
              </a:rPr>
              <a:t>Markdown explanation for the notebook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Executable Python code cells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Expected outputs or interpretation cues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A human-check question before continuing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4069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What should not be delegated?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462272"/>
            <a:ext cx="4754880" cy="113385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20000"/>
          </a:bodyPr>
          <a:lstStyle/>
          <a:p>
            <a:r>
              <a:rPr lang="en-US" sz="1500" dirty="0">
                <a:solidFill>
                  <a:srgbClr val="0B1F33"/>
                </a:solidFill>
              </a:rPr>
              <a:t>Approving labels or assumptions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Deciding whether unusual values are real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Making causal claims from predictive models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Declaring deployment readiness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Prompt 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Setup prompt: define the LLM’s role and boundaries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GUARDRAILS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664208"/>
            <a:ext cx="10835640" cy="3063240"/>
          </a:xfrm>
          <a:prstGeom prst="roundRect">
            <a:avLst>
              <a:gd name="adj" fmla="val 1791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664208"/>
            <a:ext cx="10835640" cy="338328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50392" y="1737360"/>
            <a:ext cx="10506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2121408"/>
            <a:ext cx="10469880" cy="2514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You are helping create a Jupyter notebook for an applied AI workshop.</a:t>
            </a:r>
            <a:endParaRPr lang="en-US" sz="1210" dirty="0"/>
          </a:p>
          <a:p>
            <a:pPr marL="0" indent="0">
              <a:buNone/>
            </a:pP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Python, pandas, matplotlib/seaborn, and scikit-learn.</a:t>
            </a: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short markdown explanations and executable code cells.</a:t>
            </a:r>
            <a:endParaRPr lang="en-US" sz="1210" dirty="0"/>
          </a:p>
          <a:p>
            <a:pPr marL="0" indent="0">
              <a:buNone/>
            </a:pP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 not invent dataset columns. Ask me to provide column names if needed.</a:t>
            </a: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 not claim causality from prediction results.</a:t>
            </a: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 not remove outliers without a documented domain-based rule.</a:t>
            </a:r>
            <a:endParaRPr lang="en-US" sz="1210" dirty="0"/>
          </a:p>
          <a:p>
            <a:pPr marL="0" indent="0">
              <a:buNone/>
            </a:pPr>
            <a:r>
              <a:rPr lang="en-US" sz="121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Preprocessing must be fitted only on training data.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777240" y="5166360"/>
            <a:ext cx="103327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454545"/>
                </a:solidFill>
              </a:rPr>
              <a:t>Note: before running the prompt chain, provide the dataset name and columns. This prevents the LLM from guessing the data structure.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1: problem framing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FRAMING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349240" cy="3886200"/>
          </a:xfrm>
          <a:prstGeom prst="roundRect">
            <a:avLst>
              <a:gd name="adj" fmla="val 1412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349240" cy="338328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00784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84832"/>
            <a:ext cx="4983480" cy="3337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the first notebook section for this dataset: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Dataset: classification_workshop.csv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Columns: temperature_c, pressure_kpa, speed_mm_s, vibration_mm_s, defect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Write markdown and code that identify: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the unit of observation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input variables and units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target variable and target meaning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model task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baseline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primary metric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Return the result as notebook-ready markdown and Python code.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6446520" y="1664208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664208"/>
            <a:ext cx="91440" cy="109728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65976" y="1783080"/>
            <a:ext cx="4489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Expected result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65976" y="2103120"/>
            <a:ext cx="4489704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 notebook section that clearly states: one row = one process run; inputs are process measurements; target = defect; task = binary classification.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3035808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3035808"/>
            <a:ext cx="91440" cy="109728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65976" y="3154680"/>
            <a:ext cx="4489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Human check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65976" y="3474720"/>
            <a:ext cx="4489704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Are these variables available before the prediction would be made? Are the units and target definition correct?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46520" y="4407408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46520" y="4407408"/>
            <a:ext cx="91440" cy="1097280"/>
          </a:xfrm>
          <a:prstGeom prst="rect">
            <a:avLst/>
          </a:prstGeom>
          <a:solidFill>
            <a:srgbClr val="C99700"/>
          </a:solidFill>
          <a:ln w="12700">
            <a:solidFill>
              <a:srgbClr val="C99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65976" y="4526280"/>
            <a:ext cx="4489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Classroom question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65976" y="4846320"/>
            <a:ext cx="4489704" cy="576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If the target were continuous yield instead of defect, how would the task and metric change?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2: data audit and visualization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PANDAS + PLOTS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349240" cy="3950208"/>
          </a:xfrm>
          <a:prstGeom prst="roundRect">
            <a:avLst>
              <a:gd name="adj" fmla="val 1389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349240" cy="338328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00784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84832"/>
            <a:ext cx="4983480" cy="34015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Generate notebook cells to load classification_workshop.csv and audit it.</a:t>
            </a:r>
            <a:endParaRPr lang="en-US" sz="1160" dirty="0"/>
          </a:p>
          <a:p>
            <a:pPr marL="0" indent="0">
              <a:buNone/>
            </a:pP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Include code for: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df.head(), df.shape, df.dtypes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missing values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duplicate rows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target class balance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summary statistics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a count plot of defect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scatter or box plots for process variables</a:t>
            </a:r>
            <a:endParaRPr lang="en-US" sz="1160" dirty="0"/>
          </a:p>
          <a:p>
            <a:pPr marL="0" indent="0">
              <a:buNone/>
            </a:pP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Add brief markdown that explains what each audit output tells us.</a:t>
            </a:r>
            <a:endParaRPr lang="en-US" sz="1160" dirty="0"/>
          </a:p>
        </p:txBody>
      </p:sp>
      <p:sp>
        <p:nvSpPr>
          <p:cNvPr id="10" name="Text 8"/>
          <p:cNvSpPr/>
          <p:nvPr/>
        </p:nvSpPr>
        <p:spPr>
          <a:xfrm>
            <a:off x="6446520" y="1691640"/>
            <a:ext cx="438912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454545"/>
                </a:solidFill>
              </a:rPr>
              <a:t>Useful output is not just code; it should tell participants what to look for in the results.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Evidence to inspect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12908" y="2907166"/>
            <a:ext cx="4389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70000" lnSpcReduction="20000"/>
          </a:bodyPr>
          <a:lstStyle/>
          <a:p>
            <a:r>
              <a:rPr lang="en-US" sz="1520" dirty="0">
                <a:solidFill>
                  <a:srgbClr val="0B1F33"/>
                </a:solidFill>
              </a:rPr>
              <a:t>class imbalance
</a:t>
            </a:r>
            <a:endParaRPr lang="en-US" sz="1520" dirty="0"/>
          </a:p>
          <a:p>
            <a:r>
              <a:rPr lang="en-US" sz="1520" dirty="0">
                <a:solidFill>
                  <a:srgbClr val="0B1F33"/>
                </a:solidFill>
              </a:rPr>
              <a:t>missing values
</a:t>
            </a:r>
            <a:endParaRPr lang="en-US" sz="1520" dirty="0"/>
          </a:p>
          <a:p>
            <a:r>
              <a:rPr lang="en-US" sz="1520" dirty="0">
                <a:solidFill>
                  <a:srgbClr val="0B1F33"/>
                </a:solidFill>
              </a:rPr>
              <a:t>unexpected data types
</a:t>
            </a:r>
            <a:endParaRPr lang="en-US" sz="1520" dirty="0"/>
          </a:p>
          <a:p>
            <a:r>
              <a:rPr lang="en-US" sz="1520" dirty="0">
                <a:solidFill>
                  <a:srgbClr val="0B1F33"/>
                </a:solidFill>
              </a:rPr>
              <a:t>range or scale differences
</a:t>
            </a:r>
            <a:endParaRPr lang="en-US" sz="1520" dirty="0"/>
          </a:p>
          <a:p>
            <a:r>
              <a:rPr lang="en-US" sz="1520" dirty="0">
                <a:solidFill>
                  <a:srgbClr val="0B1F33"/>
                </a:solidFill>
              </a:rPr>
              <a:t>variables that may be identifiers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6446520" y="46085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Human check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65392" y="4983480"/>
            <a:ext cx="438912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454545"/>
                </a:solidFill>
              </a:rPr>
              <a:t>Do the plots support the proposed task, or do they reveal that the data are too limited or noisy for the desired claim?</a:t>
            </a:r>
            <a:endParaRPr lang="en-US" sz="152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3: leakage and availability review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TRUST CHECK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349240" cy="3886200"/>
          </a:xfrm>
          <a:prstGeom prst="roundRect">
            <a:avLst>
              <a:gd name="adj" fmla="val 1412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349240" cy="338328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00784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3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84832"/>
            <a:ext cx="4983480" cy="3337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Review these candidate inputs for target leakage.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Prediction time: before final quality inspection.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Inputs: temperature_c, pressure_kpa, speed_mm_s, vibration_mm_s.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Target: defect.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a notebook markdown table with columns: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variable, role, available at prediction time?, leakage risk?, decision.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Add one paragraph explaining why leakage can invalidate model evaluation.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6446520" y="1737360"/>
            <a:ext cx="4754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737360"/>
            <a:ext cx="91440" cy="1051560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65976" y="1856232"/>
            <a:ext cx="4443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What the LLM can 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65976" y="2176272"/>
            <a:ext cx="4443984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Flag variables that might be unavailable or outcome-derived; suggest questions to ask the data owner.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3063240"/>
            <a:ext cx="4754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3063240"/>
            <a:ext cx="91440" cy="105156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65976" y="3182112"/>
            <a:ext cx="4443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What the LLM cannot know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65976" y="3502152"/>
            <a:ext cx="4443984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Whether a sensor value was recorded before, during, or after the decision unless you provide that temporal context.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46520" y="4389120"/>
            <a:ext cx="47548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46520" y="4389120"/>
            <a:ext cx="91440" cy="105156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65976" y="4507992"/>
            <a:ext cx="4443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Emphasis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65976" y="4828032"/>
            <a:ext cx="4443984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Leakage is a workflow problem, not just a coding problem. The timeline defines what the model is allowed to know.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4: feature engineering with discipline checks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FEATURES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349240" cy="3886200"/>
          </a:xfrm>
          <a:prstGeom prst="roundRect">
            <a:avLst>
              <a:gd name="adj" fmla="val 1412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349240" cy="338328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00784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4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84832"/>
            <a:ext cx="4983480" cy="3337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Suggest candidate engineered features for a defect-classification notebook using: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temperature_c, pressure_kpa, speed_mm_s, vibration_mm_s.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Separate the suggestions into: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domain-informed features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mathematically convenient features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features that require caution</a:t>
            </a:r>
            <a:endParaRPr lang="en-US" sz="1120" dirty="0"/>
          </a:p>
          <a:p>
            <a:pPr marL="0" indent="0">
              <a:buNone/>
            </a:pP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Provide Python code for only the clearly justified features.</a:t>
            </a:r>
            <a:endParaRPr lang="en-US" sz="1120" dirty="0"/>
          </a:p>
          <a:p>
            <a:pPr marL="0" indent="0">
              <a:buNone/>
            </a:pPr>
            <a:r>
              <a:rPr lang="en-US" sz="112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 not claim that any feature causes defects.</a:t>
            </a:r>
            <a:endParaRPr lang="en-US" sz="1120" dirty="0"/>
          </a:p>
        </p:txBody>
      </p:sp>
      <p:sp>
        <p:nvSpPr>
          <p:cNvPr id="10" name="Text 8"/>
          <p:cNvSpPr/>
          <p:nvPr/>
        </p:nvSpPr>
        <p:spPr>
          <a:xfrm>
            <a:off x="6400800" y="1737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Example outputs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212848"/>
            <a:ext cx="4389120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77500" lnSpcReduction="20000"/>
          </a:bodyPr>
          <a:lstStyle/>
          <a:p>
            <a:r>
              <a:rPr lang="en-US" sz="1500" dirty="0">
                <a:solidFill>
                  <a:srgbClr val="0B1F33"/>
                </a:solidFill>
              </a:rPr>
              <a:t>temperature deviation from nominal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pressure deviation from target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vibration-to-speed ratio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process intensity proxy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0" y="37033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Verification questions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4219393"/>
            <a:ext cx="438912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85000" lnSpcReduction="20000"/>
          </a:bodyPr>
          <a:lstStyle/>
          <a:p>
            <a:r>
              <a:rPr lang="en-US" sz="1500" dirty="0">
                <a:solidFill>
                  <a:srgbClr val="0B1F33"/>
                </a:solidFill>
              </a:rPr>
              <a:t>Is the nominal value known?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Does the feature have a physical meaning?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Is it available before prediction?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Does it duplicate or leak the target?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5: generate the reproducible notebook workflow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CODE CELLS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536192"/>
            <a:ext cx="10835640" cy="4160520"/>
          </a:xfrm>
          <a:prstGeom prst="roundRect">
            <a:avLst>
              <a:gd name="adj" fmla="val 1319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536192"/>
            <a:ext cx="10835640" cy="338328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609344"/>
            <a:ext cx="10506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46988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the next notebook section using scikit-learn.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Build a reproducible binary-classification workflow that: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defines X and 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uses train_test_split with stratify=y and random_state=42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creates a majority-class baseline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standardizes numeric features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fits LogisticRegression(max_iter=1000)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predicts on the test set only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reports accuracy, precision, recall, F1, and confusion matrix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clear markdown headings and short explanations before each code cell.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5925312"/>
            <a:ext cx="10241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/>
          </a:bodyPr>
          <a:lstStyle/>
          <a:p>
            <a:pPr marL="0" indent="0">
              <a:buNone/>
            </a:pPr>
            <a:r>
              <a:rPr lang="en-US" sz="1550" i="1" dirty="0">
                <a:solidFill>
                  <a:srgbClr val="0B1F33"/>
                </a:solidFill>
              </a:rPr>
              <a:t>Prompt after generation: “Where is preprocessing fitted? Did the code evaluate on the held-out test set? Is the baseline included?”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6: evaluation and error analysis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METRICS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5349240" cy="3886200"/>
          </a:xfrm>
          <a:prstGeom prst="roundRect">
            <a:avLst>
              <a:gd name="adj" fmla="val 1412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349240" cy="338328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700784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84832"/>
            <a:ext cx="4983480" cy="3337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Add a notebook section that interprets the model results.</a:t>
            </a:r>
            <a:endParaRPr lang="en-US" sz="1140" dirty="0"/>
          </a:p>
          <a:p>
            <a:pPr marL="0" indent="0">
              <a:buNone/>
            </a:pP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these concepts: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baseline comparison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confusion matrix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false positives and false negatives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accuracy versus recall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precision, recall, and F1</a:t>
            </a:r>
            <a:endParaRPr lang="en-US" sz="1140" dirty="0"/>
          </a:p>
          <a:p>
            <a:pPr marL="0" indent="0">
              <a:buNone/>
            </a:pP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Write markdown prompts that ask the participant: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Did the model beat the baseline?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Which error is more costly?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Is the improvement practically meaningful?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6446520" y="1627632"/>
            <a:ext cx="4773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46520" y="1627632"/>
            <a:ext cx="91440" cy="118872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65976" y="1746504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Expected notebook output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65976" y="2066544"/>
            <a:ext cx="446227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 table comparing baseline and model metrics plus a confusion matrix with labels meaningful to the application.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46520" y="3108960"/>
            <a:ext cx="477316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3108960"/>
            <a:ext cx="91440" cy="118872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65976" y="3227832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Evaluation emphasis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65976" y="3547872"/>
            <a:ext cx="4462272" cy="6675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Accuracy can improve while recall remains too low for quality inspection or safety-sensitive use.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46520" y="4590288"/>
            <a:ext cx="4773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46520" y="4590288"/>
            <a:ext cx="91440" cy="960120"/>
          </a:xfrm>
          <a:prstGeom prst="rect">
            <a:avLst/>
          </a:prstGeom>
          <a:solidFill>
            <a:srgbClr val="C99700"/>
          </a:solidFill>
          <a:ln w="12700">
            <a:solidFill>
              <a:srgbClr val="C99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65976" y="5029200"/>
            <a:ext cx="44622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Ask participants to select the metric before viewing model performance.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Step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 7: interpretation and model card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DOCUMENTATION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600200"/>
            <a:ext cx="5349240" cy="4041648"/>
          </a:xfrm>
          <a:prstGeom prst="roundRect">
            <a:avLst>
              <a:gd name="adj" fmla="val 1357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600200"/>
            <a:ext cx="5349240" cy="338328"/>
          </a:xfrm>
          <a:prstGeom prst="rect">
            <a:avLst/>
          </a:prstGeom>
          <a:solidFill>
            <a:srgbClr val="5A4E8C"/>
          </a:solidFill>
          <a:ln w="12700">
            <a:solidFill>
              <a:srgbClr val="5A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673352"/>
            <a:ext cx="5020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PROMPT 7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4983480" cy="34930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the final notebook section: an initial model card.</a:t>
            </a:r>
            <a:endParaRPr lang="en-US" sz="1140" dirty="0"/>
          </a:p>
          <a:p>
            <a:pPr marL="0" indent="0">
              <a:buNone/>
            </a:pP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Include fields for: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intended use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out-of-scope use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dataset and target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baseline result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model result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primary error pattern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supported conclusion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unsupported conclusion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limitations</a:t>
            </a: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- recommended next analysis</a:t>
            </a:r>
            <a:endParaRPr lang="en-US" sz="1140" dirty="0"/>
          </a:p>
          <a:p>
            <a:pPr marL="0" indent="0">
              <a:buNone/>
            </a:pPr>
            <a:endParaRPr lang="en-US" sz="1140" dirty="0"/>
          </a:p>
          <a:p>
            <a:pPr marL="0" indent="0">
              <a:buNone/>
            </a:pPr>
            <a:r>
              <a:rPr lang="en-US" sz="114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Avoid causal claims and deployment-ready language.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437376" y="166420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Strong interpretation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39112"/>
            <a:ext cx="44348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454545"/>
                </a:solidFill>
              </a:rPr>
              <a:t>“The model improves over baseline but misses many actual defects, so it may support review prioritization only after further validation.”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37376" y="32918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Weak interpretation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3675888"/>
            <a:ext cx="443484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9D1B1E"/>
                </a:solidFill>
              </a:rPr>
              <a:t>“The model proves which process settings cause defects and is ready for production use.”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437376" y="48006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Output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5184648"/>
            <a:ext cx="4434840" cy="51206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454545"/>
                </a:solidFill>
              </a:rPr>
              <a:t>One concise evidence-grounded paragraph that could be reused in a report, proposal, or class example.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Combined prompt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One-shot prompt: generate the full notebook scaffold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ADVANCED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1554480"/>
            <a:ext cx="10863072" cy="4443984"/>
          </a:xfrm>
          <a:prstGeom prst="roundRect">
            <a:avLst>
              <a:gd name="adj" fmla="val 1235"/>
            </a:avLst>
          </a:prstGeom>
          <a:solidFill>
            <a:srgbClr val="FFFDF8"/>
          </a:solidFill>
          <a:ln w="12700">
            <a:solidFill>
              <a:srgbClr val="BFB8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8368" y="1554480"/>
            <a:ext cx="10863072" cy="338328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627632"/>
            <a:ext cx="10533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</a:rPr>
              <a:t>COPY-PASTE FULL PROMPT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011680"/>
            <a:ext cx="10497312" cy="38953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Create a complete Jupyter notebook for an applied AI workshop using classification_workshop.csv.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Columns: temperature_c, pressure_kpa, speed_mm_s, vibration_mm_s, defect.</a:t>
            </a:r>
            <a:endParaRPr lang="en-US" sz="1160" dirty="0"/>
          </a:p>
          <a:p>
            <a:pPr marL="0" indent="0">
              <a:buNone/>
            </a:pP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Notebook sections must include: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1. problem framing and unit of observation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2. data loading and audit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3. class balance and visualization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4. leakage review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5. X/y definition and stratified train/test split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6. majority-class baseline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7. standardized logistic regression workflow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8. accuracy, precision, recall, F1, and confusion matrix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9. interpretation, limitations, and a short model card</a:t>
            </a:r>
            <a:endParaRPr lang="en-US" sz="1160" dirty="0"/>
          </a:p>
          <a:p>
            <a:pPr marL="0" indent="0">
              <a:buNone/>
            </a:pP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B1F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Use markdown plus executable code cells. Do not invent columns or causal claims.</a:t>
            </a:r>
            <a:endParaRPr lang="en-US" sz="1160" dirty="0"/>
          </a:p>
        </p:txBody>
      </p:sp>
      <p:sp>
        <p:nvSpPr>
          <p:cNvPr id="10" name="Text 8"/>
          <p:cNvSpPr/>
          <p:nvPr/>
        </p:nvSpPr>
        <p:spPr>
          <a:xfrm>
            <a:off x="777240" y="6217920"/>
            <a:ext cx="10241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/>
          </a:bodyPr>
          <a:lstStyle/>
          <a:p>
            <a:pPr marL="0" indent="0">
              <a:buNone/>
            </a:pPr>
            <a:r>
              <a:rPr lang="en-US" sz="1420" b="1" i="1" dirty="0">
                <a:solidFill>
                  <a:srgbClr val="FF0000"/>
                </a:solidFill>
              </a:rPr>
              <a:t>Use the full prompt only after participants understand the seven-step chain. Prompt chaining is usually easier to debug and teach.</a:t>
            </a:r>
            <a:endParaRPr lang="en-US" sz="1420" b="1" dirty="0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Class demonstration: before and after grounding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AI AUDIT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85800" y="164592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5800" y="1645920"/>
            <a:ext cx="91440" cy="123444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05256" y="1764792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Ungrounded prompt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05256" y="2084832"/>
            <a:ext cx="4764024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“Build a machine-learning notebook for defect prediction and explain the results.”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Risk: invented columns, unsupported claims, missing baseline.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645920"/>
            <a:ext cx="5074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1645920"/>
            <a:ext cx="91440" cy="123444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20256" y="1764792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Grounded prompt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20256" y="2084832"/>
            <a:ext cx="4764024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Provides dataset name, exact columns, task, constraints, metrics, and required interpretation boundaries.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43016" y="2267712"/>
            <a:ext cx="448056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5204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Class audit questions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24128" y="4142233"/>
            <a:ext cx="480060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77500" lnSpcReduction="20000"/>
          </a:bodyPr>
          <a:lstStyle/>
          <a:p>
            <a:r>
              <a:rPr lang="en-US" sz="1500" dirty="0">
                <a:solidFill>
                  <a:srgbClr val="0B1F33"/>
                </a:solidFill>
              </a:rPr>
              <a:t>Did it invent any column names?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Did it include a baseline?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Did it fit preprocessing before the split?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Did it overclaim causality?
</a:t>
            </a:r>
            <a:endParaRPr lang="en-US" sz="1500" dirty="0"/>
          </a:p>
          <a:p>
            <a:r>
              <a:rPr lang="en-US" sz="1500" dirty="0">
                <a:solidFill>
                  <a:srgbClr val="0B1F33"/>
                </a:solidFill>
              </a:rPr>
              <a:t>Did it produce a notebook section participants can run?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5204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Instructor debrief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9400" y="3886200"/>
            <a:ext cx="448056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620" dirty="0">
                <a:solidFill>
                  <a:srgbClr val="454545"/>
                </a:solidFill>
              </a:rPr>
              <a:t>The LLM output becomes a draft artifact. The class evaluates the draft against the ML workflow, not against how polished the response sounds.</a:t>
            </a:r>
            <a:endParaRPr lang="en-US" sz="162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Participant activity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Prompt-chain worksheet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GROUP WORK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13232" y="1645920"/>
            <a:ext cx="100584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454545"/>
                </a:solidFill>
              </a:rPr>
              <a:t>Each group uses the prompt sequence to generate one notebook section, then audits it before moving to the next step.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58368" y="2331720"/>
            <a:ext cx="3154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58368" y="2331720"/>
            <a:ext cx="91440" cy="1920240"/>
          </a:xfrm>
          <a:prstGeom prst="rect">
            <a:avLst/>
          </a:prstGeom>
          <a:solidFill>
            <a:srgbClr val="1B4D7A"/>
          </a:solidFill>
          <a:ln w="1270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77824" y="2450592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Group 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7824" y="2770632"/>
            <a:ext cx="2843784" cy="1399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Problem framing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Data audit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Visualization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Check: task, target, units, class balance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251960" y="2331720"/>
            <a:ext cx="3154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251960" y="2331720"/>
            <a:ext cx="91440" cy="192024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471416" y="2450592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Group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71416" y="2770632"/>
            <a:ext cx="2843784" cy="1399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Leakage review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Feature ideas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Pipeline code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Check: availability, preprocessing, split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45552" y="2331720"/>
            <a:ext cx="3154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845552" y="2331720"/>
            <a:ext cx="91440" cy="192024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65008" y="2450592"/>
            <a:ext cx="2843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Group 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65008" y="2770632"/>
            <a:ext cx="2843784" cy="1399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Metrics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Interpretation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Model card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Check: baseline, error costs, limitations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4846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Share-out format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5313666"/>
            <a:ext cx="960120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 fontScale="70000" lnSpcReduction="20000"/>
          </a:bodyPr>
          <a:lstStyle/>
          <a:p>
            <a:r>
              <a:rPr lang="en-US" sz="1600" dirty="0">
                <a:solidFill>
                  <a:srgbClr val="0B1F33"/>
                </a:solidFill>
              </a:rPr>
              <a:t>One useful LLM output
</a:t>
            </a:r>
            <a:endParaRPr lang="en-US" sz="1600" dirty="0"/>
          </a:p>
          <a:p>
            <a:r>
              <a:rPr lang="en-US" sz="1600" dirty="0">
                <a:solidFill>
                  <a:srgbClr val="0B1F33"/>
                </a:solidFill>
              </a:rPr>
              <a:t>One output that required correction
</a:t>
            </a:r>
            <a:endParaRPr lang="en-US" sz="1600" dirty="0"/>
          </a:p>
          <a:p>
            <a:r>
              <a:rPr lang="en-US" sz="1600" dirty="0">
                <a:solidFill>
                  <a:srgbClr val="0B1F33"/>
                </a:solidFill>
              </a:rPr>
              <a:t>One decision that required human expertise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Quality criteria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What the LLM should produce — and what it should not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CHECKLIST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13232" y="1627632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13232" y="1627632"/>
            <a:ext cx="91440" cy="3383280"/>
          </a:xfrm>
          <a:prstGeom prst="rect">
            <a:avLst/>
          </a:prstGeom>
          <a:solidFill>
            <a:srgbClr val="2E6E4F"/>
          </a:solidFill>
          <a:ln w="1270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32688" y="174650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Acceptable output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066544"/>
            <a:ext cx="4764024" cy="2862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clear notebook sections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executable code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explicit X/y definition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baseline comparison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held-out evaluation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confusion matrix or metrics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cautious interpretation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limitation statement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627632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0" y="1627632"/>
            <a:ext cx="91440" cy="3383280"/>
          </a:xfrm>
          <a:prstGeom prst="rect">
            <a:avLst/>
          </a:prstGeom>
          <a:solidFill>
            <a:srgbClr val="9D1B1E"/>
          </a:solidFill>
          <a:ln w="1270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20256" y="174650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Reject or revise output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20256" y="2066544"/>
            <a:ext cx="4764024" cy="28620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invented variables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no baseline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no train/test split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preprocessing on full data before split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accuracy-only conclusion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causal claims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deployment-ready language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454545"/>
                </a:solidFill>
              </a:rPr>
              <a:t>• missing human verification questions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41248" y="5669280"/>
            <a:ext cx="1033272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1F33"/>
                </a:solidFill>
              </a:rPr>
              <a:t>Evaluation rule: a prompt-generated notebook is useful only if </a:t>
            </a:r>
            <a:r>
              <a:rPr lang="en-US" b="1" dirty="0">
                <a:solidFill>
                  <a:srgbClr val="0B1F33"/>
                </a:solidFill>
              </a:rPr>
              <a:t>you</a:t>
            </a:r>
            <a:r>
              <a:rPr lang="en-US" sz="1800" b="1" dirty="0">
                <a:solidFill>
                  <a:srgbClr val="0B1F33"/>
                </a:solidFill>
              </a:rPr>
              <a:t> can inspect, run, and defend every step.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766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C0000"/>
                </a:solidFill>
              </a:rPr>
              <a:t>Takeaways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81381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B1F33"/>
                </a:solidFill>
              </a:rPr>
              <a:t>Closing synthesis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502920" y="1408176"/>
            <a:ext cx="10881360" cy="0"/>
          </a:xfrm>
          <a:prstGeom prst="line">
            <a:avLst/>
          </a:prstGeom>
          <a:noFill/>
          <a:ln w="13970">
            <a:solidFill>
              <a:srgbClr val="E7E0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0" y="694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CC0000"/>
                </a:solidFill>
              </a:rPr>
              <a:t>ML + AI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94944" y="1673352"/>
            <a:ext cx="10424160" cy="4389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54545"/>
                </a:solidFill>
              </a:rPr>
              <a:t>The prompt chain converts the Day 3 pipeline into an AI-assisted workflow while preserving the core responsibilities of applied machine learning.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57400" y="3246120"/>
            <a:ext cx="448056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50792" y="3246120"/>
            <a:ext cx="448056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44184" y="3246120"/>
            <a:ext cx="448056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037576" y="3246120"/>
            <a:ext cx="448056" cy="0"/>
          </a:xfrm>
          <a:prstGeom prst="line">
            <a:avLst/>
          </a:prstGeom>
          <a:noFill/>
          <a:ln w="19050">
            <a:solidFill>
              <a:srgbClr val="BFB8A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1417320" cy="676656"/>
          </a:xfrm>
          <a:prstGeom prst="roundRect">
            <a:avLst>
              <a:gd name="adj" fmla="val 10811"/>
            </a:avLst>
          </a:prstGeom>
          <a:solidFill>
            <a:srgbClr val="1B4D7A"/>
          </a:solidFill>
          <a:ln w="8890">
            <a:solidFill>
              <a:srgbClr val="1B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evidence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761488" y="2907792"/>
            <a:ext cx="1417320" cy="676656"/>
          </a:xfrm>
          <a:prstGeom prst="roundRect">
            <a:avLst>
              <a:gd name="adj" fmla="val 10811"/>
            </a:avLst>
          </a:prstGeom>
          <a:solidFill>
            <a:srgbClr val="5A4E8C"/>
          </a:solidFill>
          <a:ln w="8890">
            <a:solidFill>
              <a:srgbClr val="5A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LLM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52928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drafts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745736" y="2907792"/>
            <a:ext cx="1417320" cy="676656"/>
          </a:xfrm>
          <a:prstGeom prst="roundRect">
            <a:avLst>
              <a:gd name="adj" fmla="val 10811"/>
            </a:avLst>
          </a:prstGeom>
          <a:solidFill>
            <a:srgbClr val="2E6E4F"/>
          </a:solidFill>
          <a:ln w="8890">
            <a:solidFill>
              <a:srgbClr val="2E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37176" y="29992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Notebook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37176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runs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729984" y="2907792"/>
            <a:ext cx="1417320" cy="676656"/>
          </a:xfrm>
          <a:prstGeom prst="roundRect">
            <a:avLst>
              <a:gd name="adj" fmla="val 10811"/>
            </a:avLst>
          </a:prstGeom>
          <a:solidFill>
            <a:srgbClr val="C99700"/>
          </a:solidFill>
          <a:ln w="8890">
            <a:solidFill>
              <a:srgbClr val="C997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21424" y="29992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Metrics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21424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evaluate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714232" y="2907792"/>
            <a:ext cx="1417320" cy="676656"/>
          </a:xfrm>
          <a:prstGeom prst="roundRect">
            <a:avLst>
              <a:gd name="adj" fmla="val 10811"/>
            </a:avLst>
          </a:prstGeom>
          <a:solidFill>
            <a:srgbClr val="9D1B1E"/>
          </a:solidFill>
          <a:ln w="8890">
            <a:solidFill>
              <a:srgbClr val="9D1B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805672" y="29992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Human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805672" y="325526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EAF0F5"/>
                </a:solidFill>
              </a:rPr>
              <a:t>validates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960120" y="46817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0000"/>
                </a:solidFill>
              </a:rPr>
              <a:t>Final message to participants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5074920"/>
            <a:ext cx="98755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0B1F33"/>
                </a:solidFill>
              </a:rPr>
              <a:t>AI can accelerate every stage of the ML pipeline, but it does not remove the need to define the task, check data quality, prevent leakage, evaluate models, and state limitations.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D6D6D"/>
                </a:solidFill>
              </a:rPr>
              <a:t>Guided LLM Prompt • Recreate the Day 3 ML notebook workflow</a:t>
            </a:r>
            <a:endParaRPr lang="en-US" sz="8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66576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D6D6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2186</Words>
  <Application>Microsoft Office PowerPoint</Application>
  <PresentationFormat>Widescreen</PresentationFormat>
  <Paragraphs>375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Guided LLM Prompt: Recreate the Full ML Pipeline</dc:title>
  <dc:subject>Guided LLM prompts to recreate a Day 3 full ML pipeline notebook</dc:subject>
  <dc:creator>Fred Livingston</dc:creator>
  <cp:lastModifiedBy>Fred Livingston</cp:lastModifiedBy>
  <cp:revision>3</cp:revision>
  <dcterms:created xsi:type="dcterms:W3CDTF">2026-07-17T06:15:13Z</dcterms:created>
  <dcterms:modified xsi:type="dcterms:W3CDTF">2026-07-17T07:54:03Z</dcterms:modified>
</cp:coreProperties>
</file>