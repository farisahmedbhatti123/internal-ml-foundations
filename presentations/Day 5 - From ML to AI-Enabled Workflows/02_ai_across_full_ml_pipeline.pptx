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8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8F3784AA-2818-E7AF-6E6A-BD6117BEB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97611" y="35060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98448" y="658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DAY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61872" y="102412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Across the Full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Machine-Learning Pipeline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07592" y="240487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313A"/>
                </a:solidFill>
              </a:rPr>
              <a:t>framing, auditing, leakage, features, pipelines, evaluation, and communication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07592" y="2889504"/>
            <a:ext cx="8503920" cy="0"/>
          </a:xfrm>
          <a:prstGeom prst="line">
            <a:avLst/>
          </a:prstGeom>
          <a:noFill/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3337560"/>
            <a:ext cx="658368" cy="6583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Frame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3392" y="3666744"/>
            <a:ext cx="877824" cy="0"/>
          </a:xfrm>
          <a:prstGeom prst="line">
            <a:avLst/>
          </a:prstGeom>
          <a:noFill/>
          <a:ln w="25400">
            <a:solidFill>
              <a:srgbClr val="D7D9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3337560"/>
            <a:ext cx="658368" cy="658368"/>
          </a:xfrm>
          <a:prstGeom prst="ellipse">
            <a:avLst/>
          </a:prstGeom>
          <a:solidFill>
            <a:srgbClr val="3266A8"/>
          </a:solidFill>
          <a:ln w="12700">
            <a:solidFill>
              <a:srgbClr val="32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036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Audit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47872" y="3666744"/>
            <a:ext cx="877824" cy="0"/>
          </a:xfrm>
          <a:prstGeom prst="line">
            <a:avLst/>
          </a:prstGeom>
          <a:noFill/>
          <a:ln w="25400">
            <a:solidFill>
              <a:srgbClr val="D7D9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4840" y="3337560"/>
            <a:ext cx="658368" cy="658368"/>
          </a:xfrm>
          <a:prstGeom prst="ellipse">
            <a:avLst/>
          </a:prstGeom>
          <a:solidFill>
            <a:srgbClr val="D07B2A"/>
          </a:solidFill>
          <a:ln w="12700">
            <a:solidFill>
              <a:srgbClr val="D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3484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Leakage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02352" y="3666744"/>
            <a:ext cx="877824" cy="0"/>
          </a:xfrm>
          <a:prstGeom prst="line">
            <a:avLst/>
          </a:prstGeom>
          <a:noFill/>
          <a:ln w="25400">
            <a:solidFill>
              <a:srgbClr val="D7D9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3337560"/>
            <a:ext cx="658368" cy="658368"/>
          </a:xfrm>
          <a:prstGeom prst="ellipse">
            <a:avLst/>
          </a:prstGeom>
          <a:solidFill>
            <a:srgbClr val="247C7A"/>
          </a:solidFill>
          <a:ln w="12700">
            <a:solidFill>
              <a:srgbClr val="247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Features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56832" y="3666744"/>
            <a:ext cx="877824" cy="0"/>
          </a:xfrm>
          <a:prstGeom prst="line">
            <a:avLst/>
          </a:prstGeom>
          <a:noFill/>
          <a:ln w="25400">
            <a:solidFill>
              <a:srgbClr val="D7D9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43800" y="3337560"/>
            <a:ext cx="658368" cy="658368"/>
          </a:xfrm>
          <a:prstGeom prst="ellipse">
            <a:avLst/>
          </a:prstGeom>
          <a:solidFill>
            <a:srgbClr val="6E4E9E"/>
          </a:solidFill>
          <a:ln w="12700">
            <a:solidFill>
              <a:srgbClr val="6E4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4380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Pipeline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11312" y="3666744"/>
            <a:ext cx="877824" cy="0"/>
          </a:xfrm>
          <a:prstGeom prst="line">
            <a:avLst/>
          </a:prstGeom>
          <a:noFill/>
          <a:ln w="25400">
            <a:solidFill>
              <a:srgbClr val="D7D9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98280" y="3337560"/>
            <a:ext cx="658368" cy="658368"/>
          </a:xfrm>
          <a:prstGeom prst="ellipse">
            <a:avLst/>
          </a:prstGeom>
          <a:solidFill>
            <a:srgbClr val="467A38"/>
          </a:solidFill>
          <a:ln w="12700">
            <a:solidFill>
              <a:srgbClr val="467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9828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Evaluate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65792" y="3666744"/>
            <a:ext cx="877824" cy="0"/>
          </a:xfrm>
          <a:prstGeom prst="line">
            <a:avLst/>
          </a:prstGeom>
          <a:noFill/>
          <a:ln w="25400">
            <a:solidFill>
              <a:srgbClr val="D7D9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652760" y="3337560"/>
            <a:ext cx="658368" cy="658368"/>
          </a:xfrm>
          <a:prstGeom prst="ellipse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52760" y="3511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7844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9313A"/>
                </a:solidFill>
              </a:rPr>
              <a:t>Explain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07592" y="58704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47C"/>
                </a:solidFill>
              </a:rPr>
              <a:t>Applied AI Design Workshop for Faculty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07592" y="61539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47C"/>
                </a:solidFill>
              </a:rPr>
              <a:t>Fred Livingston •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use AI in the ML pipeline?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AI helps structure, accelerate, and communicate the workflow—but does not replace validation.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184708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212B"/>
                </a:solidFill>
              </a:rPr>
              <a:t>Research question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95528" y="2103120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C747C"/>
                </a:solidFill>
              </a:rPr>
              <a:t>AI-assisted framing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313432" y="2112264"/>
            <a:ext cx="164592" cy="0"/>
          </a:xfrm>
          <a:prstGeom prst="line">
            <a:avLst/>
          </a:prstGeom>
          <a:noFill/>
          <a:ln w="13970">
            <a:solidFill>
              <a:srgbClr val="6C74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96312" y="1737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32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184708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212B"/>
                </a:solidFill>
              </a:rPr>
              <a:t>Data audit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606040" y="2103120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C747C"/>
                </a:solidFill>
              </a:rPr>
              <a:t>AI-assisted review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4123944" y="2112264"/>
            <a:ext cx="164592" cy="0"/>
          </a:xfrm>
          <a:prstGeom prst="line">
            <a:avLst/>
          </a:prstGeom>
          <a:noFill/>
          <a:ln w="13970">
            <a:solidFill>
              <a:srgbClr val="6C74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06824" y="1737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D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16552" y="184708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212B"/>
                </a:solidFill>
              </a:rPr>
              <a:t>Preprocessing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416552" y="2103120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C747C"/>
                </a:solidFill>
              </a:rPr>
              <a:t>Human-validated decisions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934456" y="2112264"/>
            <a:ext cx="164592" cy="0"/>
          </a:xfrm>
          <a:prstGeom prst="line">
            <a:avLst/>
          </a:prstGeom>
          <a:noFill/>
          <a:ln w="13970">
            <a:solidFill>
              <a:srgbClr val="6C74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1737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247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27064" y="184708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212B"/>
                </a:solidFill>
              </a:rPr>
              <a:t>Modeling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227064" y="2103120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C747C"/>
                </a:solidFill>
              </a:rPr>
              <a:t>Reproducible pipelines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744968" y="2112264"/>
            <a:ext cx="164592" cy="0"/>
          </a:xfrm>
          <a:prstGeom prst="line">
            <a:avLst/>
          </a:prstGeom>
          <a:noFill/>
          <a:ln w="13970">
            <a:solidFill>
              <a:srgbClr val="6C74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27848" y="1737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6E4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37576" y="184708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212B"/>
                </a:solidFill>
              </a:rPr>
              <a:t>Evaluation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037576" y="2103120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C747C"/>
                </a:solidFill>
              </a:rPr>
              <a:t>Metric-aware interpretation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9555480" y="2112264"/>
            <a:ext cx="164592" cy="0"/>
          </a:xfrm>
          <a:prstGeom prst="line">
            <a:avLst/>
          </a:prstGeom>
          <a:noFill/>
          <a:ln w="13970">
            <a:solidFill>
              <a:srgbClr val="6C74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738360" y="1737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467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48088" y="1847088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7212B"/>
                </a:solidFill>
              </a:rPr>
              <a:t>Communication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848088" y="2103120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C747C"/>
                </a:solidFill>
              </a:rPr>
              <a:t>Audience-specific explanations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49808" y="3063240"/>
            <a:ext cx="5303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012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AI is useful when it...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3703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asks clarifying questions about the problem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39959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turns analysis outputs into interpretable summaries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2885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checks for missing logic, leakage, and metric mismatch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45811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helps draft code, documentation, and limitations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19088" y="3063240"/>
            <a:ext cx="5029200" cy="2057400"/>
          </a:xfrm>
          <a:prstGeom prst="rect">
            <a:avLst/>
          </a:prstGeom>
          <a:solidFill>
            <a:srgbClr val="FFF3F3"/>
          </a:solidFill>
          <a:ln w="12700">
            <a:solidFill>
              <a:srgbClr val="E4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2940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AI is risky when it...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629400" y="3703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invents dataset characteristics or model results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9400" y="39959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treats correlation as causation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42885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overrides domain knowledge or required inspection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9400" y="45811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313A"/>
                </a:solidFill>
              </a:rPr>
              <a:t>• hides uncertainty behind fluent explanations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" y="54864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Day 5 focus: AI as a copilot for defensible analysis and evidence-grounded communication.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Framing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Use AI to turn a broad research idea into a precise ML task.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What AI can help define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unit of observation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candidate inputs and target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task type and output format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baseline and primary metric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Human checks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is the target measurable?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are inputs available at prediction time?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what decision changes?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what error is most costly?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B"/>
                </a:solidFill>
              </a:rPr>
              <a:t>Goal: ask the AI to identify assumptions, then verify or correct each 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1 prompt: frame the ML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 have process temperature, pressure, speed, vibration, material type, and a defect label.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Help me define: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unit of observation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target variable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candidate inputs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 ML task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5. simple baseline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6. primary evaluation metric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Ask me to verify assumptions, especially which variables are available before prediction.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735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AI should not choose the final problem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the user must verify timing and target meaning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baseline and metric must match the decision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3266A8"/>
          </a:solidFill>
          <a:ln w="12700">
            <a:solidFill>
              <a:srgbClr val="32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Audit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AI can review a DataFrame summary and suggest issues to investigate.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3266A8"/>
          </a:solidFill>
          <a:ln w="12700">
            <a:solidFill>
              <a:srgbClr val="32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Supply the AI with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df.shape and column names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df.dtypes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df.isna().sum()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duplicates and target balance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summary statistics and category counts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3266A8"/>
          </a:solidFill>
          <a:ln w="12700">
            <a:solidFill>
              <a:srgbClr val="32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Ask AI to identify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missing values and invalid types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class imbalance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possible identifiers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suspicious ranges or categories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questions for a domain expert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22960" y="5349240"/>
            <a:ext cx="10515600" cy="347472"/>
          </a:xfrm>
          <a:prstGeom prst="roundRect">
            <a:avLst>
              <a:gd name="adj" fmla="val 13158"/>
            </a:avLst>
          </a:prstGeom>
          <a:solidFill>
            <a:srgbClr val="EEF4FB"/>
          </a:solidFill>
          <a:ln w="12700">
            <a:solidFill>
              <a:srgbClr val="C7D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44068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</a:rPr>
              <a:t>Avoid: “clean my data.” Prefer: “review this audit and list concerns without deleting observations unless a domain rule supports it.”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2 prompt: audit the dataset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6A8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Review this data audit. Identify potential data-quality concerns, but do not recommend deleting observations without a domain-based reason.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Dataset summary: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shape: [paste df.shape]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dtypes: [paste df.dtypes]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missing values: [paste df.isna().sum()]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duplicates: [paste duplicate count]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target distribution: [paste class counts]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numeric summary: [paste df.describe()]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735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separate facts from 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flag issues, then verify in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ask whether unusual values are valid rare events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D07B2A"/>
          </a:solidFill>
          <a:ln w="12700">
            <a:solidFill>
              <a:srgbClr val="D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Leakage 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AI can help ask the temporal question: was this variable available at prediction time?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D07B2A"/>
          </a:solidFill>
          <a:ln w="12700">
            <a:solidFill>
              <a:srgbClr val="D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Common leakage variables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final inspection score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maintenance action after run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future sensor readings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target-derived status fields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group IDs that reveal labels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D07B2A"/>
          </a:solidFill>
          <a:ln w="12700">
            <a:solidFill>
              <a:srgbClr val="D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Evaluation Questions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when is the prediction made?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when is each feature known?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is the test set too familiar?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does a variable reveal the outcome?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what would the real workflow see?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841248" y="5394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Leakage detection is one of the highest-value AI audit tasks because fluent models often miss temporal logic unless prompted explicitly.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3 prompt: check for leakage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B2A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Here are the dataset columns and definitions. The prediction must be made before final inspection.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[paste column list and definitions]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Which variables could introduce target leakage? For each variable, explain: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whether it is available before prediction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how it could reveal the target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whether to keep, transform, or remove it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assume timing; list questions that need domain verification.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final decisions require domain workflow knowledge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leakage can make performance meaningless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47C7A"/>
          </a:solidFill>
          <a:ln w="12700">
            <a:solidFill>
              <a:srgbClr val="247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Use AI to generate feature hypotheses, then validate them with domain knowledge.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247C7A"/>
          </a:solidFill>
          <a:ln w="12700">
            <a:solidFill>
              <a:srgbClr val="247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AI-generated candidates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temperature deviation from nominal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pressure deviation from target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vibration-to-speed ratio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process intensity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rolling statistics for time-series data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247C7A"/>
          </a:solidFill>
          <a:ln w="12700">
            <a:solidFill>
              <a:srgbClr val="247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Human validation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physical plausibility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availability before prediction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measurement reliability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risk of redundancy or leakage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interpretability for stakeholders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14400" y="5285232"/>
            <a:ext cx="10241280" cy="438912"/>
          </a:xfrm>
          <a:prstGeom prst="roundRect">
            <a:avLst>
              <a:gd name="adj" fmla="val 12500"/>
            </a:avLst>
          </a:prstGeom>
          <a:solidFill>
            <a:srgbClr val="EEF7F6"/>
          </a:solidFill>
          <a:ln w="12700">
            <a:solidFill>
              <a:srgbClr val="C3D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5422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7212B"/>
                </a:solidFill>
              </a:rPr>
              <a:t>Key message: AI-generated features are hypotheses, not evidence that the feature improves the model.</a:t>
            </a:r>
            <a:endParaRPr lang="en-US" sz="11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4 prompt: propose features responsibly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7C7A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 candidate features using temperature, pressure, speed, vibration, timestamp, and material type.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Separate features into: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domain-informed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mathematically convenient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risky or possibly leaky features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feature, state what assumption must be verified before using it. Do not claim that any feature will improve performance until tested.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735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features should map to process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test one change at a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report features that were tried and rejected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6E4E9E"/>
          </a:solidFill>
          <a:ln w="12700">
            <a:solidFill>
              <a:srgbClr val="6E4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Development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AI can draft code, but the analyst must inspect preprocessing order and data flow.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6E4E9E"/>
          </a:solidFill>
          <a:ln w="12700">
            <a:solidFill>
              <a:srgbClr val="6E4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Useful AI coding support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write scikit-learn pipelines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explain code line-by-line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debug shape/type errors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refactor repeated steps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add comments and documentation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6E4E9E"/>
          </a:solidFill>
          <a:ln w="12700">
            <a:solidFill>
              <a:srgbClr val="6E4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Must inspect manually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target and feature columns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train/test split logic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preprocessing fit only on training data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metric functions and labels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random seed and reproducibility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841248" y="5394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The code can run and still be scientifically wrong if the split, target, or feature timing is wrong.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5 prompt: create a reproducible pipeline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4E9E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 scikit-learn pipeline that: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uses a stratified train/test 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median-imputes and standardizes numerical variables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imputes and one-hot encodes categorical variables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fits logistic regression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compares against a majority-class baseline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reports accuracy, precision, recall, F1, and a confusion matrix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fixed random_state values. Explain each line briefly.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735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verify preprocessing is inside the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do not fit scalers on all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metric direction must match the target class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467A38"/>
          </a:solidFill>
          <a:ln w="12700">
            <a:solidFill>
              <a:srgbClr val="467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and Error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AI can translate metrics into consequences when it is given the actual results and constraints.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467A38"/>
          </a:solidFill>
          <a:ln w="12700">
            <a:solidFill>
              <a:srgbClr val="467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Provide evidence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baseline metrics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model metrics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confusion matrix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class distribution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primary error consequence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60120" y="41422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known limitations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467A38"/>
          </a:solidFill>
          <a:ln w="12700">
            <a:solidFill>
              <a:srgbClr val="467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Ask for disciplined interpretation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direct evidence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reasonable interpretation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unsupported claims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most serious error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3796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recommended next analysis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77240" y="5285232"/>
            <a:ext cx="10652760" cy="438912"/>
          </a:xfrm>
          <a:prstGeom prst="roundRect">
            <a:avLst>
              <a:gd name="adj" fmla="val 12500"/>
            </a:avLst>
          </a:prstGeom>
          <a:solidFill>
            <a:srgbClr val="EEF7EC"/>
          </a:solidFill>
          <a:ln w="12700">
            <a:solidFill>
              <a:srgbClr val="C8D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52" y="542239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AI should help answer: “What does this result support, and what should we avoid claiming?”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6 prompt: interpret results without overclaiming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7A38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Interpret these results for a process engineer. Separate direct evidence, reasonable interpretation, and unsupported conclusions.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Baseline: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Accuracy = 0.80, Recall = 0.00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Accuracy = 0.86, Precision = 1.00, Recall = 0.27, F1 = 0.43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Confusion matrix: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TN = 44, FP = 0, FN = 8, TP = 3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Missed defects are more costly than false alarms.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735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look for causal overclaims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ensure recall is emphasized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ask for next analysis, not deployment approval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TOPIC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TOPIC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667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Audience-Specific Communication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" y="1078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</a:rPr>
              <a:t>AI can translate the same evidence for researchers, managers, students, and reports.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109728" cy="33832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Potential outputs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technical interpretation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manager summary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6012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student explanation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60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model-card paragraph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limitation statement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60120" y="41422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next-step recommendation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109728" cy="33832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0528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</a:rPr>
              <a:t>Rules for communication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22219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use only supplied evidence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3796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state uncertainty clearly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37960" y="29900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avoid causal language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53796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match audience and decision context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37960" y="3758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9313A"/>
                </a:solidFill>
              </a:rPr>
              <a:t>• separate model output from action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41248" y="5394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Generative AI is most useful after the analysis produces evidence; it organizes and explains, but should not create new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7 prompt: adapt the explanation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Use prompt templates to turn AI into a structured reviewer—not an unchecked answer generator.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Prompt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139696"/>
            <a:ext cx="60807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Using only the supplied model results and limitations, create three versions of the interpretation: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technical explanation for a researcher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two-sentence summary for a lab manager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simple explanation for students new to ML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931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Each version must include the main limitation and avoid claiming causality.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6002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1F4F7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735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audience changes wording, not evidence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AI can make unsupported claims sound polished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303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313A"/>
                </a:solidFill>
              </a:rPr>
              <a:t>• require one “do not claim” statement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DAY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2880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47C"/>
                </a:solidFill>
              </a:rPr>
              <a:t>AI across the ML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Takeaways: AI is an accelerator, not a substitute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969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47C"/>
                </a:solidFill>
              </a:rPr>
              <a:t>The researcher remains responsible for the data, assumptions, evaluation, and conclusions.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1143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32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9848" y="2103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66A8"/>
                </a:solidFill>
              </a:rPr>
              <a:t>AI accelerates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6424" y="26700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13A"/>
                </a:solidFill>
              </a:rPr>
              <a:t>framing, code drafting, summarization, and documentation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0" y="3502152"/>
            <a:ext cx="1371600" cy="0"/>
          </a:xfrm>
          <a:prstGeom prst="line">
            <a:avLst/>
          </a:prstGeom>
          <a:noFill/>
          <a:ln w="1524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182880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247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58768" y="2103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7C7A"/>
                </a:solidFill>
              </a:rPr>
              <a:t>AI needs 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95344" y="26700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13A"/>
                </a:solidFill>
              </a:rPr>
              <a:t>metrics, tables, plots, definitions, and limitations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3502152"/>
            <a:ext cx="1371600" cy="0"/>
          </a:xfrm>
          <a:prstGeom prst="line">
            <a:avLst/>
          </a:prstGeom>
          <a:noFill/>
          <a:ln w="1524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82880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D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47688" y="2103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7B2A"/>
                </a:solidFill>
              </a:rPr>
              <a:t>AI must be audited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84264" y="26700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13A"/>
                </a:solidFill>
              </a:rPr>
              <a:t>unsupported claims, leakage, and causal language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3502152"/>
            <a:ext cx="1371600" cy="0"/>
          </a:xfrm>
          <a:prstGeom prst="line">
            <a:avLst/>
          </a:prstGeom>
          <a:noFill/>
          <a:ln w="1524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35440" y="182880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36608" y="2103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</a:rPr>
              <a:t>Humans decide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73184" y="26700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9313A"/>
                </a:solidFill>
              </a:rPr>
              <a:t>validity, context, action, risk, and ethics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38360" y="3502152"/>
            <a:ext cx="1371600" cy="0"/>
          </a:xfrm>
          <a:prstGeom prst="line">
            <a:avLst/>
          </a:prstGeom>
          <a:noFill/>
          <a:ln w="1524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34440" y="457200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9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72768" y="48006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12B"/>
                </a:solidFill>
              </a:rPr>
              <a:t>Final message: AI can accelerate every stage of the ML workflow, but trustworthy use depends on human-validated evidence and clear boundaries.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1891</Words>
  <Application>Microsoft Office PowerPoint</Application>
  <PresentationFormat>Widescreen</PresentationFormat>
  <Paragraphs>333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Across the Full ML Pipeline</dc:title>
  <dc:subject>Day 5 Applied AI Systems</dc:subject>
  <dc:creator>Fred Livingston</dc:creator>
  <cp:lastModifiedBy>Fred Livingston</cp:lastModifiedBy>
  <cp:revision>3</cp:revision>
  <dcterms:created xsi:type="dcterms:W3CDTF">2026-07-17T05:59:09Z</dcterms:created>
  <dcterms:modified xsi:type="dcterms:W3CDTF">2026-07-17T07:53:05Z</dcterms:modified>
</cp:coreProperties>
</file>