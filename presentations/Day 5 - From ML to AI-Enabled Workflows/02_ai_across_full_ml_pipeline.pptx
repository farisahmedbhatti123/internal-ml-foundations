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3" r:id="rId1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63" d="100"/>
          <a:sy n="63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38828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NC State Engineering -- ANS / Conferences / 2021 Student Conference">
            <a:extLst>
              <a:ext uri="{FF2B5EF4-FFF2-40B4-BE49-F238E27FC236}">
                <a16:creationId xmlns:a16="http://schemas.microsoft.com/office/drawing/2014/main" id="{8F3784AA-2818-E7AF-6E6A-BD6117BEBCF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397611" y="350601"/>
            <a:ext cx="1551223" cy="432403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298448" y="658368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C0000"/>
                </a:solidFill>
              </a:rPr>
              <a:t>DAY 5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261872" y="1024128"/>
            <a:ext cx="7863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800" b="1" dirty="0">
                <a:solidFill>
                  <a:srgbClr val="17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 Across the Full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17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Machine-Learning Pipeline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1307592" y="2404872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9313A"/>
                </a:solidFill>
              </a:rPr>
              <a:t>framing, auditing, leakage, features, pipelines, evaluation, and communication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307592" y="2889504"/>
            <a:ext cx="8503920" cy="0"/>
          </a:xfrm>
          <a:prstGeom prst="line">
            <a:avLst/>
          </a:prstGeom>
          <a:noFill/>
          <a:ln w="12700">
            <a:solidFill>
              <a:srgbClr val="D7D9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325880" y="3337560"/>
            <a:ext cx="658368" cy="658368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325880" y="3511296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51560" y="406908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9313A"/>
                </a:solidFill>
              </a:rPr>
              <a:t>Frame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1993392" y="3666744"/>
            <a:ext cx="877824" cy="0"/>
          </a:xfrm>
          <a:prstGeom prst="line">
            <a:avLst/>
          </a:prstGeom>
          <a:noFill/>
          <a:ln w="25400">
            <a:solidFill>
              <a:srgbClr val="D7D9DC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880360" y="3337560"/>
            <a:ext cx="658368" cy="658368"/>
          </a:xfrm>
          <a:prstGeom prst="ellipse">
            <a:avLst/>
          </a:prstGeom>
          <a:solidFill>
            <a:srgbClr val="3266A8"/>
          </a:solidFill>
          <a:ln w="12700">
            <a:solidFill>
              <a:srgbClr val="3266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880360" y="3511296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606040" y="406908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9313A"/>
                </a:solidFill>
              </a:rPr>
              <a:t>Audit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547872" y="3666744"/>
            <a:ext cx="877824" cy="0"/>
          </a:xfrm>
          <a:prstGeom prst="line">
            <a:avLst/>
          </a:prstGeom>
          <a:noFill/>
          <a:ln w="25400">
            <a:solidFill>
              <a:srgbClr val="D7D9DC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434840" y="3337560"/>
            <a:ext cx="658368" cy="658368"/>
          </a:xfrm>
          <a:prstGeom prst="ellipse">
            <a:avLst/>
          </a:prstGeom>
          <a:solidFill>
            <a:srgbClr val="D07B2A"/>
          </a:solidFill>
          <a:ln w="12700">
            <a:solidFill>
              <a:srgbClr val="D07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434840" y="3511296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160520" y="406908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9313A"/>
                </a:solidFill>
              </a:rPr>
              <a:t>Leakage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102352" y="3666744"/>
            <a:ext cx="877824" cy="0"/>
          </a:xfrm>
          <a:prstGeom prst="line">
            <a:avLst/>
          </a:prstGeom>
          <a:noFill/>
          <a:ln w="25400">
            <a:solidFill>
              <a:srgbClr val="D7D9DC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989320" y="3337560"/>
            <a:ext cx="658368" cy="658368"/>
          </a:xfrm>
          <a:prstGeom prst="ellipse">
            <a:avLst/>
          </a:prstGeom>
          <a:solidFill>
            <a:srgbClr val="247C7A"/>
          </a:solidFill>
          <a:ln w="12700">
            <a:solidFill>
              <a:srgbClr val="247C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989320" y="3511296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715000" y="406908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9313A"/>
                </a:solidFill>
              </a:rPr>
              <a:t>Features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656832" y="3666744"/>
            <a:ext cx="877824" cy="0"/>
          </a:xfrm>
          <a:prstGeom prst="line">
            <a:avLst/>
          </a:prstGeom>
          <a:noFill/>
          <a:ln w="25400">
            <a:solidFill>
              <a:srgbClr val="D7D9DC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7543800" y="3337560"/>
            <a:ext cx="658368" cy="658368"/>
          </a:xfrm>
          <a:prstGeom prst="ellipse">
            <a:avLst/>
          </a:prstGeom>
          <a:solidFill>
            <a:srgbClr val="6E4E9E"/>
          </a:solidFill>
          <a:ln w="12700">
            <a:solidFill>
              <a:srgbClr val="6E4E9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543800" y="3511296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269480" y="406908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9313A"/>
                </a:solidFill>
              </a:rPr>
              <a:t>Pipeline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211312" y="3666744"/>
            <a:ext cx="877824" cy="0"/>
          </a:xfrm>
          <a:prstGeom prst="line">
            <a:avLst/>
          </a:prstGeom>
          <a:noFill/>
          <a:ln w="25400">
            <a:solidFill>
              <a:srgbClr val="D7D9DC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9098280" y="3337560"/>
            <a:ext cx="658368" cy="658368"/>
          </a:xfrm>
          <a:prstGeom prst="ellipse">
            <a:avLst/>
          </a:prstGeom>
          <a:solidFill>
            <a:srgbClr val="467A38"/>
          </a:solidFill>
          <a:ln w="12700">
            <a:solidFill>
              <a:srgbClr val="467A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9098280" y="3511296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823960" y="406908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9313A"/>
                </a:solidFill>
              </a:rPr>
              <a:t>Evaluate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9765792" y="3666744"/>
            <a:ext cx="877824" cy="0"/>
          </a:xfrm>
          <a:prstGeom prst="line">
            <a:avLst/>
          </a:prstGeom>
          <a:noFill/>
          <a:ln w="25400">
            <a:solidFill>
              <a:srgbClr val="D7D9DC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10652760" y="3337560"/>
            <a:ext cx="658368" cy="658368"/>
          </a:xfrm>
          <a:prstGeom prst="ellipse">
            <a:avLst/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10652760" y="3511296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7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0378440" y="406908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9313A"/>
                </a:solidFill>
              </a:rPr>
              <a:t>Explain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1307592" y="5870448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C747C"/>
                </a:solidFill>
              </a:rPr>
              <a:t>Applied AI Design Workshop for Faculty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1307592" y="6153912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C747C"/>
                </a:solidFill>
              </a:rPr>
              <a:t>Fred Livingston •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6C74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502920" y="6327648"/>
            <a:ext cx="11155680" cy="0"/>
          </a:xfrm>
          <a:prstGeom prst="line">
            <a:avLst/>
          </a:prstGeom>
          <a:noFill/>
          <a:ln w="8890">
            <a:solidFill>
              <a:srgbClr val="D7D9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644652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CC0000"/>
                </a:solidFill>
              </a:rPr>
              <a:t>DAY 5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828800" y="6446520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C747C"/>
                </a:solidFill>
              </a:rPr>
              <a:t>AI across the ML pipeline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566928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7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use AI in the ML pipeline?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21208" y="969264"/>
            <a:ext cx="9875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C747C"/>
                </a:solidFill>
              </a:rPr>
              <a:t>AI helps structure, accelerate, and communicate the workflow—but does not replace validation.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02920" y="1307592"/>
            <a:ext cx="1143000" cy="54864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85800" y="1737360"/>
            <a:ext cx="160020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2032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95528" y="1847088"/>
            <a:ext cx="1380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7212B"/>
                </a:solidFill>
              </a:rPr>
              <a:t>Research question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95528" y="2103120"/>
            <a:ext cx="13807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C747C"/>
                </a:solidFill>
              </a:rPr>
              <a:t>AI-assisted framing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313432" y="2112264"/>
            <a:ext cx="164592" cy="0"/>
          </a:xfrm>
          <a:prstGeom prst="line">
            <a:avLst/>
          </a:prstGeom>
          <a:noFill/>
          <a:ln w="13970">
            <a:solidFill>
              <a:srgbClr val="6C747C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2496312" y="1737360"/>
            <a:ext cx="160020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20320">
            <a:solidFill>
              <a:srgbClr val="3266A8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2606040" y="1847088"/>
            <a:ext cx="1380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7212B"/>
                </a:solidFill>
              </a:rPr>
              <a:t>Data audit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606040" y="2103120"/>
            <a:ext cx="13807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C747C"/>
                </a:solidFill>
              </a:rPr>
              <a:t>AI-assisted review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123944" y="2112264"/>
            <a:ext cx="164592" cy="0"/>
          </a:xfrm>
          <a:prstGeom prst="line">
            <a:avLst/>
          </a:prstGeom>
          <a:noFill/>
          <a:ln w="13970">
            <a:solidFill>
              <a:srgbClr val="6C747C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306824" y="1737360"/>
            <a:ext cx="160020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20320">
            <a:solidFill>
              <a:srgbClr val="D07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416552" y="1847088"/>
            <a:ext cx="1380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7212B"/>
                </a:solidFill>
              </a:rPr>
              <a:t>Preprocessing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416552" y="2103120"/>
            <a:ext cx="13807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C747C"/>
                </a:solidFill>
              </a:rPr>
              <a:t>Human-validated decisions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934456" y="2112264"/>
            <a:ext cx="164592" cy="0"/>
          </a:xfrm>
          <a:prstGeom prst="line">
            <a:avLst/>
          </a:prstGeom>
          <a:noFill/>
          <a:ln w="13970">
            <a:solidFill>
              <a:srgbClr val="6C747C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117336" y="1737360"/>
            <a:ext cx="160020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20320">
            <a:solidFill>
              <a:srgbClr val="247C7A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227064" y="1847088"/>
            <a:ext cx="1380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7212B"/>
                </a:solidFill>
              </a:rPr>
              <a:t>Modeling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227064" y="2103120"/>
            <a:ext cx="13807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C747C"/>
                </a:solidFill>
              </a:rPr>
              <a:t>Reproducible pipelines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744968" y="2112264"/>
            <a:ext cx="164592" cy="0"/>
          </a:xfrm>
          <a:prstGeom prst="line">
            <a:avLst/>
          </a:prstGeom>
          <a:noFill/>
          <a:ln w="13970">
            <a:solidFill>
              <a:srgbClr val="6C747C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7927848" y="1737360"/>
            <a:ext cx="160020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20320">
            <a:solidFill>
              <a:srgbClr val="6E4E9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8037576" y="1847088"/>
            <a:ext cx="1380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7212B"/>
                </a:solidFill>
              </a:rPr>
              <a:t>Evaluation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037576" y="2103120"/>
            <a:ext cx="13807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C747C"/>
                </a:solidFill>
              </a:rPr>
              <a:t>Metric-aware interpretation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9555480" y="2112264"/>
            <a:ext cx="164592" cy="0"/>
          </a:xfrm>
          <a:prstGeom prst="line">
            <a:avLst/>
          </a:prstGeom>
          <a:noFill/>
          <a:ln w="13970">
            <a:solidFill>
              <a:srgbClr val="6C747C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9738360" y="1737360"/>
            <a:ext cx="160020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20320">
            <a:solidFill>
              <a:srgbClr val="467A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9848088" y="1847088"/>
            <a:ext cx="1380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7212B"/>
                </a:solidFill>
              </a:rPr>
              <a:t>Communication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9848088" y="2103120"/>
            <a:ext cx="13807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C747C"/>
                </a:solidFill>
              </a:rPr>
              <a:t>Audience-specific explanations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749808" y="3063240"/>
            <a:ext cx="530352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9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960120" y="329184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7212B"/>
                </a:solidFill>
              </a:rPr>
              <a:t>AI is useful when it...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960120" y="370332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9313A"/>
                </a:solidFill>
              </a:rPr>
              <a:t>• asks clarifying questions about the problem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960120" y="3995928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9313A"/>
                </a:solidFill>
              </a:rPr>
              <a:t>• turns analysis outputs into interpretable summaries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960120" y="4288536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9313A"/>
                </a:solidFill>
              </a:rPr>
              <a:t>• checks for missing logic, leakage, and metric mismatch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960120" y="4581144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9313A"/>
                </a:solidFill>
              </a:rPr>
              <a:t>• helps draft code, documentation, and limitations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419088" y="3063240"/>
            <a:ext cx="5029200" cy="2057400"/>
          </a:xfrm>
          <a:prstGeom prst="rect">
            <a:avLst/>
          </a:prstGeom>
          <a:solidFill>
            <a:srgbClr val="FFF3F3"/>
          </a:solidFill>
          <a:ln w="12700">
            <a:solidFill>
              <a:srgbClr val="E4BAB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629400" y="329184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C0000"/>
                </a:solidFill>
              </a:rPr>
              <a:t>AI is risky when it...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6629400" y="3703320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9313A"/>
                </a:solidFill>
              </a:rPr>
              <a:t>• invents dataset characteristics or model results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629400" y="3995928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9313A"/>
                </a:solidFill>
              </a:rPr>
              <a:t>• treats correlation as causation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629400" y="4288536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9313A"/>
                </a:solidFill>
              </a:rPr>
              <a:t>• overrides domain knowledge or required inspection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629400" y="4581144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9313A"/>
                </a:solidFill>
              </a:rPr>
              <a:t>• hides uncertainty behind fluent explanations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758952" y="5486400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212B"/>
                </a:solidFill>
              </a:rPr>
              <a:t>Day 5 focus: AI as a copilot for defensible analysis and evidence-grounded communication.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327648"/>
            <a:ext cx="11155680" cy="0"/>
          </a:xfrm>
          <a:prstGeom prst="line">
            <a:avLst/>
          </a:prstGeom>
          <a:noFill/>
          <a:ln w="8890">
            <a:solidFill>
              <a:srgbClr val="D7D9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644652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CC0000"/>
                </a:solidFill>
              </a:rPr>
              <a:t>TOPIC 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828800" y="6446520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C747C"/>
                </a:solidFill>
              </a:rPr>
              <a:t>AI across the ML pipeline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91695" cy="148132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85800" y="38404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</a:rPr>
              <a:t>TOPIC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85800" y="667512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Problem Framing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704088" y="1078992"/>
            <a:ext cx="10058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5F5F5"/>
                </a:solidFill>
              </a:rPr>
              <a:t>Use AI to turn a broad research idea into a precise ML task.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85800" y="1600200"/>
            <a:ext cx="5257800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D7D9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85800" y="1600200"/>
            <a:ext cx="109728" cy="338328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32688" y="18288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7212B"/>
                </a:solidFill>
              </a:rPr>
              <a:t>What AI can help define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60120" y="2221992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29313A"/>
                </a:solidFill>
              </a:rPr>
              <a:t>• unit of observation</a:t>
            </a:r>
            <a:endParaRPr lang="en-US" sz="1120" dirty="0"/>
          </a:p>
        </p:txBody>
      </p:sp>
      <p:sp>
        <p:nvSpPr>
          <p:cNvPr id="13" name="Text 11"/>
          <p:cNvSpPr/>
          <p:nvPr/>
        </p:nvSpPr>
        <p:spPr>
          <a:xfrm>
            <a:off x="960120" y="2606040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29313A"/>
                </a:solidFill>
              </a:rPr>
              <a:t>• candidate inputs and target</a:t>
            </a:r>
            <a:endParaRPr lang="en-US" sz="1120" dirty="0"/>
          </a:p>
        </p:txBody>
      </p:sp>
      <p:sp>
        <p:nvSpPr>
          <p:cNvPr id="14" name="Text 12"/>
          <p:cNvSpPr/>
          <p:nvPr/>
        </p:nvSpPr>
        <p:spPr>
          <a:xfrm>
            <a:off x="960120" y="2990088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29313A"/>
                </a:solidFill>
              </a:rPr>
              <a:t>• task type and output format</a:t>
            </a:r>
            <a:endParaRPr lang="en-US" sz="1120" dirty="0"/>
          </a:p>
        </p:txBody>
      </p:sp>
      <p:sp>
        <p:nvSpPr>
          <p:cNvPr id="15" name="Text 13"/>
          <p:cNvSpPr/>
          <p:nvPr/>
        </p:nvSpPr>
        <p:spPr>
          <a:xfrm>
            <a:off x="960120" y="3374136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29313A"/>
                </a:solidFill>
              </a:rPr>
              <a:t>• baseline and primary metric</a:t>
            </a:r>
            <a:endParaRPr lang="en-US" sz="1120" dirty="0"/>
          </a:p>
        </p:txBody>
      </p:sp>
      <p:sp>
        <p:nvSpPr>
          <p:cNvPr id="16" name="Shape 14"/>
          <p:cNvSpPr/>
          <p:nvPr/>
        </p:nvSpPr>
        <p:spPr>
          <a:xfrm>
            <a:off x="6263640" y="1600200"/>
            <a:ext cx="5257800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D7D9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263640" y="1600200"/>
            <a:ext cx="109728" cy="338328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510528" y="18288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7212B"/>
                </a:solidFill>
              </a:rPr>
              <a:t>Human checks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537960" y="2221992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29313A"/>
                </a:solidFill>
              </a:rPr>
              <a:t>• is the target measurable?</a:t>
            </a:r>
            <a:endParaRPr lang="en-US" sz="1120" dirty="0"/>
          </a:p>
        </p:txBody>
      </p:sp>
      <p:sp>
        <p:nvSpPr>
          <p:cNvPr id="20" name="Text 18"/>
          <p:cNvSpPr/>
          <p:nvPr/>
        </p:nvSpPr>
        <p:spPr>
          <a:xfrm>
            <a:off x="6537960" y="2606040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29313A"/>
                </a:solidFill>
              </a:rPr>
              <a:t>• are inputs available at prediction time?</a:t>
            </a:r>
            <a:endParaRPr lang="en-US" sz="1120" dirty="0"/>
          </a:p>
        </p:txBody>
      </p:sp>
      <p:sp>
        <p:nvSpPr>
          <p:cNvPr id="21" name="Text 19"/>
          <p:cNvSpPr/>
          <p:nvPr/>
        </p:nvSpPr>
        <p:spPr>
          <a:xfrm>
            <a:off x="6537960" y="2990088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29313A"/>
                </a:solidFill>
              </a:rPr>
              <a:t>• what decision changes?</a:t>
            </a:r>
            <a:endParaRPr lang="en-US" sz="1120" dirty="0"/>
          </a:p>
        </p:txBody>
      </p:sp>
      <p:sp>
        <p:nvSpPr>
          <p:cNvPr id="22" name="Text 20"/>
          <p:cNvSpPr/>
          <p:nvPr/>
        </p:nvSpPr>
        <p:spPr>
          <a:xfrm>
            <a:off x="6537960" y="3374136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29313A"/>
                </a:solidFill>
              </a:rPr>
              <a:t>• what error is most costly?</a:t>
            </a:r>
            <a:endParaRPr lang="en-US" sz="1120" dirty="0"/>
          </a:p>
        </p:txBody>
      </p:sp>
      <p:sp>
        <p:nvSpPr>
          <p:cNvPr id="23" name="Text 21"/>
          <p:cNvSpPr/>
          <p:nvPr/>
        </p:nvSpPr>
        <p:spPr>
          <a:xfrm>
            <a:off x="822960" y="53949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7212B"/>
                </a:solidFill>
              </a:rPr>
              <a:t>Goal: ask the AI to identify assumptions, then verify or correct each one.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6C74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502920" y="6327648"/>
            <a:ext cx="11155680" cy="0"/>
          </a:xfrm>
          <a:prstGeom prst="line">
            <a:avLst/>
          </a:prstGeom>
          <a:noFill/>
          <a:ln w="8890">
            <a:solidFill>
              <a:srgbClr val="D7D9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644652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CC0000"/>
                </a:solidFill>
              </a:rPr>
              <a:t>DAY 5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828800" y="6446520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C747C"/>
                </a:solidFill>
              </a:rPr>
              <a:t>AI across the ML pipeline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566928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7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Topic 1 prompt: frame the ML problem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21208" y="969264"/>
            <a:ext cx="9875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C747C"/>
                </a:solidFill>
              </a:rPr>
              <a:t>Use prompt templates to turn AI into a structured reviewer—not an unchecked answer generator.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02920" y="1307592"/>
            <a:ext cx="1143000" cy="54864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77240" y="1600200"/>
            <a:ext cx="6583680" cy="4069080"/>
          </a:xfrm>
          <a:prstGeom prst="roundRect">
            <a:avLst>
              <a:gd name="adj" fmla="val 1798"/>
            </a:avLst>
          </a:prstGeom>
          <a:solidFill>
            <a:srgbClr val="FFFFFF"/>
          </a:solidFill>
          <a:ln w="12700">
            <a:solidFill>
              <a:srgbClr val="D7D9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005840" y="1810512"/>
            <a:ext cx="20116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C0000"/>
                </a:solidFill>
              </a:rPr>
              <a:t>Prompt template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87552" y="2139696"/>
            <a:ext cx="6080760" cy="3246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29313A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I have process temperature, pressure, speed, vibration, material type, and a defect label.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29313A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Help me define: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29313A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1. unit of observation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29313A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2. target variable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29313A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3. candidate inputs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29313A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4. ML task type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29313A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5. simple baseline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29313A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6. primary evaluation metric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29313A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Ask me to verify assumptions, especially which variables are available before prediction.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7726680" y="1600200"/>
            <a:ext cx="3611880" cy="4069080"/>
          </a:xfrm>
          <a:prstGeom prst="roundRect">
            <a:avLst>
              <a:gd name="adj" fmla="val 2025"/>
            </a:avLst>
          </a:prstGeom>
          <a:solidFill>
            <a:srgbClr val="F1F4F7"/>
          </a:solidFill>
          <a:ln w="12700">
            <a:solidFill>
              <a:srgbClr val="D7D9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973568" y="221284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9313A"/>
                </a:solidFill>
              </a:rPr>
              <a:t>• AI should not choose the final problem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973568" y="262432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9313A"/>
                </a:solidFill>
              </a:rPr>
              <a:t>• the user must verify timing and target meaning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973568" y="303580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9313A"/>
                </a:solidFill>
              </a:rPr>
              <a:t>• baseline and metric must match the decision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327648"/>
            <a:ext cx="11155680" cy="0"/>
          </a:xfrm>
          <a:prstGeom prst="line">
            <a:avLst/>
          </a:prstGeom>
          <a:noFill/>
          <a:ln w="8890">
            <a:solidFill>
              <a:srgbClr val="D7D9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644652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CC0000"/>
                </a:solidFill>
              </a:rPr>
              <a:t>TOPIC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828800" y="6446520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C747C"/>
                </a:solidFill>
              </a:rPr>
              <a:t>AI across the ML pipeline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91695" cy="1481328"/>
          </a:xfrm>
          <a:prstGeom prst="rect">
            <a:avLst/>
          </a:prstGeom>
          <a:solidFill>
            <a:srgbClr val="3266A8"/>
          </a:solidFill>
          <a:ln w="12700">
            <a:solidFill>
              <a:srgbClr val="3266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85800" y="38404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</a:rPr>
              <a:t>TOPIC 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85800" y="667512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 Audit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704088" y="1078992"/>
            <a:ext cx="10058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5F5F5"/>
                </a:solidFill>
              </a:rPr>
              <a:t>AI can review a DataFrame summary and suggest issues to investigate.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85800" y="1600200"/>
            <a:ext cx="5257800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D7D9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85800" y="1600200"/>
            <a:ext cx="109728" cy="3383280"/>
          </a:xfrm>
          <a:prstGeom prst="rect">
            <a:avLst/>
          </a:prstGeom>
          <a:solidFill>
            <a:srgbClr val="3266A8"/>
          </a:solidFill>
          <a:ln w="12700">
            <a:solidFill>
              <a:srgbClr val="3266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32688" y="18288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7212B"/>
                </a:solidFill>
              </a:rPr>
              <a:t>Supply the AI with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60120" y="2221992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29313A"/>
                </a:solidFill>
              </a:rPr>
              <a:t>• df.shape and column names</a:t>
            </a:r>
            <a:endParaRPr lang="en-US" sz="1120" dirty="0"/>
          </a:p>
        </p:txBody>
      </p:sp>
      <p:sp>
        <p:nvSpPr>
          <p:cNvPr id="13" name="Text 11"/>
          <p:cNvSpPr/>
          <p:nvPr/>
        </p:nvSpPr>
        <p:spPr>
          <a:xfrm>
            <a:off x="960120" y="2606040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29313A"/>
                </a:solidFill>
              </a:rPr>
              <a:t>• df.dtypes</a:t>
            </a:r>
            <a:endParaRPr lang="en-US" sz="1120" dirty="0"/>
          </a:p>
        </p:txBody>
      </p:sp>
      <p:sp>
        <p:nvSpPr>
          <p:cNvPr id="14" name="Text 12"/>
          <p:cNvSpPr/>
          <p:nvPr/>
        </p:nvSpPr>
        <p:spPr>
          <a:xfrm>
            <a:off x="960120" y="2990088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29313A"/>
                </a:solidFill>
              </a:rPr>
              <a:t>• df.isna().sum()</a:t>
            </a:r>
            <a:endParaRPr lang="en-US" sz="1120" dirty="0"/>
          </a:p>
        </p:txBody>
      </p:sp>
      <p:sp>
        <p:nvSpPr>
          <p:cNvPr id="15" name="Text 13"/>
          <p:cNvSpPr/>
          <p:nvPr/>
        </p:nvSpPr>
        <p:spPr>
          <a:xfrm>
            <a:off x="960120" y="3374136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29313A"/>
                </a:solidFill>
              </a:rPr>
              <a:t>• duplicates and target balance</a:t>
            </a:r>
            <a:endParaRPr lang="en-US" sz="1120" dirty="0"/>
          </a:p>
        </p:txBody>
      </p:sp>
      <p:sp>
        <p:nvSpPr>
          <p:cNvPr id="16" name="Text 14"/>
          <p:cNvSpPr/>
          <p:nvPr/>
        </p:nvSpPr>
        <p:spPr>
          <a:xfrm>
            <a:off x="960120" y="3758184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29313A"/>
                </a:solidFill>
              </a:rPr>
              <a:t>• summary statistics and category counts</a:t>
            </a:r>
            <a:endParaRPr lang="en-US" sz="1120" dirty="0"/>
          </a:p>
        </p:txBody>
      </p:sp>
      <p:sp>
        <p:nvSpPr>
          <p:cNvPr id="17" name="Shape 15"/>
          <p:cNvSpPr/>
          <p:nvPr/>
        </p:nvSpPr>
        <p:spPr>
          <a:xfrm>
            <a:off x="6263640" y="1600200"/>
            <a:ext cx="5257800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D7D9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263640" y="1600200"/>
            <a:ext cx="109728" cy="3383280"/>
          </a:xfrm>
          <a:prstGeom prst="rect">
            <a:avLst/>
          </a:prstGeom>
          <a:solidFill>
            <a:srgbClr val="3266A8"/>
          </a:solidFill>
          <a:ln w="12700">
            <a:solidFill>
              <a:srgbClr val="3266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510528" y="18288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7212B"/>
                </a:solidFill>
              </a:rPr>
              <a:t>Ask AI to identify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537960" y="2221992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29313A"/>
                </a:solidFill>
              </a:rPr>
              <a:t>• missing values and invalid types</a:t>
            </a:r>
            <a:endParaRPr lang="en-US" sz="1120" dirty="0"/>
          </a:p>
        </p:txBody>
      </p:sp>
      <p:sp>
        <p:nvSpPr>
          <p:cNvPr id="21" name="Text 19"/>
          <p:cNvSpPr/>
          <p:nvPr/>
        </p:nvSpPr>
        <p:spPr>
          <a:xfrm>
            <a:off x="6537960" y="2606040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29313A"/>
                </a:solidFill>
              </a:rPr>
              <a:t>• class imbalance</a:t>
            </a:r>
            <a:endParaRPr lang="en-US" sz="1120" dirty="0"/>
          </a:p>
        </p:txBody>
      </p:sp>
      <p:sp>
        <p:nvSpPr>
          <p:cNvPr id="22" name="Text 20"/>
          <p:cNvSpPr/>
          <p:nvPr/>
        </p:nvSpPr>
        <p:spPr>
          <a:xfrm>
            <a:off x="6537960" y="2990088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29313A"/>
                </a:solidFill>
              </a:rPr>
              <a:t>• possible identifiers</a:t>
            </a:r>
            <a:endParaRPr lang="en-US" sz="1120" dirty="0"/>
          </a:p>
        </p:txBody>
      </p:sp>
      <p:sp>
        <p:nvSpPr>
          <p:cNvPr id="23" name="Text 21"/>
          <p:cNvSpPr/>
          <p:nvPr/>
        </p:nvSpPr>
        <p:spPr>
          <a:xfrm>
            <a:off x="6537960" y="3374136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29313A"/>
                </a:solidFill>
              </a:rPr>
              <a:t>• suspicious ranges or categories</a:t>
            </a:r>
            <a:endParaRPr lang="en-US" sz="1120" dirty="0"/>
          </a:p>
        </p:txBody>
      </p:sp>
      <p:sp>
        <p:nvSpPr>
          <p:cNvPr id="24" name="Text 22"/>
          <p:cNvSpPr/>
          <p:nvPr/>
        </p:nvSpPr>
        <p:spPr>
          <a:xfrm>
            <a:off x="6537960" y="3758184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29313A"/>
                </a:solidFill>
              </a:rPr>
              <a:t>• questions for a domain expert</a:t>
            </a:r>
            <a:endParaRPr lang="en-US" sz="1120" dirty="0"/>
          </a:p>
        </p:txBody>
      </p:sp>
      <p:sp>
        <p:nvSpPr>
          <p:cNvPr id="25" name="Shape 23"/>
          <p:cNvSpPr/>
          <p:nvPr/>
        </p:nvSpPr>
        <p:spPr>
          <a:xfrm>
            <a:off x="822960" y="5349240"/>
            <a:ext cx="10515600" cy="347472"/>
          </a:xfrm>
          <a:prstGeom prst="roundRect">
            <a:avLst>
              <a:gd name="adj" fmla="val 13158"/>
            </a:avLst>
          </a:prstGeom>
          <a:solidFill>
            <a:srgbClr val="EEF4FB"/>
          </a:solidFill>
          <a:ln w="12700">
            <a:solidFill>
              <a:srgbClr val="C7D7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1005840" y="5440680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7212B"/>
                </a:solidFill>
              </a:rPr>
              <a:t>Avoid: “clean my data.” Prefer: “review this audit and list concerns without deleting observations unless a domain rule supports it.”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6C74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502920" y="6327648"/>
            <a:ext cx="11155680" cy="0"/>
          </a:xfrm>
          <a:prstGeom prst="line">
            <a:avLst/>
          </a:prstGeom>
          <a:noFill/>
          <a:ln w="8890">
            <a:solidFill>
              <a:srgbClr val="D7D9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644652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CC0000"/>
                </a:solidFill>
              </a:rPr>
              <a:t>DAY 5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828800" y="6446520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C747C"/>
                </a:solidFill>
              </a:rPr>
              <a:t>AI across the ML pipeline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566928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7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Topic 2 prompt: audit the dataset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21208" y="969264"/>
            <a:ext cx="9875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C747C"/>
                </a:solidFill>
              </a:rPr>
              <a:t>Use prompt templates to turn AI into a structured reviewer—not an unchecked answer generator.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02920" y="1307592"/>
            <a:ext cx="1143000" cy="54864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77240" y="1600200"/>
            <a:ext cx="6583680" cy="4069080"/>
          </a:xfrm>
          <a:prstGeom prst="roundRect">
            <a:avLst>
              <a:gd name="adj" fmla="val 1798"/>
            </a:avLst>
          </a:prstGeom>
          <a:solidFill>
            <a:srgbClr val="FFFFFF"/>
          </a:solidFill>
          <a:ln w="12700">
            <a:solidFill>
              <a:srgbClr val="D7D9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005840" y="1810512"/>
            <a:ext cx="20116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266A8"/>
                </a:solidFill>
              </a:rPr>
              <a:t>Prompt template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87552" y="2139696"/>
            <a:ext cx="6080760" cy="3246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29313A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Review this data audit. Identify potential data-quality concerns, but do not recommend deleting observations without a domain-based reason.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29313A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Dataset summary: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29313A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- shape: [paste df.shape]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29313A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- dtypes: [paste df.dtypes]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29313A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- missing values: [paste df.isna().sum()]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29313A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- duplicates: [paste duplicate count]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29313A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- target distribution: [paste class counts]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29313A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- numeric summary: [paste df.describe()]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7726680" y="1600200"/>
            <a:ext cx="3611880" cy="4069080"/>
          </a:xfrm>
          <a:prstGeom prst="roundRect">
            <a:avLst>
              <a:gd name="adj" fmla="val 2025"/>
            </a:avLst>
          </a:prstGeom>
          <a:solidFill>
            <a:srgbClr val="F1F4F7"/>
          </a:solidFill>
          <a:ln w="12700">
            <a:solidFill>
              <a:srgbClr val="D7D9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973568" y="221284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9313A"/>
                </a:solidFill>
              </a:rPr>
              <a:t>• separate facts from recommendations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973568" y="262432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9313A"/>
                </a:solidFill>
              </a:rPr>
              <a:t>• flag issues, then verify in code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973568" y="303580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9313A"/>
                </a:solidFill>
              </a:rPr>
              <a:t>• ask whether unusual values are valid rare events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327648"/>
            <a:ext cx="11155680" cy="0"/>
          </a:xfrm>
          <a:prstGeom prst="line">
            <a:avLst/>
          </a:prstGeom>
          <a:noFill/>
          <a:ln w="8890">
            <a:solidFill>
              <a:srgbClr val="D7D9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644652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CC0000"/>
                </a:solidFill>
              </a:rPr>
              <a:t>TOPIC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828800" y="6446520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C747C"/>
                </a:solidFill>
              </a:rPr>
              <a:t>AI across the ML pipeline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91695" cy="1481328"/>
          </a:xfrm>
          <a:prstGeom prst="rect">
            <a:avLst/>
          </a:prstGeom>
          <a:solidFill>
            <a:srgbClr val="D07B2A"/>
          </a:solidFill>
          <a:ln w="12700">
            <a:solidFill>
              <a:srgbClr val="D07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85800" y="38404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</a:rPr>
              <a:t>TOPIC 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85800" y="667512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Leakage Review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704088" y="1078992"/>
            <a:ext cx="10058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5F5F5"/>
                </a:solidFill>
              </a:rPr>
              <a:t>AI can help ask the temporal question: was this variable available at prediction time?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85800" y="1600200"/>
            <a:ext cx="5257800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D7D9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85800" y="1600200"/>
            <a:ext cx="109728" cy="3383280"/>
          </a:xfrm>
          <a:prstGeom prst="rect">
            <a:avLst/>
          </a:prstGeom>
          <a:solidFill>
            <a:srgbClr val="D07B2A"/>
          </a:solidFill>
          <a:ln w="12700">
            <a:solidFill>
              <a:srgbClr val="D07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32688" y="18288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7212B"/>
                </a:solidFill>
              </a:rPr>
              <a:t>Common leakage variables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60120" y="2221992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29313A"/>
                </a:solidFill>
              </a:rPr>
              <a:t>• final inspection score</a:t>
            </a:r>
            <a:endParaRPr lang="en-US" sz="1120" dirty="0"/>
          </a:p>
        </p:txBody>
      </p:sp>
      <p:sp>
        <p:nvSpPr>
          <p:cNvPr id="13" name="Text 11"/>
          <p:cNvSpPr/>
          <p:nvPr/>
        </p:nvSpPr>
        <p:spPr>
          <a:xfrm>
            <a:off x="960120" y="2606040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29313A"/>
                </a:solidFill>
              </a:rPr>
              <a:t>• maintenance action after run</a:t>
            </a:r>
            <a:endParaRPr lang="en-US" sz="1120" dirty="0"/>
          </a:p>
        </p:txBody>
      </p:sp>
      <p:sp>
        <p:nvSpPr>
          <p:cNvPr id="14" name="Text 12"/>
          <p:cNvSpPr/>
          <p:nvPr/>
        </p:nvSpPr>
        <p:spPr>
          <a:xfrm>
            <a:off x="960120" y="2990088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29313A"/>
                </a:solidFill>
              </a:rPr>
              <a:t>• future sensor readings</a:t>
            </a:r>
            <a:endParaRPr lang="en-US" sz="1120" dirty="0"/>
          </a:p>
        </p:txBody>
      </p:sp>
      <p:sp>
        <p:nvSpPr>
          <p:cNvPr id="15" name="Text 13"/>
          <p:cNvSpPr/>
          <p:nvPr/>
        </p:nvSpPr>
        <p:spPr>
          <a:xfrm>
            <a:off x="960120" y="3374136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29313A"/>
                </a:solidFill>
              </a:rPr>
              <a:t>• target-derived status fields</a:t>
            </a:r>
            <a:endParaRPr lang="en-US" sz="1120" dirty="0"/>
          </a:p>
        </p:txBody>
      </p:sp>
      <p:sp>
        <p:nvSpPr>
          <p:cNvPr id="16" name="Text 14"/>
          <p:cNvSpPr/>
          <p:nvPr/>
        </p:nvSpPr>
        <p:spPr>
          <a:xfrm>
            <a:off x="960120" y="3758184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29313A"/>
                </a:solidFill>
              </a:rPr>
              <a:t>• group IDs that reveal labels</a:t>
            </a:r>
            <a:endParaRPr lang="en-US" sz="1120" dirty="0"/>
          </a:p>
        </p:txBody>
      </p:sp>
      <p:sp>
        <p:nvSpPr>
          <p:cNvPr id="17" name="Shape 15"/>
          <p:cNvSpPr/>
          <p:nvPr/>
        </p:nvSpPr>
        <p:spPr>
          <a:xfrm>
            <a:off x="6263640" y="1600200"/>
            <a:ext cx="5257800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D7D9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263640" y="1600200"/>
            <a:ext cx="109728" cy="3383280"/>
          </a:xfrm>
          <a:prstGeom prst="rect">
            <a:avLst/>
          </a:prstGeom>
          <a:solidFill>
            <a:srgbClr val="D07B2A"/>
          </a:solidFill>
          <a:ln w="12700">
            <a:solidFill>
              <a:srgbClr val="D07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510528" y="18288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7212B"/>
                </a:solidFill>
              </a:rPr>
              <a:t>Evaluation Questions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537960" y="2221992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29313A"/>
                </a:solidFill>
              </a:rPr>
              <a:t>• when is the prediction made?</a:t>
            </a:r>
            <a:endParaRPr lang="en-US" sz="1120" dirty="0"/>
          </a:p>
        </p:txBody>
      </p:sp>
      <p:sp>
        <p:nvSpPr>
          <p:cNvPr id="21" name="Text 19"/>
          <p:cNvSpPr/>
          <p:nvPr/>
        </p:nvSpPr>
        <p:spPr>
          <a:xfrm>
            <a:off x="6537960" y="2606040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29313A"/>
                </a:solidFill>
              </a:rPr>
              <a:t>• when is each feature known?</a:t>
            </a:r>
            <a:endParaRPr lang="en-US" sz="1120" dirty="0"/>
          </a:p>
        </p:txBody>
      </p:sp>
      <p:sp>
        <p:nvSpPr>
          <p:cNvPr id="22" name="Text 20"/>
          <p:cNvSpPr/>
          <p:nvPr/>
        </p:nvSpPr>
        <p:spPr>
          <a:xfrm>
            <a:off x="6537960" y="2990088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29313A"/>
                </a:solidFill>
              </a:rPr>
              <a:t>• is the test set too familiar?</a:t>
            </a:r>
            <a:endParaRPr lang="en-US" sz="1120" dirty="0"/>
          </a:p>
        </p:txBody>
      </p:sp>
      <p:sp>
        <p:nvSpPr>
          <p:cNvPr id="23" name="Text 21"/>
          <p:cNvSpPr/>
          <p:nvPr/>
        </p:nvSpPr>
        <p:spPr>
          <a:xfrm>
            <a:off x="6537960" y="3374136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29313A"/>
                </a:solidFill>
              </a:rPr>
              <a:t>• does a variable reveal the outcome?</a:t>
            </a:r>
            <a:endParaRPr lang="en-US" sz="1120" dirty="0"/>
          </a:p>
        </p:txBody>
      </p:sp>
      <p:sp>
        <p:nvSpPr>
          <p:cNvPr id="24" name="Text 22"/>
          <p:cNvSpPr/>
          <p:nvPr/>
        </p:nvSpPr>
        <p:spPr>
          <a:xfrm>
            <a:off x="6537960" y="3758184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29313A"/>
                </a:solidFill>
              </a:rPr>
              <a:t>• what would the real workflow see?</a:t>
            </a:r>
            <a:endParaRPr lang="en-US" sz="1120" dirty="0"/>
          </a:p>
        </p:txBody>
      </p:sp>
      <p:sp>
        <p:nvSpPr>
          <p:cNvPr id="25" name="Text 23"/>
          <p:cNvSpPr/>
          <p:nvPr/>
        </p:nvSpPr>
        <p:spPr>
          <a:xfrm>
            <a:off x="841248" y="5394960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7212B"/>
                </a:solidFill>
              </a:rPr>
              <a:t>Leakage detection is one of the highest-value AI audit tasks because fluent models often miss temporal logic unless prompted explicitly.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6C74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502920" y="6327648"/>
            <a:ext cx="11155680" cy="0"/>
          </a:xfrm>
          <a:prstGeom prst="line">
            <a:avLst/>
          </a:prstGeom>
          <a:noFill/>
          <a:ln w="8890">
            <a:solidFill>
              <a:srgbClr val="D7D9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644652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CC0000"/>
                </a:solidFill>
              </a:rPr>
              <a:t>DAY 5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828800" y="6446520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C747C"/>
                </a:solidFill>
              </a:rPr>
              <a:t>AI across the ML pipeline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566928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7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Topic 3 prompt: check for leakage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21208" y="969264"/>
            <a:ext cx="9875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C747C"/>
                </a:solidFill>
              </a:rPr>
              <a:t>Use prompt templates to turn AI into a structured reviewer—not an unchecked answer generator.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02920" y="1307592"/>
            <a:ext cx="1143000" cy="54864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77240" y="1600200"/>
            <a:ext cx="6583680" cy="4069080"/>
          </a:xfrm>
          <a:prstGeom prst="roundRect">
            <a:avLst>
              <a:gd name="adj" fmla="val 1798"/>
            </a:avLst>
          </a:prstGeom>
          <a:solidFill>
            <a:srgbClr val="FFFFFF"/>
          </a:solidFill>
          <a:ln w="12700">
            <a:solidFill>
              <a:srgbClr val="D7D9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005840" y="1810512"/>
            <a:ext cx="20116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07B2A"/>
                </a:solidFill>
              </a:rPr>
              <a:t>Prompt template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87552" y="2139696"/>
            <a:ext cx="6080760" cy="3246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29313A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Here are the dataset columns and definitions. The prediction must be made before final inspection.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29313A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[paste column list and definitions]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29313A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Which variables could introduce target leakage? For each variable, explain: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29313A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- whether it is available before prediction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29313A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- how it could reveal the target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29313A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- whether to keep, transform, or remove it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29313A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Do not assume timing; list questions that need domain verification.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7726680" y="1600200"/>
            <a:ext cx="3611880" cy="4069080"/>
          </a:xfrm>
          <a:prstGeom prst="roundRect">
            <a:avLst>
              <a:gd name="adj" fmla="val 2025"/>
            </a:avLst>
          </a:prstGeom>
          <a:solidFill>
            <a:srgbClr val="F1F4F7"/>
          </a:solidFill>
          <a:ln w="12700">
            <a:solidFill>
              <a:srgbClr val="D7D9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973568" y="262432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9313A"/>
                </a:solidFill>
              </a:rPr>
              <a:t>• final decisions require domain workflow knowledge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973568" y="303580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9313A"/>
                </a:solidFill>
              </a:rPr>
              <a:t>• leakage can make performance meaningless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327648"/>
            <a:ext cx="11155680" cy="0"/>
          </a:xfrm>
          <a:prstGeom prst="line">
            <a:avLst/>
          </a:prstGeom>
          <a:noFill/>
          <a:ln w="8890">
            <a:solidFill>
              <a:srgbClr val="D7D9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644652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CC0000"/>
                </a:solidFill>
              </a:rPr>
              <a:t>TOPIC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828800" y="6446520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C747C"/>
                </a:solidFill>
              </a:rPr>
              <a:t>AI across the ML pipeline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91695" cy="1481328"/>
          </a:xfrm>
          <a:prstGeom prst="rect">
            <a:avLst/>
          </a:prstGeom>
          <a:solidFill>
            <a:srgbClr val="247C7A"/>
          </a:solidFill>
          <a:ln w="12700">
            <a:solidFill>
              <a:srgbClr val="247C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85800" y="38404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</a:rPr>
              <a:t>TOPIC 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85800" y="667512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Feature Engineering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704088" y="1078992"/>
            <a:ext cx="10058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5F5F5"/>
                </a:solidFill>
              </a:rPr>
              <a:t>Use AI to generate feature hypotheses, then validate them with domain knowledge.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85800" y="1600200"/>
            <a:ext cx="5257800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D7D9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85800" y="1600200"/>
            <a:ext cx="109728" cy="3383280"/>
          </a:xfrm>
          <a:prstGeom prst="rect">
            <a:avLst/>
          </a:prstGeom>
          <a:solidFill>
            <a:srgbClr val="247C7A"/>
          </a:solidFill>
          <a:ln w="12700">
            <a:solidFill>
              <a:srgbClr val="247C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32688" y="18288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7212B"/>
                </a:solidFill>
              </a:rPr>
              <a:t>AI-generated candidates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60120" y="2221992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29313A"/>
                </a:solidFill>
              </a:rPr>
              <a:t>• temperature deviation from nominal</a:t>
            </a:r>
            <a:endParaRPr lang="en-US" sz="1120" dirty="0"/>
          </a:p>
        </p:txBody>
      </p:sp>
      <p:sp>
        <p:nvSpPr>
          <p:cNvPr id="13" name="Text 11"/>
          <p:cNvSpPr/>
          <p:nvPr/>
        </p:nvSpPr>
        <p:spPr>
          <a:xfrm>
            <a:off x="960120" y="2606040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29313A"/>
                </a:solidFill>
              </a:rPr>
              <a:t>• pressure deviation from target</a:t>
            </a:r>
            <a:endParaRPr lang="en-US" sz="1120" dirty="0"/>
          </a:p>
        </p:txBody>
      </p:sp>
      <p:sp>
        <p:nvSpPr>
          <p:cNvPr id="14" name="Text 12"/>
          <p:cNvSpPr/>
          <p:nvPr/>
        </p:nvSpPr>
        <p:spPr>
          <a:xfrm>
            <a:off x="960120" y="2990088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29313A"/>
                </a:solidFill>
              </a:rPr>
              <a:t>• vibration-to-speed ratio</a:t>
            </a:r>
            <a:endParaRPr lang="en-US" sz="1120" dirty="0"/>
          </a:p>
        </p:txBody>
      </p:sp>
      <p:sp>
        <p:nvSpPr>
          <p:cNvPr id="15" name="Text 13"/>
          <p:cNvSpPr/>
          <p:nvPr/>
        </p:nvSpPr>
        <p:spPr>
          <a:xfrm>
            <a:off x="960120" y="3374136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29313A"/>
                </a:solidFill>
              </a:rPr>
              <a:t>• process intensity</a:t>
            </a:r>
            <a:endParaRPr lang="en-US" sz="1120" dirty="0"/>
          </a:p>
        </p:txBody>
      </p:sp>
      <p:sp>
        <p:nvSpPr>
          <p:cNvPr id="16" name="Text 14"/>
          <p:cNvSpPr/>
          <p:nvPr/>
        </p:nvSpPr>
        <p:spPr>
          <a:xfrm>
            <a:off x="960120" y="3758184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29313A"/>
                </a:solidFill>
              </a:rPr>
              <a:t>• rolling statistics for time-series data</a:t>
            </a:r>
            <a:endParaRPr lang="en-US" sz="1120" dirty="0"/>
          </a:p>
        </p:txBody>
      </p:sp>
      <p:sp>
        <p:nvSpPr>
          <p:cNvPr id="17" name="Shape 15"/>
          <p:cNvSpPr/>
          <p:nvPr/>
        </p:nvSpPr>
        <p:spPr>
          <a:xfrm>
            <a:off x="6263640" y="1600200"/>
            <a:ext cx="5257800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D7D9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263640" y="1600200"/>
            <a:ext cx="109728" cy="3383280"/>
          </a:xfrm>
          <a:prstGeom prst="rect">
            <a:avLst/>
          </a:prstGeom>
          <a:solidFill>
            <a:srgbClr val="247C7A"/>
          </a:solidFill>
          <a:ln w="12700">
            <a:solidFill>
              <a:srgbClr val="247C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510528" y="18288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7212B"/>
                </a:solidFill>
              </a:rPr>
              <a:t>Human validation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537960" y="2221992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29313A"/>
                </a:solidFill>
              </a:rPr>
              <a:t>• physical plausibility</a:t>
            </a:r>
            <a:endParaRPr lang="en-US" sz="1120" dirty="0"/>
          </a:p>
        </p:txBody>
      </p:sp>
      <p:sp>
        <p:nvSpPr>
          <p:cNvPr id="21" name="Text 19"/>
          <p:cNvSpPr/>
          <p:nvPr/>
        </p:nvSpPr>
        <p:spPr>
          <a:xfrm>
            <a:off x="6537960" y="2606040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29313A"/>
                </a:solidFill>
              </a:rPr>
              <a:t>• availability before prediction</a:t>
            </a:r>
            <a:endParaRPr lang="en-US" sz="1120" dirty="0"/>
          </a:p>
        </p:txBody>
      </p:sp>
      <p:sp>
        <p:nvSpPr>
          <p:cNvPr id="22" name="Text 20"/>
          <p:cNvSpPr/>
          <p:nvPr/>
        </p:nvSpPr>
        <p:spPr>
          <a:xfrm>
            <a:off x="6537960" y="2990088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29313A"/>
                </a:solidFill>
              </a:rPr>
              <a:t>• measurement reliability</a:t>
            </a:r>
            <a:endParaRPr lang="en-US" sz="1120" dirty="0"/>
          </a:p>
        </p:txBody>
      </p:sp>
      <p:sp>
        <p:nvSpPr>
          <p:cNvPr id="23" name="Text 21"/>
          <p:cNvSpPr/>
          <p:nvPr/>
        </p:nvSpPr>
        <p:spPr>
          <a:xfrm>
            <a:off x="6537960" y="3374136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29313A"/>
                </a:solidFill>
              </a:rPr>
              <a:t>• risk of redundancy or leakage</a:t>
            </a:r>
            <a:endParaRPr lang="en-US" sz="1120" dirty="0"/>
          </a:p>
        </p:txBody>
      </p:sp>
      <p:sp>
        <p:nvSpPr>
          <p:cNvPr id="24" name="Text 22"/>
          <p:cNvSpPr/>
          <p:nvPr/>
        </p:nvSpPr>
        <p:spPr>
          <a:xfrm>
            <a:off x="6537960" y="3758184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29313A"/>
                </a:solidFill>
              </a:rPr>
              <a:t>• interpretability for stakeholders</a:t>
            </a:r>
            <a:endParaRPr lang="en-US" sz="1120" dirty="0"/>
          </a:p>
        </p:txBody>
      </p:sp>
      <p:sp>
        <p:nvSpPr>
          <p:cNvPr id="25" name="Shape 23"/>
          <p:cNvSpPr/>
          <p:nvPr/>
        </p:nvSpPr>
        <p:spPr>
          <a:xfrm>
            <a:off x="914400" y="5285232"/>
            <a:ext cx="10241280" cy="438912"/>
          </a:xfrm>
          <a:prstGeom prst="roundRect">
            <a:avLst>
              <a:gd name="adj" fmla="val 12500"/>
            </a:avLst>
          </a:prstGeom>
          <a:solidFill>
            <a:srgbClr val="EEF7F6"/>
          </a:solidFill>
          <a:ln w="12700">
            <a:solidFill>
              <a:srgbClr val="C3DE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1097280" y="5422392"/>
            <a:ext cx="9601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70" b="1" dirty="0">
                <a:solidFill>
                  <a:srgbClr val="17212B"/>
                </a:solidFill>
              </a:rPr>
              <a:t>Key message: AI-generated features are hypotheses, not evidence that the feature improves the model.</a:t>
            </a:r>
            <a:endParaRPr lang="en-US" sz="117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6C74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502920" y="6327648"/>
            <a:ext cx="11155680" cy="0"/>
          </a:xfrm>
          <a:prstGeom prst="line">
            <a:avLst/>
          </a:prstGeom>
          <a:noFill/>
          <a:ln w="8890">
            <a:solidFill>
              <a:srgbClr val="D7D9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644652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CC0000"/>
                </a:solidFill>
              </a:rPr>
              <a:t>DAY 5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828800" y="6446520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C747C"/>
                </a:solidFill>
              </a:rPr>
              <a:t>AI across the ML pipeline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566928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7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Topic 4 prompt: propose features responsibly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21208" y="969264"/>
            <a:ext cx="9875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C747C"/>
                </a:solidFill>
              </a:rPr>
              <a:t>Use prompt templates to turn AI into a structured reviewer—not an unchecked answer generator.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02920" y="1307592"/>
            <a:ext cx="1143000" cy="54864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77240" y="1600200"/>
            <a:ext cx="6583680" cy="4069080"/>
          </a:xfrm>
          <a:prstGeom prst="roundRect">
            <a:avLst>
              <a:gd name="adj" fmla="val 1798"/>
            </a:avLst>
          </a:prstGeom>
          <a:solidFill>
            <a:srgbClr val="FFFFFF"/>
          </a:solidFill>
          <a:ln w="12700">
            <a:solidFill>
              <a:srgbClr val="D7D9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005840" y="1810512"/>
            <a:ext cx="20116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47C7A"/>
                </a:solidFill>
              </a:rPr>
              <a:t>Prompt template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87552" y="2139696"/>
            <a:ext cx="6080760" cy="3246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29313A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Suggest candidate features using temperature, pressure, speed, vibration, timestamp, and material type.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29313A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Separate features into: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29313A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1. domain-informed features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29313A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2. mathematically convenient features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29313A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3. risky or possibly leaky features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29313A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For each feature, state what assumption must be verified before using it. Do not claim that any feature will improve performance until tested.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7726680" y="1600200"/>
            <a:ext cx="3611880" cy="4069080"/>
          </a:xfrm>
          <a:prstGeom prst="roundRect">
            <a:avLst>
              <a:gd name="adj" fmla="val 2025"/>
            </a:avLst>
          </a:prstGeom>
          <a:solidFill>
            <a:srgbClr val="F1F4F7"/>
          </a:solidFill>
          <a:ln w="12700">
            <a:solidFill>
              <a:srgbClr val="D7D9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973568" y="221284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9313A"/>
                </a:solidFill>
              </a:rPr>
              <a:t>• features should map to process logic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973568" y="262432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9313A"/>
                </a:solidFill>
              </a:rPr>
              <a:t>• test one change at a time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973568" y="303580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9313A"/>
                </a:solidFill>
              </a:rPr>
              <a:t>• report features that were tried and rejected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327648"/>
            <a:ext cx="11155680" cy="0"/>
          </a:xfrm>
          <a:prstGeom prst="line">
            <a:avLst/>
          </a:prstGeom>
          <a:noFill/>
          <a:ln w="8890">
            <a:solidFill>
              <a:srgbClr val="D7D9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644652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CC0000"/>
                </a:solidFill>
              </a:rPr>
              <a:t>TOPIC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828800" y="6446520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C747C"/>
                </a:solidFill>
              </a:rPr>
              <a:t>AI across the ML pipeline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91695" cy="1481328"/>
          </a:xfrm>
          <a:prstGeom prst="rect">
            <a:avLst/>
          </a:prstGeom>
          <a:solidFill>
            <a:srgbClr val="6E4E9E"/>
          </a:solidFill>
          <a:ln w="12700">
            <a:solidFill>
              <a:srgbClr val="6E4E9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85800" y="38404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</a:rPr>
              <a:t>TOPIC 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85800" y="667512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Pipeline Development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704088" y="1078992"/>
            <a:ext cx="10058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5F5F5"/>
                </a:solidFill>
              </a:rPr>
              <a:t>AI can draft code, but the analyst must inspect preprocessing order and data flow.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85800" y="1600200"/>
            <a:ext cx="5257800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D7D9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85800" y="1600200"/>
            <a:ext cx="109728" cy="3383280"/>
          </a:xfrm>
          <a:prstGeom prst="rect">
            <a:avLst/>
          </a:prstGeom>
          <a:solidFill>
            <a:srgbClr val="6E4E9E"/>
          </a:solidFill>
          <a:ln w="12700">
            <a:solidFill>
              <a:srgbClr val="6E4E9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32688" y="18288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7212B"/>
                </a:solidFill>
              </a:rPr>
              <a:t>Useful AI coding support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60120" y="2221992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29313A"/>
                </a:solidFill>
              </a:rPr>
              <a:t>• write scikit-learn pipelines</a:t>
            </a:r>
            <a:endParaRPr lang="en-US" sz="1120" dirty="0"/>
          </a:p>
        </p:txBody>
      </p:sp>
      <p:sp>
        <p:nvSpPr>
          <p:cNvPr id="13" name="Text 11"/>
          <p:cNvSpPr/>
          <p:nvPr/>
        </p:nvSpPr>
        <p:spPr>
          <a:xfrm>
            <a:off x="960120" y="2606040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29313A"/>
                </a:solidFill>
              </a:rPr>
              <a:t>• explain code line-by-line</a:t>
            </a:r>
            <a:endParaRPr lang="en-US" sz="1120" dirty="0"/>
          </a:p>
        </p:txBody>
      </p:sp>
      <p:sp>
        <p:nvSpPr>
          <p:cNvPr id="14" name="Text 12"/>
          <p:cNvSpPr/>
          <p:nvPr/>
        </p:nvSpPr>
        <p:spPr>
          <a:xfrm>
            <a:off x="960120" y="2990088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29313A"/>
                </a:solidFill>
              </a:rPr>
              <a:t>• debug shape/type errors</a:t>
            </a:r>
            <a:endParaRPr lang="en-US" sz="1120" dirty="0"/>
          </a:p>
        </p:txBody>
      </p:sp>
      <p:sp>
        <p:nvSpPr>
          <p:cNvPr id="15" name="Text 13"/>
          <p:cNvSpPr/>
          <p:nvPr/>
        </p:nvSpPr>
        <p:spPr>
          <a:xfrm>
            <a:off x="960120" y="3374136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29313A"/>
                </a:solidFill>
              </a:rPr>
              <a:t>• refactor repeated steps</a:t>
            </a:r>
            <a:endParaRPr lang="en-US" sz="1120" dirty="0"/>
          </a:p>
        </p:txBody>
      </p:sp>
      <p:sp>
        <p:nvSpPr>
          <p:cNvPr id="16" name="Text 14"/>
          <p:cNvSpPr/>
          <p:nvPr/>
        </p:nvSpPr>
        <p:spPr>
          <a:xfrm>
            <a:off x="960120" y="3758184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29313A"/>
                </a:solidFill>
              </a:rPr>
              <a:t>• add comments and documentation</a:t>
            </a:r>
            <a:endParaRPr lang="en-US" sz="1120" dirty="0"/>
          </a:p>
        </p:txBody>
      </p:sp>
      <p:sp>
        <p:nvSpPr>
          <p:cNvPr id="17" name="Shape 15"/>
          <p:cNvSpPr/>
          <p:nvPr/>
        </p:nvSpPr>
        <p:spPr>
          <a:xfrm>
            <a:off x="6263640" y="1600200"/>
            <a:ext cx="5257800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D7D9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263640" y="1600200"/>
            <a:ext cx="109728" cy="3383280"/>
          </a:xfrm>
          <a:prstGeom prst="rect">
            <a:avLst/>
          </a:prstGeom>
          <a:solidFill>
            <a:srgbClr val="6E4E9E"/>
          </a:solidFill>
          <a:ln w="12700">
            <a:solidFill>
              <a:srgbClr val="6E4E9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510528" y="18288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7212B"/>
                </a:solidFill>
              </a:rPr>
              <a:t>Must inspect manually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537960" y="2221992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29313A"/>
                </a:solidFill>
              </a:rPr>
              <a:t>• target and feature columns</a:t>
            </a:r>
            <a:endParaRPr lang="en-US" sz="1120" dirty="0"/>
          </a:p>
        </p:txBody>
      </p:sp>
      <p:sp>
        <p:nvSpPr>
          <p:cNvPr id="21" name="Text 19"/>
          <p:cNvSpPr/>
          <p:nvPr/>
        </p:nvSpPr>
        <p:spPr>
          <a:xfrm>
            <a:off x="6537960" y="2606040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29313A"/>
                </a:solidFill>
              </a:rPr>
              <a:t>• train/test split logic</a:t>
            </a:r>
            <a:endParaRPr lang="en-US" sz="1120" dirty="0"/>
          </a:p>
        </p:txBody>
      </p:sp>
      <p:sp>
        <p:nvSpPr>
          <p:cNvPr id="22" name="Text 20"/>
          <p:cNvSpPr/>
          <p:nvPr/>
        </p:nvSpPr>
        <p:spPr>
          <a:xfrm>
            <a:off x="6537960" y="2990088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29313A"/>
                </a:solidFill>
              </a:rPr>
              <a:t>• preprocessing fit only on training data</a:t>
            </a:r>
            <a:endParaRPr lang="en-US" sz="1120" dirty="0"/>
          </a:p>
        </p:txBody>
      </p:sp>
      <p:sp>
        <p:nvSpPr>
          <p:cNvPr id="23" name="Text 21"/>
          <p:cNvSpPr/>
          <p:nvPr/>
        </p:nvSpPr>
        <p:spPr>
          <a:xfrm>
            <a:off x="6537960" y="3374136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29313A"/>
                </a:solidFill>
              </a:rPr>
              <a:t>• metric functions and labels</a:t>
            </a:r>
            <a:endParaRPr lang="en-US" sz="1120" dirty="0"/>
          </a:p>
        </p:txBody>
      </p:sp>
      <p:sp>
        <p:nvSpPr>
          <p:cNvPr id="24" name="Text 22"/>
          <p:cNvSpPr/>
          <p:nvPr/>
        </p:nvSpPr>
        <p:spPr>
          <a:xfrm>
            <a:off x="6537960" y="3758184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29313A"/>
                </a:solidFill>
              </a:rPr>
              <a:t>• random seed and reproducibility</a:t>
            </a:r>
            <a:endParaRPr lang="en-US" sz="1120" dirty="0"/>
          </a:p>
        </p:txBody>
      </p:sp>
      <p:sp>
        <p:nvSpPr>
          <p:cNvPr id="25" name="Text 23"/>
          <p:cNvSpPr/>
          <p:nvPr/>
        </p:nvSpPr>
        <p:spPr>
          <a:xfrm>
            <a:off x="841248" y="5394960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7212B"/>
                </a:solidFill>
              </a:rPr>
              <a:t>The code can run and still be scientifically wrong if the split, target, or feature timing is wrong.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6C74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502920" y="6327648"/>
            <a:ext cx="11155680" cy="0"/>
          </a:xfrm>
          <a:prstGeom prst="line">
            <a:avLst/>
          </a:prstGeom>
          <a:noFill/>
          <a:ln w="8890">
            <a:solidFill>
              <a:srgbClr val="D7D9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644652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CC0000"/>
                </a:solidFill>
              </a:rPr>
              <a:t>DAY 5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828800" y="6446520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C747C"/>
                </a:solidFill>
              </a:rPr>
              <a:t>AI across the ML pipeline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566928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7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Topic 5 prompt: create a reproducible pipeline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21208" y="969264"/>
            <a:ext cx="9875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C747C"/>
                </a:solidFill>
              </a:rPr>
              <a:t>Use prompt templates to turn AI into a structured reviewer—not an unchecked answer generator.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02920" y="1307592"/>
            <a:ext cx="1143000" cy="54864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77240" y="1600200"/>
            <a:ext cx="6583680" cy="4069080"/>
          </a:xfrm>
          <a:prstGeom prst="roundRect">
            <a:avLst>
              <a:gd name="adj" fmla="val 1798"/>
            </a:avLst>
          </a:prstGeom>
          <a:solidFill>
            <a:srgbClr val="FFFFFF"/>
          </a:solidFill>
          <a:ln w="12700">
            <a:solidFill>
              <a:srgbClr val="D7D9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005840" y="1810512"/>
            <a:ext cx="20116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E4E9E"/>
                </a:solidFill>
              </a:rPr>
              <a:t>Prompt template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87552" y="2139696"/>
            <a:ext cx="6080760" cy="3246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29313A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Create a scikit-learn pipeline that: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29313A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- uses a stratified train/test split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29313A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- median-imputes and standardizes numerical variables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29313A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- imputes and one-hot encodes categorical variables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29313A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- fits logistic regression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29313A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- compares against a majority-class baseline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29313A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- reports accuracy, precision, recall, F1, and a confusion matrix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29313A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Use fixed random_state values. Explain each line briefly.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7726680" y="1600200"/>
            <a:ext cx="3611880" cy="4069080"/>
          </a:xfrm>
          <a:prstGeom prst="roundRect">
            <a:avLst>
              <a:gd name="adj" fmla="val 2025"/>
            </a:avLst>
          </a:prstGeom>
          <a:solidFill>
            <a:srgbClr val="F1F4F7"/>
          </a:solidFill>
          <a:ln w="12700">
            <a:solidFill>
              <a:srgbClr val="D7D9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973568" y="221284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9313A"/>
                </a:solidFill>
              </a:rPr>
              <a:t>• verify preprocessing is inside the pipeline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973568" y="262432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9313A"/>
                </a:solidFill>
              </a:rPr>
              <a:t>• do not fit scalers on all data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973568" y="303580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9313A"/>
                </a:solidFill>
              </a:rPr>
              <a:t>• metric direction must match the target class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327648"/>
            <a:ext cx="11155680" cy="0"/>
          </a:xfrm>
          <a:prstGeom prst="line">
            <a:avLst/>
          </a:prstGeom>
          <a:noFill/>
          <a:ln w="8890">
            <a:solidFill>
              <a:srgbClr val="D7D9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644652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CC0000"/>
                </a:solidFill>
              </a:rPr>
              <a:t>TOPIC 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828800" y="6446520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C747C"/>
                </a:solidFill>
              </a:rPr>
              <a:t>AI across the ML pipeline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91695" cy="1481328"/>
          </a:xfrm>
          <a:prstGeom prst="rect">
            <a:avLst/>
          </a:prstGeom>
          <a:solidFill>
            <a:srgbClr val="467A38"/>
          </a:solidFill>
          <a:ln w="12700">
            <a:solidFill>
              <a:srgbClr val="467A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85800" y="38404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</a:rPr>
              <a:t>TOPIC 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85800" y="667512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Evaluation and Error Analysis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704088" y="1078992"/>
            <a:ext cx="10058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5F5F5"/>
                </a:solidFill>
              </a:rPr>
              <a:t>AI can translate metrics into consequences when it is given the actual results and constraints.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85800" y="1600200"/>
            <a:ext cx="5257800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D7D9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85800" y="1600200"/>
            <a:ext cx="109728" cy="3383280"/>
          </a:xfrm>
          <a:prstGeom prst="rect">
            <a:avLst/>
          </a:prstGeom>
          <a:solidFill>
            <a:srgbClr val="467A38"/>
          </a:solidFill>
          <a:ln w="12700">
            <a:solidFill>
              <a:srgbClr val="467A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32688" y="18288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7212B"/>
                </a:solidFill>
              </a:rPr>
              <a:t>Provide evidence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60120" y="2221992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29313A"/>
                </a:solidFill>
              </a:rPr>
              <a:t>• baseline metrics</a:t>
            </a:r>
            <a:endParaRPr lang="en-US" sz="1120" dirty="0"/>
          </a:p>
        </p:txBody>
      </p:sp>
      <p:sp>
        <p:nvSpPr>
          <p:cNvPr id="13" name="Text 11"/>
          <p:cNvSpPr/>
          <p:nvPr/>
        </p:nvSpPr>
        <p:spPr>
          <a:xfrm>
            <a:off x="960120" y="2606040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29313A"/>
                </a:solidFill>
              </a:rPr>
              <a:t>• model metrics</a:t>
            </a:r>
            <a:endParaRPr lang="en-US" sz="1120" dirty="0"/>
          </a:p>
        </p:txBody>
      </p:sp>
      <p:sp>
        <p:nvSpPr>
          <p:cNvPr id="14" name="Text 12"/>
          <p:cNvSpPr/>
          <p:nvPr/>
        </p:nvSpPr>
        <p:spPr>
          <a:xfrm>
            <a:off x="960120" y="2990088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29313A"/>
                </a:solidFill>
              </a:rPr>
              <a:t>• confusion matrix</a:t>
            </a:r>
            <a:endParaRPr lang="en-US" sz="1120" dirty="0"/>
          </a:p>
        </p:txBody>
      </p:sp>
      <p:sp>
        <p:nvSpPr>
          <p:cNvPr id="15" name="Text 13"/>
          <p:cNvSpPr/>
          <p:nvPr/>
        </p:nvSpPr>
        <p:spPr>
          <a:xfrm>
            <a:off x="960120" y="3374136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29313A"/>
                </a:solidFill>
              </a:rPr>
              <a:t>• class distribution</a:t>
            </a:r>
            <a:endParaRPr lang="en-US" sz="1120" dirty="0"/>
          </a:p>
        </p:txBody>
      </p:sp>
      <p:sp>
        <p:nvSpPr>
          <p:cNvPr id="16" name="Text 14"/>
          <p:cNvSpPr/>
          <p:nvPr/>
        </p:nvSpPr>
        <p:spPr>
          <a:xfrm>
            <a:off x="960120" y="3758184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29313A"/>
                </a:solidFill>
              </a:rPr>
              <a:t>• primary error consequence</a:t>
            </a:r>
            <a:endParaRPr lang="en-US" sz="1120" dirty="0"/>
          </a:p>
        </p:txBody>
      </p:sp>
      <p:sp>
        <p:nvSpPr>
          <p:cNvPr id="17" name="Text 15"/>
          <p:cNvSpPr/>
          <p:nvPr/>
        </p:nvSpPr>
        <p:spPr>
          <a:xfrm>
            <a:off x="960120" y="4142232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29313A"/>
                </a:solidFill>
              </a:rPr>
              <a:t>• known limitations</a:t>
            </a:r>
            <a:endParaRPr lang="en-US" sz="1120" dirty="0"/>
          </a:p>
        </p:txBody>
      </p:sp>
      <p:sp>
        <p:nvSpPr>
          <p:cNvPr id="18" name="Shape 16"/>
          <p:cNvSpPr/>
          <p:nvPr/>
        </p:nvSpPr>
        <p:spPr>
          <a:xfrm>
            <a:off x="6263640" y="1600200"/>
            <a:ext cx="5257800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D7D9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263640" y="1600200"/>
            <a:ext cx="109728" cy="3383280"/>
          </a:xfrm>
          <a:prstGeom prst="rect">
            <a:avLst/>
          </a:prstGeom>
          <a:solidFill>
            <a:srgbClr val="467A38"/>
          </a:solidFill>
          <a:ln w="12700">
            <a:solidFill>
              <a:srgbClr val="467A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510528" y="18288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7212B"/>
                </a:solidFill>
              </a:rPr>
              <a:t>Ask for disciplined interpretation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537960" y="2221992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29313A"/>
                </a:solidFill>
              </a:rPr>
              <a:t>• direct evidence</a:t>
            </a:r>
            <a:endParaRPr lang="en-US" sz="1120" dirty="0"/>
          </a:p>
        </p:txBody>
      </p:sp>
      <p:sp>
        <p:nvSpPr>
          <p:cNvPr id="22" name="Text 20"/>
          <p:cNvSpPr/>
          <p:nvPr/>
        </p:nvSpPr>
        <p:spPr>
          <a:xfrm>
            <a:off x="6537960" y="2606040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29313A"/>
                </a:solidFill>
              </a:rPr>
              <a:t>• reasonable interpretation</a:t>
            </a:r>
            <a:endParaRPr lang="en-US" sz="1120" dirty="0"/>
          </a:p>
        </p:txBody>
      </p:sp>
      <p:sp>
        <p:nvSpPr>
          <p:cNvPr id="23" name="Text 21"/>
          <p:cNvSpPr/>
          <p:nvPr/>
        </p:nvSpPr>
        <p:spPr>
          <a:xfrm>
            <a:off x="6537960" y="2990088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29313A"/>
                </a:solidFill>
              </a:rPr>
              <a:t>• unsupported claims</a:t>
            </a:r>
            <a:endParaRPr lang="en-US" sz="1120" dirty="0"/>
          </a:p>
        </p:txBody>
      </p:sp>
      <p:sp>
        <p:nvSpPr>
          <p:cNvPr id="24" name="Text 22"/>
          <p:cNvSpPr/>
          <p:nvPr/>
        </p:nvSpPr>
        <p:spPr>
          <a:xfrm>
            <a:off x="6537960" y="3374136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29313A"/>
                </a:solidFill>
              </a:rPr>
              <a:t>• most serious error</a:t>
            </a:r>
            <a:endParaRPr lang="en-US" sz="1120" dirty="0"/>
          </a:p>
        </p:txBody>
      </p:sp>
      <p:sp>
        <p:nvSpPr>
          <p:cNvPr id="25" name="Text 23"/>
          <p:cNvSpPr/>
          <p:nvPr/>
        </p:nvSpPr>
        <p:spPr>
          <a:xfrm>
            <a:off x="6537960" y="3758184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29313A"/>
                </a:solidFill>
              </a:rPr>
              <a:t>• recommended next analysis</a:t>
            </a:r>
            <a:endParaRPr lang="en-US" sz="1120" dirty="0"/>
          </a:p>
        </p:txBody>
      </p:sp>
      <p:sp>
        <p:nvSpPr>
          <p:cNvPr id="26" name="Shape 24"/>
          <p:cNvSpPr/>
          <p:nvPr/>
        </p:nvSpPr>
        <p:spPr>
          <a:xfrm>
            <a:off x="777240" y="5285232"/>
            <a:ext cx="10652760" cy="438912"/>
          </a:xfrm>
          <a:prstGeom prst="roundRect">
            <a:avLst>
              <a:gd name="adj" fmla="val 12500"/>
            </a:avLst>
          </a:prstGeom>
          <a:solidFill>
            <a:srgbClr val="EEF7EC"/>
          </a:solidFill>
          <a:ln w="12700">
            <a:solidFill>
              <a:srgbClr val="C8DE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987552" y="5422392"/>
            <a:ext cx="9875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7212B"/>
                </a:solidFill>
              </a:rPr>
              <a:t>AI should help answer: “What does this result support, and what should we avoid claiming?”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6C74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502920" y="6327648"/>
            <a:ext cx="11155680" cy="0"/>
          </a:xfrm>
          <a:prstGeom prst="line">
            <a:avLst/>
          </a:prstGeom>
          <a:noFill/>
          <a:ln w="8890">
            <a:solidFill>
              <a:srgbClr val="D7D9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644652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CC0000"/>
                </a:solidFill>
              </a:rPr>
              <a:t>DAY 5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828800" y="6446520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C747C"/>
                </a:solidFill>
              </a:rPr>
              <a:t>AI across the ML pipeline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566928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7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Topic 6 prompt: interpret results without overclaiming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21208" y="969264"/>
            <a:ext cx="9875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C747C"/>
                </a:solidFill>
              </a:rPr>
              <a:t>Use prompt templates to turn AI into a structured reviewer—not an unchecked answer generator.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02920" y="1307592"/>
            <a:ext cx="1143000" cy="54864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77240" y="1600200"/>
            <a:ext cx="6583680" cy="4069080"/>
          </a:xfrm>
          <a:prstGeom prst="roundRect">
            <a:avLst>
              <a:gd name="adj" fmla="val 1798"/>
            </a:avLst>
          </a:prstGeom>
          <a:solidFill>
            <a:srgbClr val="FFFFFF"/>
          </a:solidFill>
          <a:ln w="12700">
            <a:solidFill>
              <a:srgbClr val="D7D9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005840" y="1810512"/>
            <a:ext cx="20116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67A38"/>
                </a:solidFill>
              </a:rPr>
              <a:t>Prompt template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87552" y="2139696"/>
            <a:ext cx="6080760" cy="3246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29313A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Interpret these results for a process engineer. Separate direct evidence, reasonable interpretation, and unsupported conclusions.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29313A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Baseline: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29313A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Accuracy = 0.80, Recall = 0.00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29313A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Model: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29313A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Accuracy = 0.86, Precision = 1.00, Recall = 0.27, F1 = 0.43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29313A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Confusion matrix: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29313A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TN = 44, FP = 0, FN = 8, TP = 3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29313A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Missed defects are more costly than false alarms.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7726680" y="1600200"/>
            <a:ext cx="3611880" cy="4069080"/>
          </a:xfrm>
          <a:prstGeom prst="roundRect">
            <a:avLst>
              <a:gd name="adj" fmla="val 2025"/>
            </a:avLst>
          </a:prstGeom>
          <a:solidFill>
            <a:srgbClr val="F1F4F7"/>
          </a:solidFill>
          <a:ln w="12700">
            <a:solidFill>
              <a:srgbClr val="D7D9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973568" y="221284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9313A"/>
                </a:solidFill>
              </a:rPr>
              <a:t>• look for causal overclaims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973568" y="262432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9313A"/>
                </a:solidFill>
              </a:rPr>
              <a:t>• ensure recall is emphasized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973568" y="303580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9313A"/>
                </a:solidFill>
              </a:rPr>
              <a:t>• ask for next analysis, not deployment approval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327648"/>
            <a:ext cx="11155680" cy="0"/>
          </a:xfrm>
          <a:prstGeom prst="line">
            <a:avLst/>
          </a:prstGeom>
          <a:noFill/>
          <a:ln w="8890">
            <a:solidFill>
              <a:srgbClr val="D7D9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644652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CC0000"/>
                </a:solidFill>
              </a:rPr>
              <a:t>TOPIC 7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828800" y="6446520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C747C"/>
                </a:solidFill>
              </a:rPr>
              <a:t>AI across the ML pipeline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91695" cy="1481328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85800" y="38404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</a:rPr>
              <a:t>TOPIC 7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85800" y="667512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Audience-Specific Communication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704088" y="1078992"/>
            <a:ext cx="10058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5F5F5"/>
                </a:solidFill>
              </a:rPr>
              <a:t>AI can translate the same evidence for researchers, managers, students, and reports.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85800" y="1600200"/>
            <a:ext cx="5257800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D7D9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85800" y="1600200"/>
            <a:ext cx="109728" cy="338328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32688" y="18288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7212B"/>
                </a:solidFill>
              </a:rPr>
              <a:t>Potential outputs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60120" y="2221992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29313A"/>
                </a:solidFill>
              </a:rPr>
              <a:t>• technical interpretation</a:t>
            </a:r>
            <a:endParaRPr lang="en-US" sz="1120" dirty="0"/>
          </a:p>
        </p:txBody>
      </p:sp>
      <p:sp>
        <p:nvSpPr>
          <p:cNvPr id="13" name="Text 11"/>
          <p:cNvSpPr/>
          <p:nvPr/>
        </p:nvSpPr>
        <p:spPr>
          <a:xfrm>
            <a:off x="960120" y="2606040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29313A"/>
                </a:solidFill>
              </a:rPr>
              <a:t>• manager summary</a:t>
            </a:r>
            <a:endParaRPr lang="en-US" sz="1120" dirty="0"/>
          </a:p>
        </p:txBody>
      </p:sp>
      <p:sp>
        <p:nvSpPr>
          <p:cNvPr id="14" name="Text 12"/>
          <p:cNvSpPr/>
          <p:nvPr/>
        </p:nvSpPr>
        <p:spPr>
          <a:xfrm>
            <a:off x="960120" y="2990088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29313A"/>
                </a:solidFill>
              </a:rPr>
              <a:t>• student explanation</a:t>
            </a:r>
            <a:endParaRPr lang="en-US" sz="1120" dirty="0"/>
          </a:p>
        </p:txBody>
      </p:sp>
      <p:sp>
        <p:nvSpPr>
          <p:cNvPr id="15" name="Text 13"/>
          <p:cNvSpPr/>
          <p:nvPr/>
        </p:nvSpPr>
        <p:spPr>
          <a:xfrm>
            <a:off x="960120" y="3374136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29313A"/>
                </a:solidFill>
              </a:rPr>
              <a:t>• model-card paragraph</a:t>
            </a:r>
            <a:endParaRPr lang="en-US" sz="1120" dirty="0"/>
          </a:p>
        </p:txBody>
      </p:sp>
      <p:sp>
        <p:nvSpPr>
          <p:cNvPr id="16" name="Text 14"/>
          <p:cNvSpPr/>
          <p:nvPr/>
        </p:nvSpPr>
        <p:spPr>
          <a:xfrm>
            <a:off x="960120" y="3758184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29313A"/>
                </a:solidFill>
              </a:rPr>
              <a:t>• limitation statement</a:t>
            </a:r>
            <a:endParaRPr lang="en-US" sz="1120" dirty="0"/>
          </a:p>
        </p:txBody>
      </p:sp>
      <p:sp>
        <p:nvSpPr>
          <p:cNvPr id="17" name="Text 15"/>
          <p:cNvSpPr/>
          <p:nvPr/>
        </p:nvSpPr>
        <p:spPr>
          <a:xfrm>
            <a:off x="960120" y="4142232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29313A"/>
                </a:solidFill>
              </a:rPr>
              <a:t>• next-step recommendation</a:t>
            </a:r>
            <a:endParaRPr lang="en-US" sz="1120" dirty="0"/>
          </a:p>
        </p:txBody>
      </p:sp>
      <p:sp>
        <p:nvSpPr>
          <p:cNvPr id="18" name="Shape 16"/>
          <p:cNvSpPr/>
          <p:nvPr/>
        </p:nvSpPr>
        <p:spPr>
          <a:xfrm>
            <a:off x="6263640" y="1600200"/>
            <a:ext cx="5257800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D7D9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263640" y="1600200"/>
            <a:ext cx="109728" cy="338328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510528" y="18288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7212B"/>
                </a:solidFill>
              </a:rPr>
              <a:t>Rules for communication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537960" y="2221992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29313A"/>
                </a:solidFill>
              </a:rPr>
              <a:t>• use only supplied evidence</a:t>
            </a:r>
            <a:endParaRPr lang="en-US" sz="1120" dirty="0"/>
          </a:p>
        </p:txBody>
      </p:sp>
      <p:sp>
        <p:nvSpPr>
          <p:cNvPr id="22" name="Text 20"/>
          <p:cNvSpPr/>
          <p:nvPr/>
        </p:nvSpPr>
        <p:spPr>
          <a:xfrm>
            <a:off x="6537960" y="2606040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29313A"/>
                </a:solidFill>
              </a:rPr>
              <a:t>• state uncertainty clearly</a:t>
            </a:r>
            <a:endParaRPr lang="en-US" sz="1120" dirty="0"/>
          </a:p>
        </p:txBody>
      </p:sp>
      <p:sp>
        <p:nvSpPr>
          <p:cNvPr id="23" name="Text 21"/>
          <p:cNvSpPr/>
          <p:nvPr/>
        </p:nvSpPr>
        <p:spPr>
          <a:xfrm>
            <a:off x="6537960" y="2990088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29313A"/>
                </a:solidFill>
              </a:rPr>
              <a:t>• avoid causal language</a:t>
            </a:r>
            <a:endParaRPr lang="en-US" sz="1120" dirty="0"/>
          </a:p>
        </p:txBody>
      </p:sp>
      <p:sp>
        <p:nvSpPr>
          <p:cNvPr id="24" name="Text 22"/>
          <p:cNvSpPr/>
          <p:nvPr/>
        </p:nvSpPr>
        <p:spPr>
          <a:xfrm>
            <a:off x="6537960" y="3374136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29313A"/>
                </a:solidFill>
              </a:rPr>
              <a:t>• match audience and decision context</a:t>
            </a:r>
            <a:endParaRPr lang="en-US" sz="1120" dirty="0"/>
          </a:p>
        </p:txBody>
      </p:sp>
      <p:sp>
        <p:nvSpPr>
          <p:cNvPr id="25" name="Text 23"/>
          <p:cNvSpPr/>
          <p:nvPr/>
        </p:nvSpPr>
        <p:spPr>
          <a:xfrm>
            <a:off x="6537960" y="3758184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29313A"/>
                </a:solidFill>
              </a:rPr>
              <a:t>• separate model output from action</a:t>
            </a:r>
            <a:endParaRPr lang="en-US" sz="1120" dirty="0"/>
          </a:p>
        </p:txBody>
      </p:sp>
      <p:sp>
        <p:nvSpPr>
          <p:cNvPr id="26" name="Text 24"/>
          <p:cNvSpPr/>
          <p:nvPr/>
        </p:nvSpPr>
        <p:spPr>
          <a:xfrm>
            <a:off x="841248" y="53949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7212B"/>
                </a:solidFill>
              </a:rPr>
              <a:t>Generative AI is most useful after the analysis produces evidence; it organizes and explains, but should not create new evidence.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6C74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502920" y="6327648"/>
            <a:ext cx="11155680" cy="0"/>
          </a:xfrm>
          <a:prstGeom prst="line">
            <a:avLst/>
          </a:prstGeom>
          <a:noFill/>
          <a:ln w="8890">
            <a:solidFill>
              <a:srgbClr val="D7D9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644652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CC0000"/>
                </a:solidFill>
              </a:rPr>
              <a:t>DAY 5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828800" y="6446520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C747C"/>
                </a:solidFill>
              </a:rPr>
              <a:t>AI across the ML pipeline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566928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7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Topic 7 prompt: adapt the explanation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21208" y="969264"/>
            <a:ext cx="9875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C747C"/>
                </a:solidFill>
              </a:rPr>
              <a:t>Use prompt templates to turn AI into a structured reviewer—not an unchecked answer generator.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02920" y="1307592"/>
            <a:ext cx="1143000" cy="54864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77240" y="1600200"/>
            <a:ext cx="6583680" cy="4069080"/>
          </a:xfrm>
          <a:prstGeom prst="roundRect">
            <a:avLst>
              <a:gd name="adj" fmla="val 1798"/>
            </a:avLst>
          </a:prstGeom>
          <a:solidFill>
            <a:srgbClr val="FFFFFF"/>
          </a:solidFill>
          <a:ln w="12700">
            <a:solidFill>
              <a:srgbClr val="D7D9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005840" y="1810512"/>
            <a:ext cx="20116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7212B"/>
                </a:solidFill>
              </a:rPr>
              <a:t>Prompt template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87552" y="2139696"/>
            <a:ext cx="6080760" cy="3246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29313A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Using only the supplied model results and limitations, create three versions of the interpretation: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29313A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1. technical explanation for a researcher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29313A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2. two-sentence summary for a lab manager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29313A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3. simple explanation for students new to ML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29313A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Each version must include the main limitation and avoid claiming causality.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7726680" y="1600200"/>
            <a:ext cx="3611880" cy="4069080"/>
          </a:xfrm>
          <a:prstGeom prst="roundRect">
            <a:avLst>
              <a:gd name="adj" fmla="val 2025"/>
            </a:avLst>
          </a:prstGeom>
          <a:solidFill>
            <a:srgbClr val="F1F4F7"/>
          </a:solidFill>
          <a:ln w="12700">
            <a:solidFill>
              <a:srgbClr val="D7D9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973568" y="221284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9313A"/>
                </a:solidFill>
              </a:rPr>
              <a:t>• audience changes wording, not evidence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973568" y="262432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9313A"/>
                </a:solidFill>
              </a:rPr>
              <a:t>• AI can make unsupported claims sound polished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973568" y="303580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9313A"/>
                </a:solidFill>
              </a:rPr>
              <a:t>• require one “do not claim” statement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6C74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502920" y="6327648"/>
            <a:ext cx="11155680" cy="0"/>
          </a:xfrm>
          <a:prstGeom prst="line">
            <a:avLst/>
          </a:prstGeom>
          <a:noFill/>
          <a:ln w="8890">
            <a:solidFill>
              <a:srgbClr val="D7D9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644652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CC0000"/>
                </a:solidFill>
              </a:rPr>
              <a:t>DAY 5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828800" y="6446520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C747C"/>
                </a:solidFill>
              </a:rPr>
              <a:t>AI across the ML pipeline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566928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7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Takeaways: AI is an accelerator, not a substitute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21208" y="969264"/>
            <a:ext cx="9875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C747C"/>
                </a:solidFill>
              </a:rPr>
              <a:t>The researcher remains responsible for the data, assumptions, evaluation, and conclusions.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02920" y="1307592"/>
            <a:ext cx="1143000" cy="54864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868680" y="1828800"/>
            <a:ext cx="237744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7780">
            <a:solidFill>
              <a:srgbClr val="3266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069848" y="2103120"/>
            <a:ext cx="1975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266A8"/>
                </a:solidFill>
              </a:rPr>
              <a:t>AI accelerates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06424" y="2670048"/>
            <a:ext cx="187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29313A"/>
                </a:solidFill>
              </a:rPr>
              <a:t>framing, code drafting, summarization, and documentation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371600" y="3502152"/>
            <a:ext cx="1371600" cy="0"/>
          </a:xfrm>
          <a:prstGeom prst="line">
            <a:avLst/>
          </a:prstGeom>
          <a:noFill/>
          <a:ln w="15240">
            <a:solidFill>
              <a:srgbClr val="D7D9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657600" y="1828800"/>
            <a:ext cx="237744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7780">
            <a:solidFill>
              <a:srgbClr val="247C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858768" y="2103120"/>
            <a:ext cx="1975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47C7A"/>
                </a:solidFill>
              </a:rPr>
              <a:t>AI needs evidence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895344" y="2670048"/>
            <a:ext cx="187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29313A"/>
                </a:solidFill>
              </a:rPr>
              <a:t>metrics, tables, plots, definitions, and limitations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160520" y="3502152"/>
            <a:ext cx="1371600" cy="0"/>
          </a:xfrm>
          <a:prstGeom prst="line">
            <a:avLst/>
          </a:prstGeom>
          <a:noFill/>
          <a:ln w="15240">
            <a:solidFill>
              <a:srgbClr val="D7D9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446520" y="1828800"/>
            <a:ext cx="237744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7780">
            <a:solidFill>
              <a:srgbClr val="D07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647688" y="2103120"/>
            <a:ext cx="1975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07B2A"/>
                </a:solidFill>
              </a:rPr>
              <a:t>AI must be audited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684264" y="2670048"/>
            <a:ext cx="187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29313A"/>
                </a:solidFill>
              </a:rPr>
              <a:t>unsupported claims, leakage, and causal language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949440" y="3502152"/>
            <a:ext cx="1371600" cy="0"/>
          </a:xfrm>
          <a:prstGeom prst="line">
            <a:avLst/>
          </a:prstGeom>
          <a:noFill/>
          <a:ln w="15240">
            <a:solidFill>
              <a:srgbClr val="D7D9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9235440" y="1828800"/>
            <a:ext cx="237744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778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9436608" y="2103120"/>
            <a:ext cx="1975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C0000"/>
                </a:solidFill>
              </a:rPr>
              <a:t>Humans decide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473184" y="2670048"/>
            <a:ext cx="187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29313A"/>
                </a:solidFill>
              </a:rPr>
              <a:t>validity, context, action, risk, and ethics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738360" y="3502152"/>
            <a:ext cx="1371600" cy="0"/>
          </a:xfrm>
          <a:prstGeom prst="line">
            <a:avLst/>
          </a:prstGeom>
          <a:noFill/>
          <a:ln w="15240">
            <a:solidFill>
              <a:srgbClr val="D7D9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1234440" y="4572000"/>
            <a:ext cx="96926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7D9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1572768" y="4800600"/>
            <a:ext cx="9052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7212B"/>
                </a:solidFill>
              </a:rPr>
              <a:t>Final message: AI can accelerate every stage of the ML workflow, but trustworthy use depends on human-validated evidence and clear boundaries.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1891</Words>
  <Application>Microsoft Office PowerPoint</Application>
  <PresentationFormat>Widescreen</PresentationFormat>
  <Paragraphs>333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Aptos</vt:lpstr>
      <vt:lpstr>Aptos Display</vt:lpstr>
      <vt:lpstr>Aptos Mono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NC State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Across the Full ML Pipeline</dc:title>
  <dc:subject>Day 5 Applied AI Systems</dc:subject>
  <dc:creator>Fred Livingston</dc:creator>
  <cp:lastModifiedBy>Fred Livingston</cp:lastModifiedBy>
  <cp:revision>4</cp:revision>
  <dcterms:created xsi:type="dcterms:W3CDTF">2026-07-17T05:59:09Z</dcterms:created>
  <dcterms:modified xsi:type="dcterms:W3CDTF">2026-07-17T15:31:34Z</dcterms:modified>
</cp:coreProperties>
</file>