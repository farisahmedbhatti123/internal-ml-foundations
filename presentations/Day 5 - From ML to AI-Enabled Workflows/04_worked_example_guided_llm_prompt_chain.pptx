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00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8F3784AA-2818-E7AF-6E6A-BD6117BEBC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2520" y="93817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</a:rPr>
              <a:t>APPLIED AI DESIGN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182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DAY 5 · Worked Example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84632"/>
            <a:ext cx="113842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85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</a:rPr>
              <a:t>DAY 5 · WORKED EXAMPLE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F1F1F"/>
                </a:solidFill>
              </a:rPr>
              <a:t>Worked Example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5C5C"/>
                </a:solidFill>
              </a:rPr>
              <a:t>Guided LLM prompt chain to recreate a full machine-learning notebook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2423160"/>
            <a:ext cx="48463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</a:rPr>
              <a:t>Example dataset: classification_workshop.csv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</a:rPr>
              <a:t>Task: defect prediction from process measurements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3246120"/>
            <a:ext cx="5577840" cy="640080"/>
          </a:xfrm>
          <a:prstGeom prst="rect">
            <a:avLst/>
          </a:prstGeom>
          <a:solidFill>
            <a:srgbClr val="F6F6F6"/>
          </a:solidFill>
          <a:ln>
            <a:solidFill>
              <a:srgbClr val="DDDDDD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1F1F"/>
                </a:solidFill>
              </a:rPr>
              <a:t>Participants see the complete path: prompts → notebook sections → code → metrics → model card → human audit.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8368" y="4983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C0000"/>
                </a:solidFill>
              </a:rPr>
              <a:t>Evidence → Prompt → Notebook → Results → Model card → Human validation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</a:rPr>
              <a:t>APPLIED AI DESIGN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182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DAY 5 · Worked Example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84632"/>
            <a:ext cx="113842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1F"/>
                </a:solidFill>
              </a:rPr>
              <a:t>Worked example overview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9875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C5C5C"/>
                </a:solidFill>
              </a:rPr>
              <a:t>What participants will produce by the end of the prompt-chain demonstration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2918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INPUT FILE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709928"/>
            <a:ext cx="3291840" cy="987552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40" dirty="0">
                <a:solidFill>
                  <a:srgbClr val="1F1F1F"/>
                </a:solidFill>
              </a:rPr>
              <a:t>classification_workshop.csv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1F1F"/>
                </a:solidFill>
              </a:rPr>
              <a:t>220 process runs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1F1F"/>
                </a:solidFill>
              </a:rPr>
              <a:t>Inputs: temperature, pressure, speed, vibration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1F1F"/>
                </a:solidFill>
              </a:rPr>
              <a:t>Target: defect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4434840" y="1417320"/>
            <a:ext cx="32918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LLM TASK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34840" y="1709928"/>
            <a:ext cx="3291840" cy="987552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40" dirty="0">
                <a:solidFill>
                  <a:srgbClr val="1F1F1F"/>
                </a:solidFill>
              </a:rPr>
              <a:t>Generate notebook-ready markdown and code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1F1F"/>
                </a:solidFill>
              </a:rPr>
              <a:t>Use exact column names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1F1F"/>
                </a:solidFill>
              </a:rPr>
              <a:t>Include checks after each section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8229600" y="1417320"/>
            <a:ext cx="32918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HUMAN ROLE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0" y="1709928"/>
            <a:ext cx="3291840" cy="987552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40" dirty="0">
                <a:solidFill>
                  <a:srgbClr val="1F1F1F"/>
                </a:solidFill>
              </a:rPr>
              <a:t>Approve target and unit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1F1F"/>
                </a:solidFill>
              </a:rPr>
              <a:t>Audit leakage and metrics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1F1F"/>
                </a:solidFill>
              </a:rPr>
              <a:t>Reject causal or deployment claims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658368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Final product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53035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</a:rPr>
              <a:t>A runnable Jupyter notebook scaffold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</a:rPr>
              <a:t>Prompt-response log for each step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</a:rPr>
              <a:t>Baseline and logistic-regression comparison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</a:rPr>
              <a:t>Confusion matrix and metric interpretation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</a:rPr>
              <a:t>Initial model card with limits and next step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3429000"/>
            <a:ext cx="45720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SUCCESS CRITERION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0" y="3721608"/>
            <a:ext cx="4572000" cy="1353312"/>
          </a:xfrm>
          <a:prstGeom prst="rect">
            <a:avLst/>
          </a:prstGeom>
          <a:solidFill>
            <a:srgbClr val="FFF7F7"/>
          </a:solidFill>
          <a:ln>
            <a:solidFill>
              <a:srgbClr val="E4B8B8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</a:rPr>
              <a:t>The notebook should not just run. You must be able to defend every modeling choice, every metric, and every conclusion.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</a:rPr>
              <a:t>APPLIED AI DESIGN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182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DAY 5 · Worked Example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84632"/>
            <a:ext cx="113842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1F"/>
                </a:solidFill>
              </a:rPr>
              <a:t>Prompt-chain map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9875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C5C5C"/>
                </a:solidFill>
              </a:rPr>
              <a:t>Seven short prompts replace one vague request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15568" cy="658368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Guardrails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75104" y="1691640"/>
            <a:ext cx="1115568" cy="658368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Frame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01568" y="1691640"/>
            <a:ext cx="1115568" cy="658368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Audit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691640"/>
            <a:ext cx="1115568" cy="658368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Leakage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54496" y="1691640"/>
            <a:ext cx="1115568" cy="658368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Features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0" y="1691640"/>
            <a:ext cx="1115568" cy="658368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Pipeline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07424" y="1691640"/>
            <a:ext cx="1115568" cy="658368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Evaluate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33888" y="1691640"/>
            <a:ext cx="1115568" cy="658368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7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</a:rPr>
              <a:t>Model card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063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</a:rPr>
              <a:t>For each step, you collect three things: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" y="3493008"/>
            <a:ext cx="5303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</a:rPr>
              <a:t>The exact prompt used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</a:rPr>
              <a:t>The LLM-generated notebook section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</a:rPr>
              <a:t>A human audit note: accept, revise, or reject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063240"/>
            <a:ext cx="48463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TEACHING POINT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355848"/>
            <a:ext cx="4846320" cy="1307592"/>
          </a:xfrm>
          <a:prstGeom prst="rect">
            <a:avLst/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</a:rPr>
              <a:t>Prompt chaining makes AI output inspectable. Each stage can be corrected before errors propagate into the final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</a:rPr>
              <a:t>APPLIED AI DESIGN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182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DAY 5 · Worked Example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84632"/>
            <a:ext cx="113842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1F"/>
                </a:solidFill>
              </a:rPr>
              <a:t>Prompt 0 — Establish role and guardrails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9875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C5C5C"/>
                </a:solidFill>
              </a:rPr>
              <a:t>Worked setup prompt used before generating any notebook code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</a:rPr>
              <a:t>COPY-PASTE PROMPT 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5394960" cy="3977640"/>
          </a:xfrm>
          <a:prstGeom prst="rect">
            <a:avLst/>
          </a:prstGeom>
          <a:solidFill>
            <a:srgbClr val="F6F6F6"/>
          </a:solidFill>
          <a:ln>
            <a:solidFill>
              <a:srgbClr val="DFDFD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You are helping create a Jupyter notebook for an applied AI workshop.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Python, pandas, matplotlib/seaborn, and scikit-learn.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short markdown explanations and executable code cells.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 not invent dataset columns.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 not claim causality from prediction results.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 not remove outliers without a documented domain-based rule.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Preprocessing must be fitted only on training data.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Add one human-verification question after each section.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WORKED RESPONSE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1709928"/>
            <a:ext cx="4754880" cy="850392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The LLM acknowledges constraints and asks for dataset name and column list before writing code.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4754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HUMAN AUDIT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92240" y="3081528"/>
            <a:ext cx="4754880" cy="987552"/>
          </a:xfrm>
          <a:prstGeom prst="rect">
            <a:avLst/>
          </a:prstGeom>
          <a:solidFill>
            <a:srgbClr val="FFF7F7"/>
          </a:solidFill>
          <a:ln>
            <a:solidFill>
              <a:srgbClr val="E4B8B8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Good response: asks for actual columns.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Bad response: immediately invents variables, deployment claims, or code using unknown column names.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4343400"/>
            <a:ext cx="4754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B3F"/>
                </a:solidFill>
              </a:rPr>
              <a:t>CHECKPOINT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4636008"/>
            <a:ext cx="4754880" cy="667512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</a:rPr>
              <a:t>Do not continue until the dataset name and exact columns are provided.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</a:rPr>
              <a:t>APPLIED AI DESIGN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182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DAY 5 · Worked Example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84632"/>
            <a:ext cx="113842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1F"/>
                </a:solidFill>
              </a:rPr>
              <a:t>Prompt 1 — Problem framing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9875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C5C5C"/>
                </a:solidFill>
              </a:rPr>
              <a:t>Worked output for classification_workshop.csv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</a:rPr>
              <a:t>PROMPT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527048"/>
            <a:ext cx="4754880" cy="2194560"/>
          </a:xfrm>
          <a:prstGeom prst="rect">
            <a:avLst/>
          </a:prstGeom>
          <a:solidFill>
            <a:srgbClr val="F6F6F6"/>
          </a:solidFill>
          <a:ln>
            <a:solidFill>
              <a:srgbClr val="DFDFD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Dataset: classification_workshop.csv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Columns: temperature_c, pressure_kpa,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speed_mm_s, vibration_mm_s, defect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notebook-ready markdown and code that identify: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unit of observation, inputs, target,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 task, baseline, and metric.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7784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Worked framing 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664208"/>
            <a:ext cx="1417320" cy="352697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1F1F1F"/>
                </a:solidFill>
              </a:rPr>
              <a:t>Element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6995160" y="1664208"/>
            <a:ext cx="4572000" cy="352697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1F1F1F"/>
                </a:solidFill>
              </a:rPr>
              <a:t>Worked example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5577840" y="2016905"/>
            <a:ext cx="1417320" cy="352697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1F1F"/>
                </a:solidFill>
              </a:rPr>
              <a:t>Unit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6995160" y="2016905"/>
            <a:ext cx="4572000" cy="352697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1F1F"/>
                </a:solidFill>
              </a:rPr>
              <a:t>One process run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5577840" y="2369602"/>
            <a:ext cx="1417320" cy="352697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1F1F"/>
                </a:solidFill>
              </a:rPr>
              <a:t>Inputs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6995160" y="2369602"/>
            <a:ext cx="4572000" cy="352697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1F1F"/>
                </a:solidFill>
              </a:rPr>
              <a:t>temperature, pressure, speed, vibration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5577840" y="2722299"/>
            <a:ext cx="1417320" cy="352697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1F1F"/>
                </a:solidFill>
              </a:rPr>
              <a:t>Target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6995160" y="2722299"/>
            <a:ext cx="4572000" cy="352697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1F1F"/>
                </a:solidFill>
              </a:rPr>
              <a:t>defect: 0 = acceptable, 1 = defective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5577840" y="3074997"/>
            <a:ext cx="1417320" cy="352697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1F1F"/>
                </a:solidFill>
              </a:rPr>
              <a:t>Task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6995160" y="3074997"/>
            <a:ext cx="4572000" cy="352697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1F1F"/>
                </a:solidFill>
              </a:rPr>
              <a:t>Binary classification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5577840" y="3427694"/>
            <a:ext cx="1417320" cy="352697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1F1F"/>
                </a:solidFill>
              </a:rPr>
              <a:t>Baseline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6995160" y="3427694"/>
            <a:ext cx="4572000" cy="352697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1F1F"/>
                </a:solidFill>
              </a:rPr>
              <a:t>Predict majority class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5577840" y="3780391"/>
            <a:ext cx="1417320" cy="352697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1F1F"/>
                </a:solidFill>
              </a:rPr>
              <a:t>Metric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6995160" y="3780391"/>
            <a:ext cx="4572000" cy="352697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1F1F"/>
                </a:solidFill>
              </a:rPr>
              <a:t>Recall/F1, not accuracy alone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594360" y="4160520"/>
            <a:ext cx="4754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HUMAN CHECK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453128"/>
            <a:ext cx="4754880" cy="621792"/>
          </a:xfrm>
          <a:prstGeom prst="rect">
            <a:avLst/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Are all inputs available before final inspection? Is “defect” defined consistently?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4434840"/>
            <a:ext cx="59893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B3F"/>
                </a:solidFill>
              </a:rPr>
              <a:t>APPROVED OUTPUT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77840" y="4727448"/>
            <a:ext cx="5989320" cy="576072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Using process measurements, predict whether one run produces a defect; compare to majority baseline and prioritize defect recall.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</a:rPr>
              <a:t>APPLIED AI DESIGN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182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DAY 5 · Worked Example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84632"/>
            <a:ext cx="113842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1F"/>
                </a:solidFill>
              </a:rPr>
              <a:t>Prompt 2 — Data audit and visualization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9875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C5C5C"/>
                </a:solidFill>
              </a:rPr>
              <a:t>Worked audit values become evidence for later prompts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</a:rPr>
              <a:t>PROMPT 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4663440" cy="1920240"/>
          </a:xfrm>
          <a:prstGeom prst="rect">
            <a:avLst/>
          </a:prstGeom>
          <a:solidFill>
            <a:srgbClr val="F6F6F6"/>
          </a:solidFill>
          <a:ln>
            <a:solidFill>
              <a:srgbClr val="DFDFD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Generate notebook cells to load the CSV and report: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df.head(), df.shape, df.dtypes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missing values and duplicates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target class balance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summary statistics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count plot and process-variable plots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321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Worked audit output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783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5C5C"/>
                </a:solidFill>
              </a:rPr>
              <a:t>Rows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23560" y="20391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C0000"/>
                </a:solidFill>
              </a:rPr>
              <a:t>220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623560" y="2542032"/>
            <a:ext cx="1463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1F1F"/>
                </a:solidFill>
              </a:rPr>
              <a:t>process runs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69480" y="1783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5C5C"/>
                </a:solidFill>
              </a:rPr>
              <a:t>Accept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69480" y="20391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F6B3F"/>
                </a:solidFill>
              </a:rPr>
              <a:t>176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269480" y="2542032"/>
            <a:ext cx="1463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1F1F"/>
                </a:solidFill>
              </a:rPr>
              <a:t>80% class 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15400" y="1783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5C5C"/>
                </a:solidFill>
              </a:rPr>
              <a:t>Defect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15400" y="20391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35C00"/>
                </a:solidFill>
              </a:rPr>
              <a:t>44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915400" y="2542032"/>
            <a:ext cx="1463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1F1F"/>
                </a:solidFill>
              </a:rPr>
              <a:t>20% class 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561320" y="17830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5C5C"/>
                </a:solidFill>
              </a:rPr>
              <a:t>Missing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61320" y="20391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0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0561320" y="2542032"/>
            <a:ext cx="914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1F1F"/>
                </a:solidFill>
              </a:rPr>
              <a:t>in this file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32120" y="3246120"/>
            <a:ext cx="5897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EVIDENCE FROM AUDIT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32120" y="3538728"/>
            <a:ext cx="5897880" cy="896112"/>
          </a:xfrm>
          <a:prstGeom prst="rect">
            <a:avLst/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Class imbalance is present. A majority baseline reaches 80% accuracy while detecting zero defects.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94360" y="3886200"/>
            <a:ext cx="4663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HUMAN CHECK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178808"/>
            <a:ext cx="4663440" cy="804672"/>
          </a:xfrm>
          <a:prstGeom prst="rect">
            <a:avLst/>
          </a:prstGeom>
          <a:solidFill>
            <a:srgbClr val="FFF7F7"/>
          </a:solidFill>
          <a:ln>
            <a:solidFill>
              <a:srgbClr val="E4B8B8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Did the LLM use actual columns? Did plots show class balance and feature ranges rather than decorative figures?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</a:rPr>
              <a:t>APPLIED AI DESIGN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182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DAY 5 · Worked Example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84632"/>
            <a:ext cx="113842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1F"/>
                </a:solidFill>
              </a:rPr>
              <a:t>Prompt 3 — Leakage and availability review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9875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C5C5C"/>
                </a:solidFill>
              </a:rPr>
              <a:t>Worked table: the LLM proposes, faculty verify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</a:rPr>
              <a:t>PROMPT 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527048"/>
            <a:ext cx="4709160" cy="1874520"/>
          </a:xfrm>
          <a:prstGeom prst="rect">
            <a:avLst/>
          </a:prstGeom>
          <a:solidFill>
            <a:srgbClr val="F6F6F6"/>
          </a:solidFill>
          <a:ln>
            <a:solidFill>
              <a:srgbClr val="DFDFD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Prediction time: before final quality inspection.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Inputs: temperature_c, pressure_kpa,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speed_mm_s, vibration_mm_s.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Target: defect.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a table: variable, role,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available at prediction time?, leakage risk?, decision.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32120" y="1325880"/>
            <a:ext cx="1600200" cy="41148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F1F1F"/>
                </a:solidFill>
              </a:rPr>
              <a:t>Variable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132320" y="1325880"/>
            <a:ext cx="1188720" cy="41148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F1F1F"/>
                </a:solidFill>
              </a:rPr>
              <a:t>Available?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321040" y="1325880"/>
            <a:ext cx="1143000" cy="41148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F1F1F"/>
                </a:solidFill>
              </a:rPr>
              <a:t>Risk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9464040" y="1325880"/>
            <a:ext cx="2057400" cy="41148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F1F1F"/>
                </a:solidFill>
              </a:rPr>
              <a:t>Decision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532120" y="1737360"/>
            <a:ext cx="1600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temperature_c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132320" y="173736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Yes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8321040" y="1737360"/>
            <a:ext cx="1143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Low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9464040" y="1737360"/>
            <a:ext cx="2057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Keep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5532120" y="2148840"/>
            <a:ext cx="1600200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pressure_kpa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132320" y="2148840"/>
            <a:ext cx="1188720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Yes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8321040" y="2148840"/>
            <a:ext cx="1143000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Low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9464040" y="2148840"/>
            <a:ext cx="2057400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Keep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5532120" y="2560320"/>
            <a:ext cx="1600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speed_mm_s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132320" y="25603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Yes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321040" y="2560320"/>
            <a:ext cx="1143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Low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9464040" y="2560320"/>
            <a:ext cx="2057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Keep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532120" y="2971800"/>
            <a:ext cx="1600200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vibration_mm_s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188720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Yes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8321040" y="2971800"/>
            <a:ext cx="1143000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Low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9464040" y="2971800"/>
            <a:ext cx="2057400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Keep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532120" y="3383280"/>
            <a:ext cx="1600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defect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7132320" y="338328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Outcome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8321040" y="3383280"/>
            <a:ext cx="1143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Target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9464040" y="3383280"/>
            <a:ext cx="2057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Do not use as input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594360" y="3840480"/>
            <a:ext cx="4709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HUMAN CHECK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4133088"/>
            <a:ext cx="4709160" cy="850392"/>
          </a:xfrm>
          <a:prstGeom prst="rect">
            <a:avLst/>
          </a:prstGeom>
          <a:solidFill>
            <a:srgbClr val="FFF7F7"/>
          </a:solidFill>
          <a:ln>
            <a:solidFill>
              <a:srgbClr val="E4B8B8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The LLM cannot know timing unless you provide it. Add workflow context before accepting the keep/remove decisions.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32120" y="4160520"/>
            <a:ext cx="59893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B3F"/>
                </a:solidFill>
              </a:rPr>
              <a:t>APPROVED OUTPUT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532120" y="4453128"/>
            <a:ext cx="5989320" cy="484632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No leakage detected among the four inputs, assuming all are recorded before final inspection.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</a:rPr>
              <a:t>APPLIED AI DESIGN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182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DAY 5 · Worked Example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84632"/>
            <a:ext cx="113842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1F"/>
                </a:solidFill>
              </a:rPr>
              <a:t>Prompt 4 — Feature engineering with discipline checks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9875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C5C5C"/>
                </a:solidFill>
              </a:rPr>
              <a:t>Worked example uses conservative feature suggestions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</a:rPr>
              <a:t>PROMPT 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527048"/>
            <a:ext cx="4754880" cy="2103120"/>
          </a:xfrm>
          <a:prstGeom prst="rect">
            <a:avLst/>
          </a:prstGeom>
          <a:solidFill>
            <a:srgbClr val="F6F6F6"/>
          </a:solidFill>
          <a:ln>
            <a:solidFill>
              <a:srgbClr val="DFDFD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Suggest candidate features using temperature,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pressure, speed, and vibration.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Separate into: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1. domain-informed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2. mathematically convenient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 risky or possibly leaky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Provide code only for justified features.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 not claim causality.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32120" y="1325880"/>
            <a:ext cx="2011680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F1F1F"/>
                </a:solidFill>
              </a:rPr>
              <a:t>Feature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543800" y="1325880"/>
            <a:ext cx="1097280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F1F1F"/>
                </a:solidFill>
              </a:rPr>
              <a:t>Status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641080" y="1325880"/>
            <a:ext cx="2880360" cy="50292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F1F1F"/>
                </a:solidFill>
              </a:rPr>
              <a:t>Rationale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532120" y="182880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temperature_deviation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543800" y="182880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Clarify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641080" y="1828800"/>
            <a:ext cx="2880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Need nominal temperature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532120" y="2331720"/>
            <a:ext cx="201168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pressure_deviation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543800" y="2331720"/>
            <a:ext cx="109728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Clarify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641080" y="2331720"/>
            <a:ext cx="288036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Need target pressure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532120" y="283464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vibration_speed_ratio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543800" y="283464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Test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641080" y="2834640"/>
            <a:ext cx="2880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May reflect instability per speed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5532120" y="3337560"/>
            <a:ext cx="201168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future inspection flag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543800" y="3337560"/>
            <a:ext cx="109728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Reject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641080" y="3337560"/>
            <a:ext cx="2880360" cy="50292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Outcome-derived leakage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5532120" y="384048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raw timestamp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7543800" y="3840480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Clarify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8641080" y="3840480"/>
            <a:ext cx="2880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1F1F"/>
                </a:solidFill>
              </a:rPr>
              <a:t>May require shift/hour feature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94360" y="4160520"/>
            <a:ext cx="4754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WORKED DECISION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453128"/>
            <a:ext cx="4754880" cy="850392"/>
          </a:xfrm>
          <a:prstGeom prst="rect">
            <a:avLst/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For this simplified notebook, keep raw features only. Save engineered-feature ideas as next-step hypotheses.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532120" y="4617720"/>
            <a:ext cx="59893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TEACHING POINT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32120" y="4910328"/>
            <a:ext cx="5989320" cy="438912"/>
          </a:xfrm>
          <a:prstGeom prst="rect">
            <a:avLst/>
          </a:prstGeom>
          <a:solidFill>
            <a:srgbClr val="FFF7F7"/>
          </a:solidFill>
          <a:ln>
            <a:solidFill>
              <a:srgbClr val="E4B8B8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AI-generated features are hypotheses. They are not evidence until tested and validated.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</a:rPr>
              <a:t>APPLIED AI DESIGN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182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DAY 5 · Worked Example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84632"/>
            <a:ext cx="113842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1F"/>
                </a:solidFill>
              </a:rPr>
              <a:t>Prompt 5 — Generate the reproducible pipeline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9875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C5C5C"/>
                </a:solidFill>
              </a:rPr>
              <a:t>Worked code scaffold for the notebook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</a:rPr>
              <a:t>WORKED CODE CELL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5577840" cy="3886200"/>
          </a:xfrm>
          <a:prstGeom prst="rect">
            <a:avLst/>
          </a:prstGeom>
          <a:solidFill>
            <a:srgbClr val="F6F6F6"/>
          </a:solidFill>
          <a:ln>
            <a:solidFill>
              <a:srgbClr val="DFDFD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 = df[features]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 = df["defect"]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X_train, X_test, y_train, y_test = train_test_split(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X, y, test_size=0.25, stratify=y,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random_state=42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baseline = np.full(len(y_test), y_train.mode()[0])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 = Pipeline([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("scale", StandardScaler()),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("classifier", LogisticRegression(max_iter=1000))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model.fit(X_train, y_train)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pred = model.predict(X_test)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1371600"/>
            <a:ext cx="48920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B3F"/>
                </a:solidFill>
              </a:rPr>
              <a:t>HUMAN AUDIT CHECKS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46520" y="1664208"/>
            <a:ext cx="4892040" cy="896112"/>
          </a:xfrm>
          <a:prstGeom prst="rect">
            <a:avLst/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✓ Split before fitting model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✓ Baseline uses same test target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✓ StandardScaler is inside pipeline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✓ Fixed random_state used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46520" y="2834640"/>
            <a:ext cx="48920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WHAT TO REVISE IF GENERATED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3127248"/>
            <a:ext cx="4892040" cy="1124712"/>
          </a:xfrm>
          <a:prstGeom prst="rect">
            <a:avLst/>
          </a:prstGeom>
          <a:solidFill>
            <a:srgbClr val="FFF7F7"/>
          </a:solidFill>
          <a:ln>
            <a:solidFill>
              <a:srgbClr val="E4B8B8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Revise if the LLM fits scaling before train/test split, evaluates on training data, omits the baseline, or invents features.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4526280"/>
            <a:ext cx="48920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NOTE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4818888"/>
            <a:ext cx="4892040" cy="438912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F1F"/>
                </a:solidFill>
              </a:rPr>
              <a:t>For categorical features, use ColumnTransformer and OneHotEncoder. This simplified file has numeric inputs only.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</a:rPr>
              <a:t>APPLIED AI DESIGN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182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DAY 5 · Worked Example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84632"/>
            <a:ext cx="113842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1F"/>
                </a:solidFill>
              </a:rPr>
              <a:t>Worked model results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9875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C5C5C"/>
                </a:solidFill>
              </a:rPr>
              <a:t>The output the notebook should reproduce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5C5C"/>
                </a:solidFill>
              </a:rPr>
              <a:t>Baseline accuracy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C0000"/>
                </a:solidFill>
              </a:rPr>
              <a:t>0.800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240" y="2176272"/>
            <a:ext cx="18288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1F1F"/>
                </a:solidFill>
              </a:rPr>
              <a:t>predicts every run acceptable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88920" y="1417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5C5C"/>
                </a:solidFill>
              </a:rPr>
              <a:t>Baseline recall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88920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35C00"/>
                </a:solidFill>
              </a:rPr>
              <a:t>0.000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788920" y="2176272"/>
            <a:ext cx="18288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1F1F"/>
                </a:solidFill>
              </a:rPr>
              <a:t>finds no defects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1417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5C5C"/>
                </a:solidFill>
              </a:rPr>
              <a:t>Model accuracy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0.855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800600" y="2176272"/>
            <a:ext cx="18288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1F1F"/>
                </a:solidFill>
              </a:rPr>
              <a:t>slightly higher overall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12280" y="1417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5C5C"/>
                </a:solidFill>
              </a:rPr>
              <a:t>Model precision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12280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F6B3F"/>
                </a:solidFill>
              </a:rPr>
              <a:t>1.000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812280" y="2176272"/>
            <a:ext cx="18288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1F1F"/>
                </a:solidFill>
              </a:rPr>
              <a:t>no false alarms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23960" y="1417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5C5C"/>
                </a:solidFill>
              </a:rPr>
              <a:t>Model recall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1673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35C00"/>
                </a:solidFill>
              </a:rPr>
              <a:t>0.273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823960" y="2176272"/>
            <a:ext cx="18288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1F1F"/>
                </a:solidFill>
              </a:rPr>
              <a:t>misses most defects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</a:rPr>
              <a:t>Confusion matrix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611880"/>
            <a:ext cx="1508760" cy="47244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14600" y="3611880"/>
            <a:ext cx="1508760" cy="47244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</a:rPr>
              <a:t>Pred accept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23360" y="3611880"/>
            <a:ext cx="1554480" cy="47244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</a:rPr>
              <a:t>Pred defect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084320"/>
            <a:ext cx="1508760" cy="472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Actual accept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14600" y="4084320"/>
            <a:ext cx="1508760" cy="472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44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23360" y="4084320"/>
            <a:ext cx="1554480" cy="472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556760"/>
            <a:ext cx="1508760" cy="472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Actual defect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14600" y="4556760"/>
            <a:ext cx="1508760" cy="472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23360" y="4556760"/>
            <a:ext cx="1554480" cy="472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429000"/>
            <a:ext cx="49377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MODEL INTERPRETATION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3721608"/>
            <a:ext cx="4937760" cy="1261872"/>
          </a:xfrm>
          <a:prstGeom prst="rect">
            <a:avLst/>
          </a:prstGeom>
          <a:solidFill>
            <a:srgbClr val="F7F7F7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</a:rPr>
              <a:t>The model is conservative: when it flags a defect it is correct, but it detects only 3 of 11 actual defects. It should not replace inspection.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</a:rPr>
              <a:t>APPLIED AI DESIGN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182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DAY 5 · Worked Example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84632"/>
            <a:ext cx="113842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1F"/>
                </a:solidFill>
              </a:rPr>
              <a:t>Prompt 6 — Evaluation and error analysis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9875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C5C5C"/>
                </a:solidFill>
              </a:rPr>
              <a:t>Worked interpretation separates evidence from claims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</a:rPr>
              <a:t>PROMPT 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527048"/>
            <a:ext cx="4754880" cy="2194560"/>
          </a:xfrm>
          <a:prstGeom prst="rect">
            <a:avLst/>
          </a:prstGeom>
          <a:solidFill>
            <a:srgbClr val="F6F6F6"/>
          </a:solidFill>
          <a:ln>
            <a:solidFill>
              <a:srgbClr val="DFDFD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Interpret these results for a process engineer.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Separate: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direct evidence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reasonable interpretation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unsupported conclusions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most costly error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recommended next analysis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Missed defects are more costly than false alarms.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32120" y="1298448"/>
            <a:ext cx="1417320" cy="51054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1F1F"/>
                </a:solidFill>
              </a:rPr>
              <a:t>Category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6949440" y="1298448"/>
            <a:ext cx="4572000" cy="51054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1F1F"/>
                </a:solidFill>
              </a:rPr>
              <a:t>Worked response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5532120" y="1808988"/>
            <a:ext cx="1417320" cy="5105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1F1F"/>
                </a:solidFill>
              </a:rPr>
              <a:t>Direct evidence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6949440" y="1808988"/>
            <a:ext cx="4572000" cy="5105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1F1F"/>
                </a:solidFill>
              </a:rPr>
              <a:t>Accuracy rose from 0.800 to 0.855; recall is 0.273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5532120" y="2319528"/>
            <a:ext cx="1417320" cy="51054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1F1F"/>
                </a:solidFill>
              </a:rPr>
              <a:t>Interpretation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6949440" y="2319528"/>
            <a:ext cx="4572000" cy="51054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1F1F"/>
                </a:solidFill>
              </a:rPr>
              <a:t>Model is cautious and misses many defects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5532120" y="2830068"/>
            <a:ext cx="1417320" cy="5105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1F1F"/>
                </a:solidFill>
              </a:rPr>
              <a:t>Unsupported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6949440" y="2830068"/>
            <a:ext cx="4572000" cy="5105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1F1F"/>
                </a:solidFill>
              </a:rPr>
              <a:t>Process variables cause defects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5532120" y="3340608"/>
            <a:ext cx="1417320" cy="51054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1F1F"/>
                </a:solidFill>
              </a:rPr>
              <a:t>Costly error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6949440" y="3340608"/>
            <a:ext cx="4572000" cy="51054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1F1F"/>
                </a:solidFill>
              </a:rPr>
              <a:t>False negatives: 8 missed defects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5532120" y="3851148"/>
            <a:ext cx="1417320" cy="5105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1F1F"/>
                </a:solidFill>
              </a:rPr>
              <a:t>Next analysis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6949440" y="3851148"/>
            <a:ext cx="4572000" cy="5105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1F1F"/>
                </a:solidFill>
              </a:rPr>
              <a:t>Threshold sweep, class weighting, cross-validation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594360" y="4160520"/>
            <a:ext cx="4754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C0000"/>
                </a:solidFill>
              </a:rPr>
              <a:t>HUMAN CHECK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453128"/>
            <a:ext cx="4754880" cy="758952"/>
          </a:xfrm>
          <a:prstGeom prst="rect">
            <a:avLst/>
          </a:prstGeom>
          <a:solidFill>
            <a:srgbClr val="FFF7F7"/>
          </a:solidFill>
          <a:ln>
            <a:solidFill>
              <a:srgbClr val="E4B8B8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If the LLM says the model is “ready for deployment,” revise. The evidence supports limited screening value only.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1F1F"/>
                </a:solidFill>
              </a:rPr>
              <a:t>APPLIED AI DESIGN WORKSHOP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21040" y="182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DAY 5 · Worked Example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84632"/>
            <a:ext cx="113842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1F1F"/>
                </a:solidFill>
              </a:rPr>
              <a:t>Prompt 7 — Completed model card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85216" y="9875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C5C5C"/>
                </a:solidFill>
              </a:rPr>
              <a:t>Worked final documentation section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5C5C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</a:rPr>
              <a:t>PROMPT 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527048"/>
            <a:ext cx="4709160" cy="2194560"/>
          </a:xfrm>
          <a:prstGeom prst="rect">
            <a:avLst/>
          </a:prstGeom>
          <a:solidFill>
            <a:srgbClr val="F6F6F6"/>
          </a:solidFill>
          <a:ln>
            <a:solidFill>
              <a:srgbClr val="DFDFDF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an initial model card with: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intended use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out-of-scope use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dataset and target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baseline result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model result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primary error pattern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supported conclusion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unsupported conclusion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limitations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recommended next analysis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32120" y="1298448"/>
            <a:ext cx="1325880" cy="42291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F1F1F"/>
                </a:solidFill>
              </a:rPr>
              <a:t>Field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858000" y="1298448"/>
            <a:ext cx="4663440" cy="422910"/>
          </a:xfrm>
          <a:prstGeom prst="rect">
            <a:avLst/>
          </a:prstGeom>
          <a:solidFill>
            <a:srgbClr val="EDEDED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F1F1F"/>
                </a:solidFill>
              </a:rPr>
              <a:t>Worked entry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5532120" y="1721358"/>
            <a:ext cx="1325880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Intended use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6858000" y="1721358"/>
            <a:ext cx="4663440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Teaching example; inspection prioritization prototype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532120" y="2144268"/>
            <a:ext cx="1325880" cy="42291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Out-of-scope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858000" y="2144268"/>
            <a:ext cx="4663440" cy="42291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Automatic part approval or production deployment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5532120" y="2567178"/>
            <a:ext cx="1325880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Result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858000" y="2567178"/>
            <a:ext cx="4663440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Acc 0.855, precision 1.000, recall 0.273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532120" y="2990088"/>
            <a:ext cx="1325880" cy="42291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Error pattern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6858000" y="2990088"/>
            <a:ext cx="4663440" cy="42291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Missed 8 of 11 actual defects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5532120" y="3412998"/>
            <a:ext cx="1325880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Supported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6858000" y="3412998"/>
            <a:ext cx="4663440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Inputs contain some predictive signal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5532120" y="3835908"/>
            <a:ext cx="1325880" cy="42291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Do not claim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6858000" y="3835908"/>
            <a:ext cx="4663440" cy="42291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Variables cause defects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5532120" y="4258818"/>
            <a:ext cx="1325880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Next step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6858000" y="4258818"/>
            <a:ext cx="4663440" cy="42291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F1F1F"/>
                </a:solidFill>
              </a:rPr>
              <a:t>Tune threshold and collect more defect examples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594360" y="4160520"/>
            <a:ext cx="4709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B3F"/>
                </a:solidFill>
              </a:rPr>
              <a:t>DELIVERABLE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4453128"/>
            <a:ext cx="4709160" cy="576072"/>
          </a:xfrm>
          <a:prstGeom prst="rect">
            <a:avLst/>
          </a:prstGeom>
          <a:solidFill>
            <a:srgbClr val="F8F8F8"/>
          </a:solidFill>
          <a:ln>
            <a:solidFill>
              <a:srgbClr val="DDDDDD"/>
            </a:solidFill>
          </a:ln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F1F1F"/>
                </a:solidFill>
              </a:rPr>
              <a:t>One concise evidence-grounded paragraph plus the structured model-card table.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1645</Words>
  <Application>Microsoft Office PowerPoint</Application>
  <PresentationFormat>Widescreen</PresentationFormat>
  <Paragraphs>364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3 Worked Example</dc:title>
  <dc:subject>Applied AI Design Workshop</dc:subject>
  <dc:creator>Fred Livingston</dc:creator>
  <cp:lastModifiedBy>Fred Livingston</cp:lastModifiedBy>
  <cp:revision>4</cp:revision>
  <dcterms:created xsi:type="dcterms:W3CDTF">2026-07-17T07:11:55Z</dcterms:created>
  <dcterms:modified xsi:type="dcterms:W3CDTF">2026-07-17T07:58:43Z</dcterms:modified>
</cp:coreProperties>
</file>