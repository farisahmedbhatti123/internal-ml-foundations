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78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C State Engineering -- ANS / Conferences / 2021 Student Conference">
            <a:extLst>
              <a:ext uri="{FF2B5EF4-FFF2-40B4-BE49-F238E27FC236}">
                <a16:creationId xmlns:a16="http://schemas.microsoft.com/office/drawing/2014/main" id="{370270D0-BF70-6C28-C690-31BC65C37F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2520" y="93817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DAY 5 · WORKED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69494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Guided LLM Prompt Chain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in Google Colab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" y="267004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/>
              </a:rPr>
              <a:t>Recreate a full machine-learning notebook using a controlled LLM prompt sequence and a cloud notebook environment.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Input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867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classification_workshop.csv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220 process runs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Target: defect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342900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8328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LLM role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867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Draft notebook cells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Explain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Add human checks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42900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role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867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Run code in browser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Upload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Share notebook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342900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0392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Human role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3867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Audit assumptions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Validate metrics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Approve claims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5650992"/>
            <a:ext cx="10927080" cy="438912"/>
          </a:xfrm>
          <a:prstGeom prst="rect">
            <a:avLst/>
          </a:prstGeom>
          <a:solidFill>
            <a:srgbClr val="FFF1F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22960" y="5769864"/>
            <a:ext cx="104698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/>
              </a:rPr>
              <a:t>Evidence → Prompt → Google Colab notebook → Results → Model card → Human validation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Worked example overview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participants produce by the end of the Colab-guided prompt-chain demonstration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Colab-ready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2560320" cy="3566160"/>
          </a:xfrm>
          <a:prstGeom prst="roundRect">
            <a:avLst>
              <a:gd name="adj" fmla="val 2143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19110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Input 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221992"/>
            <a:ext cx="2286000" cy="30175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classification_workshop.csv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Inputs: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• temperature_c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• pressure_kpa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• speed_mm_s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• vibration_mm_s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Target: defect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0440" y="1783080"/>
            <a:ext cx="2560320" cy="3566160"/>
          </a:xfrm>
          <a:prstGeom prst="roundRect">
            <a:avLst>
              <a:gd name="adj" fmla="val 2143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57600" y="19110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LLM task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221992"/>
            <a:ext cx="2286000" cy="30175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Generate notebook-ready markdown and code.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Use exact column names.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Add a human verification check after each notebook section.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1783080"/>
            <a:ext cx="2560320" cy="3566160"/>
          </a:xfrm>
          <a:prstGeom prst="roundRect">
            <a:avLst>
              <a:gd name="adj" fmla="val 2143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0" y="19110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task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221992"/>
            <a:ext cx="2286000" cy="30175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Create notebook.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Upload CSV.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Run cells.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Restart runtime and run all.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Share or download final notebook.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72600" y="1783080"/>
            <a:ext cx="2240280" cy="3566160"/>
          </a:xfrm>
          <a:prstGeom prst="roundRect">
            <a:avLst>
              <a:gd name="adj" fmla="val 2449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09760" y="1911096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Success criterion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2221992"/>
            <a:ext cx="1965960" cy="30175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The notebook should not just run. Faculty must be able to defend every modeling choice, metric, and conclusion.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/>
              </a:rPr>
              <a:t>Final product: runnable Colab notebook + prompt-response log + baseline/model comparison + model card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Google Colab setup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clean browser-based notebook so every participant can run the same workflow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916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8196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Step 1 — Open Colab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130552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Go to colab.research.google.com and create a new notebook. Rename it: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Day5_LLM_Generated_ML_Pipeline.ipynb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69164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8196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Step 2 — Upload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130552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Use the file pane or run a file-upload cell. Upload classification_workshop.csv into the Colab runtime.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66760" y="181965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Step 3 — Confirm runtime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213055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Runtime → Restart session, then run cells from the top. Keep random_state=42 for consistent class results.</a:t>
            </a:r>
            <a:endParaRPr lang="en-US" sz="1050" dirty="0"/>
          </a:p>
        </p:txBody>
      </p:sp>
      <p:sp>
        <p:nvSpPr>
          <p:cNvPr id="26" name="Rectangle 25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DD348-1A14-1860-EAB0-945CAA43448B}"/>
              </a:ext>
            </a:extLst>
          </p:cNvPr>
          <p:cNvSpPr txBox="1"/>
          <p:nvPr/>
        </p:nvSpPr>
        <p:spPr>
          <a:xfrm>
            <a:off x="640080" y="3254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https://colab.research.google.com/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3AC86-16E5-79A4-2BED-F6EBC19F1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570480" y="3689928"/>
            <a:ext cx="6380480" cy="2921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Prompt-chain map in Colab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short prompts replace one vague request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7 prompts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FF1F1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Guardrails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66544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112264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Frame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93008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538728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Audit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9472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65192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/>
              </a:rPr>
              <a:t>Leakage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45936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91656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818120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98864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244584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Evaluate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625328" y="2011680"/>
            <a:ext cx="1261872" cy="777240"/>
          </a:xfrm>
          <a:prstGeom prst="roundRect">
            <a:avLst>
              <a:gd name="adj" fmla="val 5882"/>
            </a:avLst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71048" y="2121408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Model card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333756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60120" y="346557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For each prompt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776472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Collect the exact prompt, the LLM-generated notebook section, and a human audit note: accept, revise, or reject.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333756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0" y="346557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Colab notebook habit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3776472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Paste generated code into one small cell at a time. Run the cell before continuing to the next prompt.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33375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183880" y="346557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Human checkpoint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83880" y="3776472"/>
            <a:ext cx="2880360" cy="77724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Do not continue if the LLM invents columns, ignores the baseline, fits preprocessing too early, or overclaims causality.</a:t>
            </a:r>
            <a:endParaRPr lang="en-US" sz="1050" dirty="0"/>
          </a:p>
        </p:txBody>
      </p:sp>
      <p:sp>
        <p:nvSpPr>
          <p:cNvPr id="37" name="Rectangle 36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0 — Establish role and guardrails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before generating any notebook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Copy-paste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" y="1490472"/>
            <a:ext cx="5486400" cy="2913330"/>
          </a:xfrm>
          <a:prstGeom prst="roundRect">
            <a:avLst>
              <a:gd name="adj" fmla="val 93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0352" y="744270"/>
            <a:ext cx="5266944" cy="3712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You are helping create a Google Colab notebook for an applied AI workshop.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Use Python, pandas, matplotlib/seaborn, and scikit-learn.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Create short markdown explanations and executable code cells.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Do not invent dataset columns.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Do not claim causality from prediction results.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Do not remove outliers without a documented domain-based rule.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Preprocessing must be fitted only on training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Add one human-verification question after each section.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60020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66560" y="1728216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Worked response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03911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The LLM should acknowledge constraints and ask for dataset name and column list before writing code.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160020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372600" y="1728216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Reject response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03911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Do not accept a response that immediately invents variables, deploys the model, or writes code using unknown columns.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30632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66560" y="319125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checkpoint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350215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Open a new text cell titled “Prompt log.” Paste Prompt 0 and the LLM response. This creates an auditable record of how the notebook was generated.</a:t>
            </a:r>
            <a:endParaRPr lang="en-US" sz="1050" dirty="0"/>
          </a:p>
        </p:txBody>
      </p:sp>
      <p:sp>
        <p:nvSpPr>
          <p:cNvPr id="23" name="Rectangle 22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7ACF4-6B4E-656D-F190-8D1326201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642918"/>
            <a:ext cx="6062472" cy="2620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1 — Problem framing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first Colab markdown and setup code cells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Frame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45920"/>
            <a:ext cx="5212080" cy="2011680"/>
          </a:xfrm>
          <a:prstGeom prst="roundRect">
            <a:avLst>
              <a:gd name="adj" fmla="val 1818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4992624" cy="1792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Dataset: classification_workshop.csv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Columns: temperature_c, pressure_kpa,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speed_mm_s, vibration_mm_s, defect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Create notebook-ready markdown and code that identify: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unit of observation, inputs, target,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model task, baseline, and metric.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25780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81928" y="1755648"/>
            <a:ext cx="5038344" cy="2203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Element         Worked example       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Unit            One process run      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Inputs          temperature, pressure, speed, vibrat…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Target          defect: 0 = acceptable; 1 = defective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Task            Binary classification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Baseline        Predict majority class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Metric          Recall/F1, not accuracy alone         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33425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4515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Create one markdown cell for the framing table and one code cell defining features, target, and positive class.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38912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451713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Human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828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Are all inputs available before final inspection? Is “defect” defined consistently?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2 — Data audit and visualization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Colab to verify the dataset before modeling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Audit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5166360" cy="214884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709928"/>
            <a:ext cx="4946904" cy="1929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Generate notebook cells to load the CSV and report: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df.head(), df.shape, df.dtypes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missing values and duplicates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target class balance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summary statistics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count plot of defect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scatter or box plots for variables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17920" y="172821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Worked audit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03911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Rows: 220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Accept: 176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Defect: 44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Missing: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160020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052560" y="172821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Evidence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03911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Imbalance is present. A majority baseline can reach 80% accuracy while finding no defects.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4937760" cy="109728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32688" y="4133088"/>
            <a:ext cx="4718304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df.shape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df.dtypes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df.isna().sum()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df["defect"].value_counts(normalize=True)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80760" y="402336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41513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Human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62272"/>
            <a:ext cx="4983480" cy="54864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Did the LLM use actual columns? Do the plots show class balance and feature ranges rather than decorative figures?</a:t>
            </a:r>
            <a:endParaRPr lang="en-US" sz="1050" dirty="0"/>
          </a:p>
        </p:txBody>
      </p:sp>
      <p:sp>
        <p:nvSpPr>
          <p:cNvPr id="25" name="Rectangle 24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3 — Leakage and availability review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the prediction time so the LLM can reason about leakage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Trust check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5166360" cy="2331720"/>
          </a:xfrm>
          <a:prstGeom prst="roundRect">
            <a:avLst>
              <a:gd name="adj" fmla="val 1569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664208"/>
            <a:ext cx="4946904" cy="2112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Prediction time: before final quality inspection.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Inputs: temperature_c, pressure_kpa,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speed_mm_s, vibration_mm_s.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Target: defect.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Create a table: variable, role, available at prediction time?, leakage risk?, decision.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16636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81928" y="1664208"/>
            <a:ext cx="4946904" cy="2112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Variable          Risk         Decision                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temperature_c     Low          Keep                    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pressure_kpa      Low          Keep                    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speed_mm_s        Low          Keep                    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vibration_mm_s    Low          Keep                    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defect            Target       Do not use as input     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77240" y="43434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447141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note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7823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Place the leakage table in a markdown cell before the modeling code. It documents what the model is allowed to know.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166360" cy="9144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4471416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Human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78231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The LLM cannot know timing unless you provide it. Add workflow context before accepting keep/remove decisions.</a:t>
            </a: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4 — Feature engineering with discipline checks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suggest features, not to approve them automatically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536192"/>
            <a:ext cx="5166360" cy="2286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645920"/>
            <a:ext cx="4946904" cy="2066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Suggest candidate features using temperature,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pressure, speed, and vibration.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Separate into: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1. domain-informed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2. mathematically convenient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3. risky or possibly leaky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Provide code only for justified features.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Do not claim causality.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554480"/>
            <a:ext cx="5394960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99048" y="1664208"/>
            <a:ext cx="5175504" cy="1929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Feature              Status     Rationale       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temperature_devia…   Clarify    Need nominal temperatu…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pressure_deviation   Clarify    Need target pressure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vibration_speed_r…   Test       May reflect instabilit…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future inspection…   Reject     Outcome-derived leakage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2452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435254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Worked 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For the simplified Colab demo, keep raw features only. Save engineered features as next-step hypotheses.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2452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0" y="4352544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Teaching point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66344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AI-generated features are hypotheses. They are not evidence until tested and validated.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5 — Generate the reproducible Colab pipeline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technical cell: split, baseline, pipeline, predict, evaluate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Code cells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1508760"/>
            <a:ext cx="5577840" cy="3977640"/>
          </a:xfrm>
          <a:prstGeom prst="roundRect">
            <a:avLst>
              <a:gd name="adj" fmla="val 92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088" y="1618488"/>
            <a:ext cx="5358384" cy="3758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X = df[features]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y = df["defect"]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X_train, X_test, y_train, y_test = train_test_split(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    X, y, test_size=0.25, stratify=y, random_state=42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baseline = np.full(len(y_test), y_train.mode()[0])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model = Pipeline([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    ("scale", StandardScaler()),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    ("classifier", LogisticRegression(max_iter=1000))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model.fit(X_train, y_train)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pred = model.predict(X_test)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508760"/>
            <a:ext cx="242316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163677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Audit checks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94767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✓ Split before fitting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✓ Baseline same test 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✓ Scaler inside pipeline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✓ Fixed random_state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150876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372600" y="1636776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Revise if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1947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✗ scaler fit before split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✗ training-set evaluation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✗ no baseline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✗ invented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297180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75120" y="309981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practice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410712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Run the code cell, then immediately add a markdown cell titled “Human audit.” Record whether the pipeline passed the checks.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448056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675120" y="460857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Categorical reminder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91947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For categorical features, use ColumnTransformer and OneHotEncoder. This simplified file has numeric inputs only.</a:t>
            </a:r>
            <a:endParaRPr lang="en-US" sz="1050" dirty="0"/>
          </a:p>
        </p:txBody>
      </p:sp>
      <p:sp>
        <p:nvSpPr>
          <p:cNvPr id="26" name="Rectangle 25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Worked model results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the Colab notebook should reproduce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Results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17282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Baseline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0391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0.800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predicts every run acceptable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160020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108960" y="17282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Baseline 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0391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0.000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finds no defects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57800" y="160020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94960" y="17282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Model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0391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0.855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slightly higher overall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80960" y="17282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Model precision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20391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1.000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no false alarms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29800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66960" y="172821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Model recall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20391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0.273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misses most defects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3657600"/>
            <a:ext cx="438912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389888" y="3767328"/>
            <a:ext cx="4169664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                     Predicted …   Predicted …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Actual acceptable    44            0     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Actual defect        8             3           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356616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37960" y="369417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Model interpretation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00507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The model is conservative: when it flags a defect it is correct, but it detects only 3 of 11 actual defects. It should not replace inspection.</a:t>
            </a:r>
            <a:endParaRPr lang="en-US" sz="1050" dirty="0"/>
          </a:p>
        </p:txBody>
      </p:sp>
      <p:sp>
        <p:nvSpPr>
          <p:cNvPr id="32" name="Rectangle 31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6 — Evaluation and error analysis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direct evidence from unsupported claims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Metrics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4892040" cy="214884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709928"/>
            <a:ext cx="4672584" cy="1929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Interpret these results for a process engineer.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Separate: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direct evidence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reasonable interpretation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unsupported conclusions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most costly error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recommended next analysis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Missed defects are more costly than false alarms.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1600200"/>
            <a:ext cx="5440680" cy="269748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16168" y="1709928"/>
            <a:ext cx="5221224" cy="2478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Category         Worked response       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Direct eviden…   Accuracy rose from 0.800 to 0.855; re…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Interpretation   Model is cautious and misses many def…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Unsupported      Process variables cause defects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Costly error     False negatives: 8 missed defects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Next analysis    Threshold sweep, class weighting, cro… 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4471416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Human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782312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If the LLM says the model is “ready for deployment,” revise. Evidence supports limited screening value only.</a:t>
            </a:r>
            <a:endParaRPr lang="en-US" sz="1050" dirty="0"/>
          </a:p>
        </p:txBody>
      </p:sp>
      <p:sp>
        <p:nvSpPr>
          <p:cNvPr id="19" name="Rectangle 18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Prompt 7 — Completed model card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documentation section for the Colab notebook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Model card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508760"/>
            <a:ext cx="4800600" cy="2331720"/>
          </a:xfrm>
          <a:prstGeom prst="roundRect">
            <a:avLst>
              <a:gd name="adj" fmla="val 1569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1618488"/>
            <a:ext cx="4581144" cy="2112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Create an initial model card with: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intended 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out-of-scope 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dataset and target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baseline result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model result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primary error pattern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supported conclusion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unsupported conclusion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limitations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- recommended next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1508760"/>
            <a:ext cx="553212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79008" y="1618488"/>
            <a:ext cx="5312664" cy="2798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Field           Worked entry            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Intended use    Teaching example; inspection prioritiza…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Out-of-scope    Automatic part approval or production d…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Result          Acc 0.855, precision 1.000, recall 0.273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Error pattern   Missed 8 of 11 actual defects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Do not claim    Variables cause defects              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 Mono" pitchFamily="34" charset="-122"/>
                <a:cs typeface="Aptos Mono" pitchFamily="34" charset="-120"/>
              </a:rPr>
              <a:t>Next step       Tune threshold and collect more defect … 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4617720" cy="100584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4379976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Colab deliverable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69087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ptos"/>
              </a:rPr>
              <a:t>One evidence-grounded paragraph plus the structured model-card table in markdown.</a:t>
            </a:r>
            <a:endParaRPr lang="en-US" sz="1050" dirty="0"/>
          </a:p>
        </p:txBody>
      </p:sp>
      <p:sp>
        <p:nvSpPr>
          <p:cNvPr id="19" name="Rectangle 18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75720" y="65196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/>
              </a:rPr>
              <a:t>Guided LLM Prompt • Google Colab workflow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Closing synthesis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drafts the artifact; faculty validate the workflow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46920" y="87782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889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56648" y="987552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ptos"/>
              </a:rPr>
              <a:t>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186537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Data evidence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76272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Colab runs the notebook and exposes the actual tables, plots, and metrics.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749040" y="186537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ptos"/>
              </a:rPr>
              <a:t>LLM drafts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2176272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The LLM creates a first-pass notebook scaffold and explanation.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 w="1397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29400" y="186537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Metrics evaluate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2176272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Baseline, confusion matrix, and recall reveal whether the model is useful.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260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 w="1397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09760" y="1865376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Aptos"/>
              </a:rPr>
              <a:t>Human validates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217627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/>
              </a:rPr>
              <a:t>Faculty approve assumptions, code, metrics, and claims.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0233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ptos"/>
              </a:rPr>
              <a:t>Final message: Google Colab makes the workflow easy to run, but trustworthy AI use still depends on human-validated evidence and clear boundaries.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16636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ptos"/>
              </a:rPr>
              <a:t>Do not ask: “Can AI build the notebook?”  Ask: “Can we inspect, run, and defend every cell the AI helped create?”</a:t>
            </a:r>
            <a:endParaRPr lang="en-US" sz="1400" dirty="0"/>
          </a:p>
        </p:txBody>
      </p:sp>
      <p:sp>
        <p:nvSpPr>
          <p:cNvPr id="26" name="Rectangle 25"/>
          <p:cNvSpPr/>
          <p:nvPr/>
        </p:nvSpPr>
        <p:spPr>
          <a:xfrm>
            <a:off x="0" y="109728"/>
            <a:ext cx="121920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24688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530" b="1">
                <a:solidFill>
                  <a:srgbClr val="CC0000"/>
                </a:solidFill>
                <a:latin typeface="Aptos"/>
              </a:rPr>
              <a:t>APPLIED AI DESIGN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468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530">
                <a:solidFill>
                  <a:srgbClr val="6B7280"/>
                </a:solidFill>
                <a:latin typeface="Aptos"/>
              </a:rPr>
              <a:t>DAY 5 · Google Colab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2107</Words>
  <Application>Microsoft Office PowerPoint</Application>
  <PresentationFormat>Widescreen</PresentationFormat>
  <Paragraphs>370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Worked Example — Guided LLM Prompt Chain in Google Colab</dc:title>
  <dc:subject>Applied AI Design Workshop for Faculty</dc:subject>
  <dc:creator>Fred Livingston</dc:creator>
  <cp:lastModifiedBy>Fred Livingston</cp:lastModifiedBy>
  <cp:revision>5</cp:revision>
  <dcterms:created xsi:type="dcterms:W3CDTF">2026-07-17T16:02:31Z</dcterms:created>
  <dcterms:modified xsi:type="dcterms:W3CDTF">2026-07-17T16:35:43Z</dcterms:modified>
</cp:coreProperties>
</file>