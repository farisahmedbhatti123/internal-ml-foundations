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300" y="-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8868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NC State Engineering -- ANS / Conferences / 2021 Student Conference">
            <a:extLst>
              <a:ext uri="{FF2B5EF4-FFF2-40B4-BE49-F238E27FC236}">
                <a16:creationId xmlns:a16="http://schemas.microsoft.com/office/drawing/2014/main" id="{4AE3784E-66A2-EF32-0E58-A3DE9A832B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4187" y="232771"/>
            <a:ext cx="1551223" cy="432403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8872"/>
            <a:ext cx="12191695" cy="8229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56032" y="3474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292840" y="3474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7132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DAY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932688"/>
            <a:ext cx="6949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Machine Learning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 AI-Enabled Workflows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8912" y="221284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</a:rPr>
              <a:t>Evidence packages • AI-assisted pipelines • Guided LLM prompts • Human validation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" y="2615184"/>
            <a:ext cx="3703320" cy="228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29600" y="932688"/>
            <a:ext cx="2971800" cy="1143000"/>
          </a:xfrm>
          <a:prstGeom prst="roundRect">
            <a:avLst>
              <a:gd name="adj" fmla="val 6400"/>
            </a:avLst>
          </a:prstGeom>
          <a:solidFill>
            <a:srgbClr val="FAFAFA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375904" y="1051560"/>
            <a:ext cx="2679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Today’s focus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375904" y="1344168"/>
            <a:ext cx="267919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Turn Day 3–4 model results into AI-ready evidence and reproducible, validated workflows.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0" y="2331720"/>
            <a:ext cx="2971800" cy="914400"/>
          </a:xfrm>
          <a:prstGeom prst="roundRect">
            <a:avLst>
              <a:gd name="adj" fmla="val 8000"/>
            </a:avLst>
          </a:prstGeom>
          <a:solidFill>
            <a:srgbClr val="FFF8F8"/>
          </a:solidFill>
          <a:ln w="12700">
            <a:solidFill>
              <a:srgbClr val="F2C8C8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75904" y="2450592"/>
            <a:ext cx="2679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Output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75904" y="2743200"/>
            <a:ext cx="2679192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A grounded AI workflow concept and a prompt-chain approach for recreating an ML notebook.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8912" y="55321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Applied AI Design Workshop for Faculty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Fred Livingston (fjliving@ncsu.edu) 2026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567160" y="651052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50" dirty="0">
                <a:solidFill>
                  <a:srgbClr val="999999"/>
                </a:solidFill>
              </a:rPr>
              <a:t>1</a:t>
            </a:r>
            <a:endParaRPr lang="en-US" sz="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8872"/>
            <a:ext cx="12191695" cy="8229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56032" y="3474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292840" y="3474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7132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2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we are in the workshop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11480" y="11704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</a:rPr>
              <a:t>Day 5 connects the foundational machine-learning workflow to AI-assisted implementation and interpretation.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2926080" cy="228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2057400"/>
            <a:ext cx="2331720" cy="960120"/>
          </a:xfrm>
          <a:prstGeom prst="chevron">
            <a:avLst/>
          </a:prstGeom>
          <a:solidFill>
            <a:srgbClr val="E9F1FB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2221992"/>
            <a:ext cx="22402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</a:rPr>
              <a:t>DAY 3</a:t>
            </a:r>
            <a:endParaRPr lang="en-US" sz="9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</a:rPr>
              <a:t>Problem framing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</a:rPr>
              <a:t>Regression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37560" y="2057400"/>
            <a:ext cx="2331720" cy="960120"/>
          </a:xfrm>
          <a:prstGeom prst="chevron">
            <a:avLst/>
          </a:prstGeom>
          <a:solidFill>
            <a:srgbClr val="E8F5E9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83280" y="2221992"/>
            <a:ext cx="22402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</a:rPr>
              <a:t>DAY 4</a:t>
            </a:r>
            <a:endParaRPr lang="en-US" sz="9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</a:rPr>
              <a:t>Classification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</a:rPr>
              <a:t>Data preparation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89320" y="2057400"/>
            <a:ext cx="2331720" cy="960120"/>
          </a:xfrm>
          <a:prstGeom prst="chevron">
            <a:avLst/>
          </a:prstGeom>
          <a:solidFill>
            <a:srgbClr val="FFF8E1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035040" y="2221992"/>
            <a:ext cx="22402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</a:rPr>
              <a:t>DAY 5</a:t>
            </a:r>
            <a:endParaRPr lang="en-US" sz="9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</a:rPr>
              <a:t>AI assistance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</a:rPr>
              <a:t>Validated workflows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641080" y="2057400"/>
            <a:ext cx="2331720" cy="960120"/>
          </a:xfrm>
          <a:prstGeom prst="chevron">
            <a:avLst/>
          </a:prstGeom>
          <a:solidFill>
            <a:srgbClr val="F3E5F5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0" y="2221992"/>
            <a:ext cx="22402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</a:rPr>
              <a:t>NEXT</a:t>
            </a:r>
            <a:endParaRPr lang="en-US" sz="9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</a:rPr>
              <a:t>Apply to teaching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</a:rPr>
              <a:t>research workflows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5800" y="37033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Progression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4005072"/>
            <a:ext cx="105156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</a:rPr>
              <a:t>From building a defensible first-pass ML analysis → to using AI as a copilot for evidence-grounded communication, notebook generation, and workflow design.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5074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C0000"/>
                </a:solidFill>
              </a:rPr>
              <a:t>Key shift: the LLM does not create new evidence; it helps organize, explain, and implement evidence that faculty can validate.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567160" y="651052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50" dirty="0">
                <a:solidFill>
                  <a:srgbClr val="999999"/>
                </a:solidFill>
              </a:rPr>
              <a:t>2</a:t>
            </a:r>
            <a:endParaRPr lang="en-US" sz="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F7FDA8DF-8B58-77D4-B287-88B7E05283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816" y="2860934"/>
            <a:ext cx="5655199" cy="3182741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118872"/>
            <a:ext cx="12191695" cy="8229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56032" y="3474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292840" y="3474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7132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2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Day 3 recap: ML foundations and problem framing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11480" y="11704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</a:rPr>
              <a:t>Day 3 established the vocabulary and structure needed to create defensible ML problems.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2926080" cy="228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8F8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9224" y="1993392"/>
            <a:ext cx="1856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CC0000"/>
                </a:solidFill>
              </a:rPr>
              <a:t>Problem framing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9224" y="2286000"/>
            <a:ext cx="18562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Prediction objective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Inputs and outputs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Unit of observation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Target variable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34640" y="18745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E9F1FB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980944" y="1993392"/>
            <a:ext cx="1856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222222"/>
                </a:solidFill>
              </a:rPr>
              <a:t>Classic ML landscape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980944" y="2286000"/>
            <a:ext cx="18562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Regression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Classification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Clustering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Forecasting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Anomaly detection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66360" y="18745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E8F5E9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12664" y="1993392"/>
            <a:ext cx="1856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222222"/>
                </a:solidFill>
              </a:rPr>
              <a:t>Regression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312664" y="2286000"/>
            <a:ext cx="18562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Linear models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Polynomial trends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Regularization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Residuals and MAE/RMSE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98080" y="18745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8E1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644384" y="1993392"/>
            <a:ext cx="1856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222222"/>
                </a:solidFill>
              </a:rPr>
              <a:t>Baseline thinking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644384" y="2286000"/>
            <a:ext cx="18562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Mean or majority baseline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Metric selection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Practical success criteria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829800" y="187452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3E5F5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976104" y="1993392"/>
            <a:ext cx="1490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222222"/>
                </a:solidFill>
              </a:rPr>
              <a:t>Participant output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976104" y="2286000"/>
            <a:ext cx="149047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A framed ML problem with inputs, target, baseline, and metric.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59161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What carries forward to Day 5?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" y="5892799"/>
            <a:ext cx="1088136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• Every AI workflow still needs a clear unit of observation and target or discovery question.
• Baselines and metrics become the evidence that an AI explanation must respect.
• LLM-generated conclusions must be checked against the original ML framing.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567160" y="651052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50" dirty="0">
                <a:solidFill>
                  <a:srgbClr val="999999"/>
                </a:solidFill>
              </a:rPr>
              <a:t>3</a:t>
            </a:r>
            <a:endParaRPr lang="en-US" sz="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8872"/>
            <a:ext cx="12191695" cy="8229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56032" y="3474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550" dirty="0"/>
          </a:p>
        </p:txBody>
      </p:sp>
      <p:sp>
        <p:nvSpPr>
          <p:cNvPr id="4" name="Text 2"/>
          <p:cNvSpPr/>
          <p:nvPr/>
        </p:nvSpPr>
        <p:spPr>
          <a:xfrm>
            <a:off x="11292840" y="3474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5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</a:t>
            </a:r>
            <a:endParaRPr lang="en-US" sz="550" dirty="0"/>
          </a:p>
        </p:txBody>
      </p:sp>
      <p:sp>
        <p:nvSpPr>
          <p:cNvPr id="5" name="Text 3"/>
          <p:cNvSpPr/>
          <p:nvPr/>
        </p:nvSpPr>
        <p:spPr>
          <a:xfrm>
            <a:off x="411480" y="7132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2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Day 4 recap: from classification to data preparation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11480" y="11704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Day 4 expanded the workflow from supervised classification to data cleaning, feature preparation, and unsupervised discovery.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2926080" cy="228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783080"/>
            <a:ext cx="2743200" cy="1143000"/>
          </a:xfrm>
          <a:prstGeom prst="roundRect">
            <a:avLst>
              <a:gd name="adj" fmla="val 8000"/>
            </a:avLst>
          </a:prstGeom>
          <a:solidFill>
            <a:srgbClr val="E9F1FB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87452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C0000"/>
                </a:solidFill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0" y="187452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Classification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" y="2212848"/>
            <a:ext cx="245059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Predicted categorical outcomes using logistic regression, decision trees, probabilities, thresholds, and confusion matrices.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29000" y="1783080"/>
            <a:ext cx="2743200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20440" y="187452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C0000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40480" y="187452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Baseline model activity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75304" y="2212848"/>
            <a:ext cx="245059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Built a first-pass model workflow with data inspection, baselines, simple models, metrics, and interpretation.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55080" y="1783080"/>
            <a:ext cx="2743200" cy="1143000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46520" y="187452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C0000"/>
                </a:solidFill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766560" y="187452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Data preparation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01384" y="2212848"/>
            <a:ext cx="245059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Addressed missing values, outliers, data types, encoding, scaling, leakage, and domain-informed features.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281160" y="1783080"/>
            <a:ext cx="2468880" cy="1143000"/>
          </a:xfrm>
          <a:prstGeom prst="roundRect">
            <a:avLst>
              <a:gd name="adj" fmla="val 8000"/>
            </a:avLst>
          </a:prstGeom>
          <a:solidFill>
            <a:srgbClr val="F3E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372600" y="187452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C0000"/>
                </a:solidFill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692640" y="18745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Unsupervised discovery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27464" y="2212848"/>
            <a:ext cx="21762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Used clustering, PCA, silhouette scores, DBSCAN, and cluster profiles to explore unlabeled data.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393192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</a:rPr>
              <a:t>Day 4 generated the evidence packets that Day 5 will use: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143000" y="4572000"/>
            <a:ext cx="2240280" cy="548640"/>
          </a:xfrm>
          <a:prstGeom prst="roundRect">
            <a:avLst>
              <a:gd name="adj" fmla="val 13333"/>
            </a:avLst>
          </a:prstGeom>
          <a:solidFill>
            <a:srgbClr val="FAFAFA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289304" y="4576572"/>
            <a:ext cx="1947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Metrics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89304" y="4892040"/>
            <a:ext cx="2093976" cy="54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accuracy • recall • F1 • silhouette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0" y="4572000"/>
            <a:ext cx="2240280" cy="548640"/>
          </a:xfrm>
          <a:prstGeom prst="roundRect">
            <a:avLst>
              <a:gd name="adj" fmla="val 13333"/>
            </a:avLst>
          </a:prstGeom>
          <a:solidFill>
            <a:srgbClr val="FAFAFA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794760" y="4615942"/>
            <a:ext cx="1947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Visuals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803904" y="4928616"/>
            <a:ext cx="1947672" cy="54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confusion matrices • PCA plots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72200" y="4572000"/>
            <a:ext cx="2240280" cy="548640"/>
          </a:xfrm>
          <a:prstGeom prst="roundRect">
            <a:avLst>
              <a:gd name="adj" fmla="val 13333"/>
            </a:avLst>
          </a:prstGeom>
          <a:solidFill>
            <a:srgbClr val="FAFAFA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318504" y="4615942"/>
            <a:ext cx="1947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Decisions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18504" y="4919472"/>
            <a:ext cx="1947672" cy="45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features • leakage • thresholds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686800" y="4572000"/>
            <a:ext cx="2240280" cy="548640"/>
          </a:xfrm>
          <a:prstGeom prst="roundRect">
            <a:avLst>
              <a:gd name="adj" fmla="val 13333"/>
            </a:avLst>
          </a:prstGeom>
          <a:solidFill>
            <a:srgbClr val="FAFAFA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833104" y="4615942"/>
            <a:ext cx="1947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Limits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833104" y="4965192"/>
            <a:ext cx="1947672" cy="45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data quality • validation • claims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1567160" y="651052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50" dirty="0">
                <a:solidFill>
                  <a:srgbClr val="999999"/>
                </a:solidFill>
              </a:rPr>
              <a:t>4</a:t>
            </a:r>
            <a:endParaRPr lang="en-US" sz="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8872"/>
            <a:ext cx="12191695" cy="8229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56032" y="3474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292840" y="3474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7132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2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Transition: model results are not yet an AI workflow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11480" y="11704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Day 5 asks how predictive evidence becomes context for AI-assisted analysis, communication, and notebook generation.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2926080" cy="228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58368" y="2011680"/>
            <a:ext cx="1417320" cy="640080"/>
          </a:xfrm>
          <a:prstGeom prst="chevron">
            <a:avLst/>
          </a:prstGeom>
          <a:solidFill>
            <a:srgbClr val="E9F1FB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04088" y="2176272"/>
            <a:ext cx="132588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</a:rPr>
              <a:t>Data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76856" y="2011680"/>
            <a:ext cx="1417320" cy="640080"/>
          </a:xfrm>
          <a:prstGeom prst="chevron">
            <a:avLst/>
          </a:prstGeom>
          <a:solidFill>
            <a:srgbClr val="E8F5E9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322576" y="2176272"/>
            <a:ext cx="132588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</a:rPr>
              <a:t>Baseline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95344" y="2011680"/>
            <a:ext cx="1417320" cy="640080"/>
          </a:xfrm>
          <a:prstGeom prst="chevron">
            <a:avLst/>
          </a:prstGeom>
          <a:solidFill>
            <a:srgbClr val="FFF8E1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941064" y="2176272"/>
            <a:ext cx="132588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</a:rPr>
              <a:t>Model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513832" y="2011680"/>
            <a:ext cx="1417320" cy="640080"/>
          </a:xfrm>
          <a:prstGeom prst="chevron">
            <a:avLst/>
          </a:prstGeom>
          <a:solidFill>
            <a:srgbClr val="FFF3E0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559552" y="2176272"/>
            <a:ext cx="132588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</a:rPr>
              <a:t>Metrics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132320" y="2011680"/>
            <a:ext cx="1417320" cy="640080"/>
          </a:xfrm>
          <a:prstGeom prst="chevron">
            <a:avLst/>
          </a:prstGeom>
          <a:solidFill>
            <a:srgbClr val="F3E5F5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178040" y="2176272"/>
            <a:ext cx="132588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</a:rPr>
              <a:t>Evidence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</a:rPr>
              <a:t>package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750808" y="2011680"/>
            <a:ext cx="1417320" cy="640080"/>
          </a:xfrm>
          <a:prstGeom prst="chevron">
            <a:avLst/>
          </a:prstGeom>
          <a:solidFill>
            <a:srgbClr val="FFF2F2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796528" y="2176272"/>
            <a:ext cx="132588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</a:rPr>
              <a:t>LLM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</a:rPr>
              <a:t>workflow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369296" y="2011680"/>
            <a:ext cx="1417320" cy="640080"/>
          </a:xfrm>
          <a:prstGeom prst="chevron">
            <a:avLst/>
          </a:prstGeom>
          <a:solidFill>
            <a:srgbClr val="F5F5F5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415016" y="2176272"/>
            <a:ext cx="132588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</a:rPr>
              <a:t>Human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</a:rPr>
              <a:t>review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" y="36576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Day 5 working principle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4069080"/>
            <a:ext cx="1078992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2222"/>
                </a:solidFill>
              </a:rPr>
              <a:t>AI is useful when it is grounded in explicit evidence and constrained by human-validated assumptions, metrics, and limitations.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14400" y="507492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FFF8F8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60704" y="5193792"/>
            <a:ext cx="4462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CC0000"/>
                </a:solidFill>
              </a:rPr>
              <a:t>Do not ask only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60704" y="5486400"/>
            <a:ext cx="446227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“Can AI explain this?”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92240" y="507492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E8F5E9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638544" y="5193792"/>
            <a:ext cx="4462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222222"/>
                </a:solidFill>
              </a:rPr>
              <a:t>Ask instead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638544" y="5486400"/>
            <a:ext cx="446227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</a:rPr>
              <a:t>“What evidence can AI use, and what must it not claim?”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567160" y="651052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50" dirty="0">
                <a:solidFill>
                  <a:srgbClr val="999999"/>
                </a:solidFill>
              </a:rPr>
              <a:t>5</a:t>
            </a:r>
            <a:endParaRPr lang="en-US" sz="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8872"/>
            <a:ext cx="12191695" cy="8229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56032" y="3474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292840" y="3474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7132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2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Day 5 schedule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2926080" cy="228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92808" y="178308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CC0000"/>
                </a:solidFill>
              </a:rPr>
              <a:t>BLOCK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5824728" y="178308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CC0000"/>
                </a:solidFill>
              </a:rPr>
              <a:t>FOCUS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566928" y="2075688"/>
            <a:ext cx="10927080" cy="0"/>
          </a:xfrm>
          <a:prstGeom prst="line">
            <a:avLst/>
          </a:prstGeom>
          <a:noFill/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892808" y="2276856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Welcome and Day 5 framing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824728" y="2276856"/>
            <a:ext cx="5623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Connect Day 3–4 work to AI-enabled workflows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" y="2624328"/>
            <a:ext cx="1092708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892808" y="2752344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Session 1 — Evidence package synthesis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24728" y="2752344"/>
            <a:ext cx="5623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Problem, dataset, baseline, results, limitations, claim boundaries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099816"/>
            <a:ext cx="1092708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892808" y="322783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Session 2 — AI across the full ML pipeline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824728" y="3227832"/>
            <a:ext cx="5623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Framing, audit, leakage, features, pipeline, evaluation, communication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3575304"/>
            <a:ext cx="1092708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892808" y="370332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</a:rPr>
              <a:t>Invited presentation — LLM and AI Workflows on NCSU’s Hazel HPC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824728" y="3703320"/>
            <a:ext cx="5623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Scalable AI workflows and university computing resources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4050792"/>
            <a:ext cx="1092708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892808" y="4178808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Break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824728" y="4178808"/>
            <a:ext cx="5623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566928" y="4526280"/>
            <a:ext cx="1092708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892808" y="4654296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Session 3 — Guided LLM prompt chain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24728" y="4654296"/>
            <a:ext cx="5623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Seven-step prompt sequence with guardrails and human checkpoints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5001768"/>
            <a:ext cx="1092708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892808" y="5129784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Session 4 — Worked example: recreate the ML notebook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24728" y="5129784"/>
            <a:ext cx="5623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Prompts → notebook → baseline/model results → model card → validation checks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5477256"/>
            <a:ext cx="1092708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892808" y="560527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Open discussion, questions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824728" y="5605272"/>
            <a:ext cx="5623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Faculty applications, technical questions, next steps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5952744"/>
            <a:ext cx="1092708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11567160" y="651052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50" dirty="0">
                <a:solidFill>
                  <a:srgbClr val="999999"/>
                </a:solidFill>
              </a:rPr>
              <a:t>6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8872"/>
            <a:ext cx="12191695" cy="8229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56032" y="3474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292840" y="3474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7132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2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Day 5 learning objectives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11480" y="11704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By the end of Day 5, you should be able to use AI to support—not replace—a defensible ML workflow.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2926080" cy="228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73736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C0000"/>
                </a:solidFill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0" y="182880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Synthesize evidence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" y="2167128"/>
            <a:ext cx="318211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Convert Day 3–4 results into an evidence package that includes metrics, visuals, limitations, and claim boundaries.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43400" y="173736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E9F1FB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34840" y="18288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C0000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182880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Map AI utility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489704" y="2167128"/>
            <a:ext cx="318211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Identify where AI can assist with problem framing, data auditing, leakage review, feature generation, code, evaluation, and explanation.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83880" y="173736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E8F5E9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75320" y="18288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C0000"/>
                </a:solidFill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95360" y="182880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Prompt with guardrails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330184" y="2167128"/>
            <a:ext cx="318211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Use a guided prompt chain to generate notebook-ready markdown and code while preventing invented columns and unsupported claims.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24612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FF8E1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337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C0000"/>
                </a:solidFill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14400" y="333756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Audit generated artifacts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" y="3675888"/>
            <a:ext cx="318211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Check LLM-generated notebooks for leakage, preprocessing errors, metric mismatch, hallucinations, and causal overclaims.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43400" y="324612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3E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434840" y="3337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C0000"/>
                </a:solidFill>
              </a:rPr>
              <a:t>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54880" y="333756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Communicate responsibly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89704" y="3675888"/>
            <a:ext cx="318211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Produce audience-specific explanations and model-card summaries grounded in evidence and explicit limitations.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83880" y="324612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275320" y="3337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C0000"/>
                </a:solidFill>
              </a:rPr>
              <a:t>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95360" y="333756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Connect to implementation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330184" y="3675888"/>
            <a:ext cx="318211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Identify how AI workflows could support teaching, research, or lab operations while preserving human review.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05840" y="525780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C0000"/>
                </a:solidFill>
              </a:rPr>
              <a:t>Day 5 success criterion: participants can inspect, run, and defend AI-assisted ML artifacts.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567160" y="651052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50" dirty="0">
                <a:solidFill>
                  <a:srgbClr val="999999"/>
                </a:solidFill>
              </a:rPr>
              <a:t>7</a:t>
            </a:r>
            <a:endParaRPr lang="en-US" sz="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8872"/>
            <a:ext cx="12191695" cy="8229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56032" y="3474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550" dirty="0"/>
          </a:p>
        </p:txBody>
      </p:sp>
      <p:sp>
        <p:nvSpPr>
          <p:cNvPr id="4" name="Text 2"/>
          <p:cNvSpPr/>
          <p:nvPr/>
        </p:nvSpPr>
        <p:spPr>
          <a:xfrm>
            <a:off x="11292840" y="3474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5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</a:t>
            </a:r>
            <a:endParaRPr lang="en-US" sz="550" dirty="0"/>
          </a:p>
        </p:txBody>
      </p:sp>
      <p:sp>
        <p:nvSpPr>
          <p:cNvPr id="5" name="Text 3"/>
          <p:cNvSpPr/>
          <p:nvPr/>
        </p:nvSpPr>
        <p:spPr>
          <a:xfrm>
            <a:off x="411480" y="7132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2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Today’s learning activities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11480" y="11704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The activities are designed to move from evidence to implementation while keeping faculty in control of the analysis.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2926080" cy="228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2743200" cy="1051560"/>
          </a:xfrm>
          <a:prstGeom prst="roundRect">
            <a:avLst>
              <a:gd name="adj" fmla="val 8696"/>
            </a:avLst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87452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C0000"/>
                </a:solidFill>
              </a:rPr>
              <a:t>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51560" y="187452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</a:rPr>
              <a:t>Evidence package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86384" y="2212848"/>
            <a:ext cx="245059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Turn prior ML results into structured context that an AI system can use without inventing claims.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11880" y="1783080"/>
            <a:ext cx="2743200" cy="1051560"/>
          </a:xfrm>
          <a:prstGeom prst="roundRect">
            <a:avLst>
              <a:gd name="adj" fmla="val 8696"/>
            </a:avLst>
          </a:prstGeom>
          <a:solidFill>
            <a:srgbClr val="E9F1FB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703320" y="187452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C0000"/>
                </a:solidFill>
              </a:rPr>
              <a:t>B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023360" y="187452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</a:rPr>
              <a:t>AI pipeline map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758184" y="2212848"/>
            <a:ext cx="245059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Identify which stages are accelerated by AI and which require human validation or domain expertise.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0" y="1783080"/>
            <a:ext cx="2743200" cy="1051560"/>
          </a:xfrm>
          <a:prstGeom prst="roundRect">
            <a:avLst>
              <a:gd name="adj" fmla="val 8696"/>
            </a:avLst>
          </a:prstGeom>
          <a:solidFill>
            <a:srgbClr val="E8F5E9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675120" y="187452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C0000"/>
                </a:solidFill>
              </a:rPr>
              <a:t>C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995160" y="187452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</a:rPr>
              <a:t>Prompt chain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729984" y="2212848"/>
            <a:ext cx="245059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Use seven controlled prompts to create notebook sections, code, metrics, interpretation, and a model card.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555480" y="1783080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FFF8E1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646920" y="187452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C0000"/>
                </a:solidFill>
              </a:rPr>
              <a:t>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66960" y="187452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</a:rPr>
              <a:t>Worked example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01784" y="2212848"/>
            <a:ext cx="185623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Follow a complete defect-classification example from prompt to notebook to validation checks.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36576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Learning mode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3152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FAFAFA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77824" y="4187952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222222"/>
                </a:solidFill>
              </a:rPr>
              <a:t>Instructor demo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77824" y="4480560"/>
            <a:ext cx="28163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Show the evidence → prompt → notebook → validation workflow.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16052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FAFAFA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306824" y="4187952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Faculty audit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306824" y="4480560"/>
            <a:ext cx="28163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Identify invented columns, leakage, metric mismatch, and causal overclaims.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8952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FAFAFA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735824" y="4187952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222222"/>
                </a:solidFill>
              </a:rPr>
              <a:t>Discussion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735824" y="4480560"/>
            <a:ext cx="28163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</a:rPr>
              <a:t>Translate the workflow to faculty research, teaching, and lab contexts.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14400" y="565099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22222"/>
                </a:solidFill>
              </a:rPr>
              <a:t>Key phrase for the day: AI drafts the artifact; validate the assumptions, workflow, metrics, and claims.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567160" y="651052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50" dirty="0">
                <a:solidFill>
                  <a:srgbClr val="999999"/>
                </a:solidFill>
              </a:rPr>
              <a:t>8</a:t>
            </a:r>
            <a:endParaRPr lang="en-US" sz="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1075</Words>
  <Application>Microsoft Office PowerPoint</Application>
  <PresentationFormat>Widescreen</PresentationFormat>
  <Paragraphs>187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NC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5 Introduction — From Machine Learning to AI-Enabled Workflows</dc:title>
  <dc:subject>Applied AI Design Workshop for Faculty</dc:subject>
  <dc:creator>Fred Livingston</dc:creator>
  <cp:lastModifiedBy>Fred Livingston</cp:lastModifiedBy>
  <cp:revision>9</cp:revision>
  <dcterms:created xsi:type="dcterms:W3CDTF">2026-07-17T07:31:01Z</dcterms:created>
  <dcterms:modified xsi:type="dcterms:W3CDTF">2026-07-17T15:10:15Z</dcterms:modified>
</cp:coreProperties>
</file>