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0"/>
  </p:notesMasterIdLst>
  <p:sldIdLst>
    <p:sldId id="256" r:id="rId2"/>
    <p:sldId id="258" r:id="rId3"/>
    <p:sldId id="262" r:id="rId4"/>
    <p:sldId id="260" r:id="rId5"/>
    <p:sldId id="263" r:id="rId6"/>
    <p:sldId id="264" r:id="rId7"/>
    <p:sldId id="265" r:id="rId8"/>
    <p:sldId id="266" r:id="rId9"/>
    <p:sldId id="267" r:id="rId10"/>
    <p:sldId id="268" r:id="rId11"/>
    <p:sldId id="269" r:id="rId12"/>
    <p:sldId id="270" r:id="rId13"/>
    <p:sldId id="271" r:id="rId14"/>
    <p:sldId id="275" r:id="rId15"/>
    <p:sldId id="272" r:id="rId16"/>
    <p:sldId id="273" r:id="rId17"/>
    <p:sldId id="261" r:id="rId18"/>
    <p:sldId id="274" r:id="rId19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63" d="100"/>
          <a:sy n="63" d="100"/>
        </p:scale>
        <p:origin x="780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27255443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49F26A-6F5E-B0E5-7A12-3557B00E0F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7642E2E-DE70-1F93-B2FF-C46041D205D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38F42C0-C6A3-B3E1-2FC5-A58A4A6CE8C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9EC8510-C18E-FEED-79B2-B73A46F6992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93021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NC State Engineering -- ANS / Conferences / 2021 Student Conference">
            <a:extLst>
              <a:ext uri="{FF2B5EF4-FFF2-40B4-BE49-F238E27FC236}">
                <a16:creationId xmlns:a16="http://schemas.microsoft.com/office/drawing/2014/main" id="{8F3784AA-2818-E7AF-6E6A-BD6117BEBCF5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9203457" y="81291"/>
            <a:ext cx="1551223" cy="432403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MASTER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6104402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21792" y="475488"/>
            <a:ext cx="3017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CC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DAY 5 · Session 1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621792" y="987552"/>
            <a:ext cx="98755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400" b="1" dirty="0">
                <a:solidFill>
                  <a:srgbClr val="1F29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Evidence package synthesis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621792" y="2029968"/>
            <a:ext cx="96926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4B55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Build an AI evidence package from prior workshop results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21792" y="2788920"/>
            <a:ext cx="2011680" cy="73152"/>
          </a:xfrm>
          <a:prstGeom prst="rect">
            <a:avLst/>
          </a:prstGeom>
          <a:solidFill>
            <a:srgbClr val="CC0000"/>
          </a:solidFill>
          <a:ln w="12700">
            <a:solidFill>
              <a:srgbClr val="CC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621792" y="5230368"/>
            <a:ext cx="7589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F29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Applied AI Design Workshop for Faculty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1F29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Fred Livingston (fjliving@ncsu.edu) 2026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716768" y="6199632"/>
            <a:ext cx="2743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4B5563"/>
                </a:solidFill>
              </a:rPr>
              <a:t>1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01168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CC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APPLIED AI DESIGN WORKSHOP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10012680" y="201168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4B55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Session 1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502920" y="502920"/>
            <a:ext cx="10469880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594360" y="713232"/>
            <a:ext cx="100584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1F29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Purpose: convert prior work into AI-ready evidence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10716768" y="6199632"/>
            <a:ext cx="2743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4B5563"/>
                </a:solidFill>
              </a:rPr>
              <a:t>3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685800" y="1417320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CC0000"/>
                </a:solidFill>
              </a:rPr>
              <a:t>What participants already created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731520" y="1874520"/>
            <a:ext cx="4572000" cy="35661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177800" indent="-177800">
              <a:buSzPct val="100000"/>
              <a:buChar char="•"/>
            </a:pPr>
            <a:r>
              <a:rPr lang="en-US" sz="1500" dirty="0">
                <a:solidFill>
                  <a:srgbClr val="1F29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Problem statements</a:t>
            </a:r>
            <a:endParaRPr lang="en-US" sz="1500" dirty="0"/>
          </a:p>
          <a:p>
            <a:pPr marL="177800" indent="-177800">
              <a:buSzPct val="100000"/>
              <a:buChar char="•"/>
            </a:pPr>
            <a:r>
              <a:rPr lang="en-US" sz="1500" dirty="0">
                <a:solidFill>
                  <a:srgbClr val="1F29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Regression or classification metrics</a:t>
            </a:r>
            <a:endParaRPr lang="en-US" sz="1500" dirty="0"/>
          </a:p>
          <a:p>
            <a:pPr marL="177800" indent="-177800">
              <a:buSzPct val="100000"/>
              <a:buChar char="•"/>
            </a:pPr>
            <a:r>
              <a:rPr lang="en-US" sz="1500" dirty="0">
                <a:solidFill>
                  <a:srgbClr val="1F29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Baseline comparisons</a:t>
            </a:r>
            <a:endParaRPr lang="en-US" sz="1500" dirty="0"/>
          </a:p>
          <a:p>
            <a:pPr marL="177800" indent="-177800">
              <a:buSzPct val="100000"/>
              <a:buChar char="•"/>
            </a:pPr>
            <a:r>
              <a:rPr lang="en-US" sz="1500" dirty="0">
                <a:solidFill>
                  <a:srgbClr val="1F29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Data-preparation decisions</a:t>
            </a:r>
            <a:endParaRPr lang="en-US" sz="1500" dirty="0"/>
          </a:p>
          <a:p>
            <a:pPr marL="177800" indent="-177800">
              <a:buSzPct val="100000"/>
              <a:buChar char="•"/>
            </a:pPr>
            <a:r>
              <a:rPr lang="en-US" sz="1500" dirty="0">
                <a:solidFill>
                  <a:srgbClr val="1F29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Feature-engineering rationale</a:t>
            </a:r>
            <a:endParaRPr lang="en-US" sz="1500" dirty="0"/>
          </a:p>
          <a:p>
            <a:pPr marL="177800" indent="-177800">
              <a:buSzPct val="100000"/>
              <a:buChar char="•"/>
            </a:pPr>
            <a:r>
              <a:rPr lang="en-US" sz="1500" dirty="0">
                <a:solidFill>
                  <a:srgbClr val="1F29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Cluster profiles or PCA views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5669280" y="1417320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CC0000"/>
                </a:solidFill>
              </a:rPr>
              <a:t>What AI needs to stay grounded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5715000" y="1874520"/>
            <a:ext cx="4572000" cy="35661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177800" indent="-177800">
              <a:buSzPct val="100000"/>
              <a:buChar char="•"/>
            </a:pPr>
            <a:r>
              <a:rPr lang="en-US" sz="1500" dirty="0">
                <a:solidFill>
                  <a:srgbClr val="1F29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Clear source context</a:t>
            </a:r>
            <a:endParaRPr lang="en-US" sz="1500" dirty="0"/>
          </a:p>
          <a:p>
            <a:pPr marL="177800" indent="-177800">
              <a:buSzPct val="100000"/>
              <a:buChar char="•"/>
            </a:pPr>
            <a:r>
              <a:rPr lang="en-US" sz="1500" dirty="0">
                <a:solidFill>
                  <a:srgbClr val="1F29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Metrics and visuals</a:t>
            </a:r>
            <a:endParaRPr lang="en-US" sz="1500" dirty="0"/>
          </a:p>
          <a:p>
            <a:pPr marL="177800" indent="-177800">
              <a:buSzPct val="100000"/>
              <a:buChar char="•"/>
            </a:pPr>
            <a:r>
              <a:rPr lang="en-US" sz="1500" dirty="0">
                <a:solidFill>
                  <a:srgbClr val="1F29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Known limitations</a:t>
            </a:r>
            <a:endParaRPr lang="en-US" sz="1500" dirty="0"/>
          </a:p>
          <a:p>
            <a:pPr marL="177800" indent="-177800">
              <a:buSzPct val="100000"/>
              <a:buChar char="•"/>
            </a:pPr>
            <a:r>
              <a:rPr lang="en-US" sz="1500" dirty="0">
                <a:solidFill>
                  <a:srgbClr val="1F29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Definitions of inputs and targets</a:t>
            </a:r>
            <a:endParaRPr lang="en-US" sz="1500" dirty="0"/>
          </a:p>
          <a:p>
            <a:pPr marL="177800" indent="-177800">
              <a:buSzPct val="100000"/>
              <a:buChar char="•"/>
            </a:pPr>
            <a:r>
              <a:rPr lang="en-US" sz="1500" dirty="0">
                <a:solidFill>
                  <a:srgbClr val="1F29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Boundaries on claims</a:t>
            </a:r>
            <a:endParaRPr lang="en-US" sz="1500" dirty="0"/>
          </a:p>
          <a:p>
            <a:pPr marL="177800" indent="-177800">
              <a:buSzPct val="100000"/>
              <a:buChar char="•"/>
            </a:pPr>
            <a:r>
              <a:rPr lang="en-US" sz="1500" dirty="0">
                <a:solidFill>
                  <a:srgbClr val="1F29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Human review criteria</a:t>
            </a:r>
            <a:endParaRPr lang="en-US" sz="15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01168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CC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APPLIED AI DESIGN WORKSHOP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9509760" y="201168"/>
            <a:ext cx="1783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4B55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Session 1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502920" y="502920"/>
            <a:ext cx="10469880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594360" y="713232"/>
            <a:ext cx="101041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1F29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Activity: purpose and outputs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10716768" y="6199632"/>
            <a:ext cx="2743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4B5563"/>
                </a:solidFill>
              </a:rPr>
              <a:t>2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731520" y="1325880"/>
            <a:ext cx="10332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20000"/>
          </a:bodyPr>
          <a:lstStyle/>
          <a:p>
            <a:pPr marL="0" indent="0">
              <a:buNone/>
            </a:pPr>
            <a:r>
              <a:rPr lang="en-US" sz="2100" b="1" dirty="0">
                <a:solidFill>
                  <a:srgbClr val="1F2933"/>
                </a:solidFill>
              </a:rPr>
              <a:t>Convert prior ML work into a concise evidence package that an AI system can use without inventing claims.</a:t>
            </a:r>
            <a:endParaRPr lang="en-US" sz="2100" dirty="0"/>
          </a:p>
        </p:txBody>
      </p:sp>
      <p:sp>
        <p:nvSpPr>
          <p:cNvPr id="8" name="Shape 6"/>
          <p:cNvSpPr/>
          <p:nvPr/>
        </p:nvSpPr>
        <p:spPr>
          <a:xfrm>
            <a:off x="777240" y="2148840"/>
            <a:ext cx="1691640" cy="685800"/>
          </a:xfrm>
          <a:prstGeom prst="roundRect">
            <a:avLst>
              <a:gd name="adj" fmla="val 8000"/>
            </a:avLst>
          </a:prstGeom>
          <a:solidFill>
            <a:srgbClr val="EAF3FB"/>
          </a:solidFill>
          <a:ln w="12700">
            <a:solidFill>
              <a:srgbClr val="CC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850392" y="2331720"/>
            <a:ext cx="154533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F2933"/>
                </a:solidFill>
              </a:rPr>
              <a:t>Day 3–4 evidence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2496312" y="2350008"/>
            <a:ext cx="265176" cy="256032"/>
          </a:xfrm>
          <a:prstGeom prst="rightArrow">
            <a:avLst/>
          </a:prstGeom>
          <a:solidFill>
            <a:srgbClr val="E5E7EB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2788920" y="2148840"/>
            <a:ext cx="1691640" cy="685800"/>
          </a:xfrm>
          <a:prstGeom prst="roundRect">
            <a:avLst>
              <a:gd name="adj" fmla="val 8000"/>
            </a:avLst>
          </a:prstGeom>
          <a:solidFill>
            <a:srgbClr val="EAF3FB"/>
          </a:solidFill>
          <a:ln w="12700">
            <a:solidFill>
              <a:srgbClr val="CC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2862072" y="2331720"/>
            <a:ext cx="154533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F2933"/>
                </a:solidFill>
              </a:rPr>
              <a:t>Model result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4507992" y="2350008"/>
            <a:ext cx="265176" cy="256032"/>
          </a:xfrm>
          <a:prstGeom prst="rightArrow">
            <a:avLst/>
          </a:prstGeom>
          <a:solidFill>
            <a:srgbClr val="E5E7EB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4800600" y="2148840"/>
            <a:ext cx="1691640" cy="685800"/>
          </a:xfrm>
          <a:prstGeom prst="roundRect">
            <a:avLst>
              <a:gd name="adj" fmla="val 8000"/>
            </a:avLst>
          </a:prstGeom>
          <a:solidFill>
            <a:srgbClr val="EAF3FB"/>
          </a:solidFill>
          <a:ln w="12700">
            <a:solidFill>
              <a:srgbClr val="CC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4873752" y="2331720"/>
            <a:ext cx="154533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F2933"/>
                </a:solidFill>
              </a:rPr>
              <a:t>Limitations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6519672" y="2350008"/>
            <a:ext cx="265176" cy="256032"/>
          </a:xfrm>
          <a:prstGeom prst="rightArrow">
            <a:avLst/>
          </a:prstGeom>
          <a:solidFill>
            <a:srgbClr val="E5E7EB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6812280" y="2148840"/>
            <a:ext cx="1691640" cy="685800"/>
          </a:xfrm>
          <a:prstGeom prst="roundRect">
            <a:avLst>
              <a:gd name="adj" fmla="val 8000"/>
            </a:avLst>
          </a:prstGeom>
          <a:solidFill>
            <a:srgbClr val="EAF3FB"/>
          </a:solidFill>
          <a:ln w="12700">
            <a:solidFill>
              <a:srgbClr val="CC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6885432" y="2331720"/>
            <a:ext cx="154533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F2933"/>
                </a:solidFill>
              </a:rPr>
              <a:t>Grounded prompt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8531352" y="2350008"/>
            <a:ext cx="265176" cy="256032"/>
          </a:xfrm>
          <a:prstGeom prst="rightArrow">
            <a:avLst/>
          </a:prstGeom>
          <a:solidFill>
            <a:srgbClr val="E5E7EB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8823960" y="2148840"/>
            <a:ext cx="1691640" cy="685800"/>
          </a:xfrm>
          <a:prstGeom prst="roundRect">
            <a:avLst>
              <a:gd name="adj" fmla="val 8000"/>
            </a:avLst>
          </a:prstGeom>
          <a:solidFill>
            <a:srgbClr val="EAF3FB"/>
          </a:solidFill>
          <a:ln w="12700">
            <a:solidFill>
              <a:srgbClr val="CC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8897112" y="2331720"/>
            <a:ext cx="154533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F2933"/>
                </a:solidFill>
              </a:rPr>
              <a:t>AI response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822960" y="3429000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CC0000"/>
                </a:solidFill>
              </a:rPr>
              <a:t>Completed package should answer: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960120" y="3886200"/>
            <a:ext cx="9692640" cy="15544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177800" indent="-177800">
              <a:buSzPct val="100000"/>
              <a:buChar char="•"/>
            </a:pPr>
            <a:r>
              <a:rPr lang="en-US" sz="1800" dirty="0">
                <a:solidFill>
                  <a:srgbClr val="1F29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What evidence do we have?</a:t>
            </a:r>
            <a:endParaRPr lang="en-US" sz="1800" dirty="0"/>
          </a:p>
          <a:p>
            <a:pPr marL="177800" indent="-177800">
              <a:buSzPct val="100000"/>
              <a:buChar char="•"/>
            </a:pPr>
            <a:r>
              <a:rPr lang="en-US" sz="1800" dirty="0">
                <a:solidFill>
                  <a:srgbClr val="1F29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What does it support?</a:t>
            </a:r>
            <a:endParaRPr lang="en-US" sz="1800" dirty="0"/>
          </a:p>
          <a:p>
            <a:pPr marL="177800" indent="-177800">
              <a:buSzPct val="100000"/>
              <a:buChar char="•"/>
            </a:pPr>
            <a:r>
              <a:rPr lang="en-US" sz="1800" dirty="0">
                <a:solidFill>
                  <a:srgbClr val="1F29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What does it not support?</a:t>
            </a:r>
            <a:endParaRPr lang="en-US" sz="1800" dirty="0"/>
          </a:p>
          <a:p>
            <a:pPr marL="177800" indent="-177800">
              <a:buSzPct val="100000"/>
              <a:buChar char="•"/>
            </a:pPr>
            <a:r>
              <a:rPr lang="en-US" sz="1800" dirty="0">
                <a:solidFill>
                  <a:srgbClr val="1F29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How should an AI system use it?</a:t>
            </a:r>
            <a:endParaRPr lang="en-US" sz="1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01168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CC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APPLIED AI DESIGN WORKSHOP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10012680" y="201168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4B55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Session 1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502920" y="502920"/>
            <a:ext cx="10469880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594360" y="713232"/>
            <a:ext cx="100584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1F29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Evidence package template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10716768" y="6199632"/>
            <a:ext cx="2743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4B5563"/>
                </a:solidFill>
              </a:rPr>
              <a:t>5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822960" y="1417320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CC0000"/>
                </a:solidFill>
              </a:rPr>
              <a:t>Problem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2743200" y="1581912"/>
            <a:ext cx="7772400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822960" y="1947672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CC0000"/>
                </a:solidFill>
              </a:rPr>
              <a:t>Dataset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2743200" y="2112264"/>
            <a:ext cx="7772400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822960" y="2478024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CC0000"/>
                </a:solidFill>
              </a:rPr>
              <a:t>Model or method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2743200" y="2642616"/>
            <a:ext cx="7772400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822960" y="3008376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CC0000"/>
                </a:solidFill>
              </a:rPr>
              <a:t>Metric/result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2743200" y="3172968"/>
            <a:ext cx="7772400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822960" y="3538728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CC0000"/>
                </a:solidFill>
              </a:rPr>
              <a:t>Visualization/table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2743200" y="3703320"/>
            <a:ext cx="7772400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822960" y="4069080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CC0000"/>
                </a:solidFill>
              </a:rPr>
              <a:t>Limitations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2743200" y="4233672"/>
            <a:ext cx="7772400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822960" y="4599432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CC0000"/>
                </a:solidFill>
              </a:rPr>
              <a:t>Human decision</a:t>
            </a:r>
            <a:endParaRPr lang="en-US" sz="1500" dirty="0"/>
          </a:p>
        </p:txBody>
      </p:sp>
      <p:sp>
        <p:nvSpPr>
          <p:cNvPr id="20" name="Shape 18"/>
          <p:cNvSpPr/>
          <p:nvPr/>
        </p:nvSpPr>
        <p:spPr>
          <a:xfrm>
            <a:off x="2743200" y="4764024"/>
            <a:ext cx="7772400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822960" y="5394960"/>
            <a:ext cx="9692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F2933"/>
                </a:solidFill>
              </a:rPr>
              <a:t>Keep this packet concise: the AI system should use it as grounding context, not as a replacement for disciplinary judgment.</a:t>
            </a:r>
            <a:endParaRPr lang="en-US" sz="1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01168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CC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APPLIED AI DESIGN WORKSHOP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9509760" y="201168"/>
            <a:ext cx="1783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4B55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Session 1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502920" y="502920"/>
            <a:ext cx="10469880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594360" y="713232"/>
            <a:ext cx="101041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1F29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Guided scenario: predicting defective process runs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10716768" y="6199632"/>
            <a:ext cx="2743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4B5563"/>
                </a:solidFill>
              </a:rPr>
              <a:t>3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777240" y="1417320"/>
            <a:ext cx="10149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10000"/>
          </a:bodyPr>
          <a:lstStyle/>
          <a:p>
            <a:pPr marL="0" indent="0">
              <a:buNone/>
            </a:pPr>
            <a:r>
              <a:rPr lang="en-US" sz="2200" b="1" dirty="0">
                <a:solidFill>
                  <a:srgbClr val="1F2933"/>
                </a:solidFill>
              </a:rPr>
              <a:t>A faculty research group wants to determine whether process measurements can help identify manufacturing runs likely to produce a defect.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777240" y="2331720"/>
            <a:ext cx="2148840" cy="484632"/>
          </a:xfrm>
          <a:prstGeom prst="rect">
            <a:avLst/>
          </a:prstGeom>
          <a:solidFill>
            <a:srgbClr val="FDEAEA"/>
          </a:solidFill>
          <a:ln w="889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832104" y="2404872"/>
            <a:ext cx="2039112" cy="37490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CC0000"/>
                </a:solidFill>
              </a:rPr>
              <a:t>Element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2926080" y="2331720"/>
            <a:ext cx="7955280" cy="484632"/>
          </a:xfrm>
          <a:prstGeom prst="rect">
            <a:avLst/>
          </a:prstGeom>
          <a:solidFill>
            <a:srgbClr val="FDEAEA"/>
          </a:solidFill>
          <a:ln w="889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2980944" y="2404872"/>
            <a:ext cx="7845552" cy="37490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CC0000"/>
                </a:solidFill>
              </a:rPr>
              <a:t>Guided example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777240" y="2816352"/>
            <a:ext cx="2148840" cy="484632"/>
          </a:xfrm>
          <a:prstGeom prst="rect">
            <a:avLst/>
          </a:prstGeom>
          <a:solidFill>
            <a:srgbClr val="FFFFFF"/>
          </a:solidFill>
          <a:ln w="889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832104" y="2889504"/>
            <a:ext cx="2039112" cy="37490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1F2933"/>
                </a:solidFill>
              </a:rPr>
              <a:t>Intended user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2926080" y="2816352"/>
            <a:ext cx="7955280" cy="484632"/>
          </a:xfrm>
          <a:prstGeom prst="rect">
            <a:avLst/>
          </a:prstGeom>
          <a:solidFill>
            <a:srgbClr val="FFFFFF"/>
          </a:solidFill>
          <a:ln w="889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2980944" y="2889504"/>
            <a:ext cx="7845552" cy="37490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1F2933"/>
                </a:solidFill>
              </a:rPr>
              <a:t>Process engineer or laboratory researcher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777240" y="3300984"/>
            <a:ext cx="2148840" cy="484632"/>
          </a:xfrm>
          <a:prstGeom prst="rect">
            <a:avLst/>
          </a:prstGeom>
          <a:solidFill>
            <a:srgbClr val="F8FAFC"/>
          </a:solidFill>
          <a:ln w="889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832104" y="3374136"/>
            <a:ext cx="2039112" cy="37490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1F2933"/>
                </a:solidFill>
              </a:rPr>
              <a:t>Decision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2926080" y="3300984"/>
            <a:ext cx="7955280" cy="484632"/>
          </a:xfrm>
          <a:prstGeom prst="rect">
            <a:avLst/>
          </a:prstGeom>
          <a:solidFill>
            <a:srgbClr val="F8FAFC"/>
          </a:solidFill>
          <a:ln w="889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2980944" y="3374136"/>
            <a:ext cx="7845552" cy="37490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1F2933"/>
                </a:solidFill>
              </a:rPr>
              <a:t>Flag runs for additional inspection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777240" y="3785616"/>
            <a:ext cx="2148840" cy="484632"/>
          </a:xfrm>
          <a:prstGeom prst="rect">
            <a:avLst/>
          </a:prstGeom>
          <a:solidFill>
            <a:srgbClr val="FFFFFF"/>
          </a:solidFill>
          <a:ln w="889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832104" y="3858768"/>
            <a:ext cx="2039112" cy="37490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1F2933"/>
                </a:solidFill>
              </a:rPr>
              <a:t>Unit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2926080" y="3785616"/>
            <a:ext cx="7955280" cy="484632"/>
          </a:xfrm>
          <a:prstGeom prst="rect">
            <a:avLst/>
          </a:prstGeom>
          <a:solidFill>
            <a:srgbClr val="FFFFFF"/>
          </a:solidFill>
          <a:ln w="889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2980944" y="3858768"/>
            <a:ext cx="7845552" cy="37490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1F2933"/>
                </a:solidFill>
              </a:rPr>
              <a:t>One manufacturing process run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777240" y="4270248"/>
            <a:ext cx="2148840" cy="484632"/>
          </a:xfrm>
          <a:prstGeom prst="rect">
            <a:avLst/>
          </a:prstGeom>
          <a:solidFill>
            <a:srgbClr val="F8FAFC"/>
          </a:solidFill>
          <a:ln w="889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832104" y="4343400"/>
            <a:ext cx="2039112" cy="37490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1F2933"/>
                </a:solidFill>
              </a:rPr>
              <a:t>Target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2926080" y="4270248"/>
            <a:ext cx="7955280" cy="484632"/>
          </a:xfrm>
          <a:prstGeom prst="rect">
            <a:avLst/>
          </a:prstGeom>
          <a:solidFill>
            <a:srgbClr val="F8FAFC"/>
          </a:solidFill>
          <a:ln w="889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2980944" y="4343400"/>
            <a:ext cx="7845552" cy="37490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1F2933"/>
                </a:solidFill>
              </a:rPr>
              <a:t>Defect vs. acceptable</a:t>
            </a:r>
            <a:endParaRPr lang="en-US" sz="1400" dirty="0"/>
          </a:p>
        </p:txBody>
      </p:sp>
      <p:sp>
        <p:nvSpPr>
          <p:cNvPr id="28" name="Shape 26"/>
          <p:cNvSpPr/>
          <p:nvPr/>
        </p:nvSpPr>
        <p:spPr>
          <a:xfrm>
            <a:off x="777240" y="4754880"/>
            <a:ext cx="2148840" cy="484632"/>
          </a:xfrm>
          <a:prstGeom prst="rect">
            <a:avLst/>
          </a:prstGeom>
          <a:solidFill>
            <a:srgbClr val="FFFFFF"/>
          </a:solidFill>
          <a:ln w="889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832104" y="4828032"/>
            <a:ext cx="2039112" cy="37490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1F2933"/>
                </a:solidFill>
              </a:rPr>
              <a:t>Model role</a:t>
            </a:r>
            <a:endParaRPr lang="en-US" sz="1400" dirty="0"/>
          </a:p>
        </p:txBody>
      </p:sp>
      <p:sp>
        <p:nvSpPr>
          <p:cNvPr id="30" name="Shape 28"/>
          <p:cNvSpPr/>
          <p:nvPr/>
        </p:nvSpPr>
        <p:spPr>
          <a:xfrm>
            <a:off x="2926080" y="4754880"/>
            <a:ext cx="7955280" cy="484632"/>
          </a:xfrm>
          <a:prstGeom prst="rect">
            <a:avLst/>
          </a:prstGeom>
          <a:solidFill>
            <a:srgbClr val="FFFFFF"/>
          </a:solidFill>
          <a:ln w="889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2980944" y="4828032"/>
            <a:ext cx="7845552" cy="37490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1F2933"/>
                </a:solidFill>
              </a:rPr>
              <a:t>Decision support, not automatic approval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868680" y="5486400"/>
            <a:ext cx="9692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CC0000"/>
                </a:solidFill>
              </a:rPr>
              <a:t>Key framing question: what decision would change if the evidence were reliable?</a:t>
            </a:r>
            <a:endParaRPr lang="en-US" sz="17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01168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CC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APPLIED AI DESIGN WORKSHOP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9509760" y="201168"/>
            <a:ext cx="1783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4B55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Session 1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502920" y="502920"/>
            <a:ext cx="10469880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594360" y="713232"/>
            <a:ext cx="101041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1F29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Step 1: state the problem precisely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10716768" y="6199632"/>
            <a:ext cx="2743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4B5563"/>
                </a:solidFill>
              </a:rPr>
              <a:t>4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777240" y="1417320"/>
            <a:ext cx="10149840" cy="1078992"/>
          </a:xfrm>
          <a:prstGeom prst="roundRect">
            <a:avLst>
              <a:gd name="adj" fmla="val 6780"/>
            </a:avLst>
          </a:prstGeom>
          <a:solidFill>
            <a:srgbClr val="FDEAEA"/>
          </a:solidFill>
          <a:ln w="15240">
            <a:solidFill>
              <a:srgbClr val="CC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1051560" y="1691640"/>
            <a:ext cx="9601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77500" lnSpcReduction="20000"/>
          </a:bodyPr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F2933"/>
                </a:solidFill>
              </a:rPr>
              <a:t>Can process temperature, pressure, speed, and vibration be used to predict whether a manufacturing run will produce a defective part?</a:t>
            </a:r>
            <a:endParaRPr lang="en-US" sz="2200" dirty="0"/>
          </a:p>
        </p:txBody>
      </p:sp>
      <p:sp>
        <p:nvSpPr>
          <p:cNvPr id="9" name="Shape 7"/>
          <p:cNvSpPr/>
          <p:nvPr/>
        </p:nvSpPr>
        <p:spPr>
          <a:xfrm>
            <a:off x="914400" y="2971800"/>
            <a:ext cx="2103120" cy="512064"/>
          </a:xfrm>
          <a:prstGeom prst="rect">
            <a:avLst/>
          </a:prstGeom>
          <a:solidFill>
            <a:srgbClr val="FDEAEA"/>
          </a:solidFill>
          <a:ln w="889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969264" y="3044952"/>
            <a:ext cx="1993392" cy="40233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CC0000"/>
                </a:solidFill>
              </a:rPr>
              <a:t>Field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3017520" y="2971800"/>
            <a:ext cx="7680960" cy="512064"/>
          </a:xfrm>
          <a:prstGeom prst="rect">
            <a:avLst/>
          </a:prstGeom>
          <a:solidFill>
            <a:srgbClr val="FDEAEA"/>
          </a:solidFill>
          <a:ln w="889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3072384" y="3044952"/>
            <a:ext cx="7571232" cy="40233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CC0000"/>
                </a:solidFill>
              </a:rPr>
              <a:t>Entry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914400" y="3483864"/>
            <a:ext cx="2103120" cy="512064"/>
          </a:xfrm>
          <a:prstGeom prst="rect">
            <a:avLst/>
          </a:prstGeom>
          <a:solidFill>
            <a:srgbClr val="FFFFFF"/>
          </a:solidFill>
          <a:ln w="889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969264" y="3557016"/>
            <a:ext cx="1993392" cy="40233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1F2933"/>
                </a:solidFill>
              </a:rPr>
              <a:t>Inputs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3017520" y="3483864"/>
            <a:ext cx="7680960" cy="512064"/>
          </a:xfrm>
          <a:prstGeom prst="rect">
            <a:avLst/>
          </a:prstGeom>
          <a:solidFill>
            <a:srgbClr val="FFFFFF"/>
          </a:solidFill>
          <a:ln w="889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3072384" y="3557016"/>
            <a:ext cx="7571232" cy="40233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1F2933"/>
                </a:solidFill>
              </a:rPr>
              <a:t>Temperature, pressure, speed, vibration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914400" y="3995928"/>
            <a:ext cx="2103120" cy="512064"/>
          </a:xfrm>
          <a:prstGeom prst="rect">
            <a:avLst/>
          </a:prstGeom>
          <a:solidFill>
            <a:srgbClr val="F8FAFC"/>
          </a:solidFill>
          <a:ln w="889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969264" y="4069080"/>
            <a:ext cx="1993392" cy="40233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1F2933"/>
                </a:solidFill>
              </a:rPr>
              <a:t>Target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3017520" y="3995928"/>
            <a:ext cx="7680960" cy="512064"/>
          </a:xfrm>
          <a:prstGeom prst="rect">
            <a:avLst/>
          </a:prstGeom>
          <a:solidFill>
            <a:srgbClr val="F8FAFC"/>
          </a:solidFill>
          <a:ln w="889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3072384" y="4069080"/>
            <a:ext cx="7571232" cy="40233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1F2933"/>
                </a:solidFill>
              </a:rPr>
              <a:t>0 = acceptable; 1 = defective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914400" y="4507992"/>
            <a:ext cx="2103120" cy="512064"/>
          </a:xfrm>
          <a:prstGeom prst="rect">
            <a:avLst/>
          </a:prstGeom>
          <a:solidFill>
            <a:srgbClr val="FFFFFF"/>
          </a:solidFill>
          <a:ln w="889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969264" y="4581144"/>
            <a:ext cx="1993392" cy="40233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1F2933"/>
                </a:solidFill>
              </a:rPr>
              <a:t>Task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3017520" y="4507992"/>
            <a:ext cx="7680960" cy="512064"/>
          </a:xfrm>
          <a:prstGeom prst="rect">
            <a:avLst/>
          </a:prstGeom>
          <a:solidFill>
            <a:srgbClr val="FFFFFF"/>
          </a:solidFill>
          <a:ln w="889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3072384" y="4581144"/>
            <a:ext cx="7571232" cy="40233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1F2933"/>
                </a:solidFill>
              </a:rPr>
              <a:t>Binary classification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914400" y="5020056"/>
            <a:ext cx="2103120" cy="512064"/>
          </a:xfrm>
          <a:prstGeom prst="rect">
            <a:avLst/>
          </a:prstGeom>
          <a:solidFill>
            <a:srgbClr val="F8FAFC"/>
          </a:solidFill>
          <a:ln w="889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969264" y="5093208"/>
            <a:ext cx="1993392" cy="40233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1F2933"/>
                </a:solidFill>
              </a:rPr>
              <a:t>Metric priority</a:t>
            </a:r>
            <a:endParaRPr lang="en-US" sz="1400" dirty="0"/>
          </a:p>
        </p:txBody>
      </p:sp>
      <p:sp>
        <p:nvSpPr>
          <p:cNvPr id="27" name="Shape 25"/>
          <p:cNvSpPr/>
          <p:nvPr/>
        </p:nvSpPr>
        <p:spPr>
          <a:xfrm>
            <a:off x="3017520" y="5020056"/>
            <a:ext cx="7680960" cy="512064"/>
          </a:xfrm>
          <a:prstGeom prst="rect">
            <a:avLst/>
          </a:prstGeom>
          <a:solidFill>
            <a:srgbClr val="F8FAFC"/>
          </a:solidFill>
          <a:ln w="889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3072384" y="5093208"/>
            <a:ext cx="7571232" cy="40233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1F2933"/>
                </a:solidFill>
              </a:rPr>
              <a:t>Recall if missed defects are costly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01168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CC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APPLIED AI DESIGN WORKSHOP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9509760" y="201168"/>
            <a:ext cx="1783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4B55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Session 1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502920" y="502920"/>
            <a:ext cx="10469880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594360" y="713232"/>
            <a:ext cx="101041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1F29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Step 2: describe the dataset and class balance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10716768" y="6199632"/>
            <a:ext cx="2743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4B5563"/>
                </a:solidFill>
              </a:rPr>
              <a:t>5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822960" y="1417320"/>
            <a:ext cx="2194560" cy="1051560"/>
          </a:xfrm>
          <a:prstGeom prst="roundRect">
            <a:avLst>
              <a:gd name="adj" fmla="val 5217"/>
            </a:avLst>
          </a:prstGeom>
          <a:solidFill>
            <a:srgbClr val="FFFFFF"/>
          </a:solidFill>
          <a:ln w="15240">
            <a:solidFill>
              <a:srgbClr val="245B8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969264" y="1545336"/>
            <a:ext cx="19019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4B5563"/>
                </a:solidFill>
              </a:rPr>
              <a:t>Total process runs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969264" y="1801368"/>
            <a:ext cx="19019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245B8C"/>
                </a:solidFill>
              </a:rPr>
              <a:t>220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969264" y="2194560"/>
            <a:ext cx="190195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4B5563"/>
                </a:solidFill>
              </a:rPr>
              <a:t>rows / observations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3337560" y="1417320"/>
            <a:ext cx="2194560" cy="1051560"/>
          </a:xfrm>
          <a:prstGeom prst="roundRect">
            <a:avLst>
              <a:gd name="adj" fmla="val 5217"/>
            </a:avLst>
          </a:prstGeom>
          <a:solidFill>
            <a:srgbClr val="FFFFFF"/>
          </a:solidFill>
          <a:ln w="15240">
            <a:solidFill>
              <a:srgbClr val="2E7D3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3483864" y="1545336"/>
            <a:ext cx="19019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4B5563"/>
                </a:solidFill>
              </a:rPr>
              <a:t>Acceptable runs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3483864" y="1801368"/>
            <a:ext cx="19019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2E7D32"/>
                </a:solidFill>
              </a:rPr>
              <a:t>176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3483864" y="2194560"/>
            <a:ext cx="190195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4B5563"/>
                </a:solidFill>
              </a:rPr>
              <a:t>80% of dataset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5852160" y="1417320"/>
            <a:ext cx="2194560" cy="1051560"/>
          </a:xfrm>
          <a:prstGeom prst="roundRect">
            <a:avLst>
              <a:gd name="adj" fmla="val 5217"/>
            </a:avLst>
          </a:prstGeom>
          <a:solidFill>
            <a:srgbClr val="FFFFFF"/>
          </a:solidFill>
          <a:ln w="15240">
            <a:solidFill>
              <a:srgbClr val="CC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5998464" y="1545336"/>
            <a:ext cx="19019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4B5563"/>
                </a:solidFill>
              </a:rPr>
              <a:t>Defective runs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5998464" y="1801368"/>
            <a:ext cx="19019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CC0000"/>
                </a:solidFill>
              </a:rPr>
              <a:t>44</a:t>
            </a:r>
            <a:endParaRPr lang="en-US" sz="2400" dirty="0"/>
          </a:p>
        </p:txBody>
      </p:sp>
      <p:sp>
        <p:nvSpPr>
          <p:cNvPr id="18" name="Text 16"/>
          <p:cNvSpPr/>
          <p:nvPr/>
        </p:nvSpPr>
        <p:spPr>
          <a:xfrm>
            <a:off x="5998464" y="2194560"/>
            <a:ext cx="190195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4B5563"/>
                </a:solidFill>
              </a:rPr>
              <a:t>20% of dataset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8366760" y="1417320"/>
            <a:ext cx="2194560" cy="1051560"/>
          </a:xfrm>
          <a:prstGeom prst="roundRect">
            <a:avLst>
              <a:gd name="adj" fmla="val 5217"/>
            </a:avLst>
          </a:prstGeom>
          <a:solidFill>
            <a:srgbClr val="FFFFFF"/>
          </a:solidFill>
          <a:ln w="15240">
            <a:solidFill>
              <a:srgbClr val="B7791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8513064" y="1545336"/>
            <a:ext cx="19019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4B5563"/>
                </a:solidFill>
              </a:rPr>
              <a:t>Initial concern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8513064" y="1801368"/>
            <a:ext cx="19019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B7791F"/>
                </a:solidFill>
              </a:rPr>
              <a:t>Imbalance</a:t>
            </a:r>
            <a:endParaRPr lang="en-US" sz="2400" dirty="0"/>
          </a:p>
        </p:txBody>
      </p:sp>
      <p:sp>
        <p:nvSpPr>
          <p:cNvPr id="22" name="Text 20"/>
          <p:cNvSpPr/>
          <p:nvPr/>
        </p:nvSpPr>
        <p:spPr>
          <a:xfrm>
            <a:off x="8513064" y="2194560"/>
            <a:ext cx="190195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4B5563"/>
                </a:solidFill>
              </a:rPr>
              <a:t>accuracy may mislead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868680" y="3063240"/>
            <a:ext cx="2651760" cy="384048"/>
          </a:xfrm>
          <a:prstGeom prst="rect">
            <a:avLst/>
          </a:prstGeom>
          <a:solidFill>
            <a:srgbClr val="FDEAEA"/>
          </a:solidFill>
          <a:ln w="889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923544" y="3136392"/>
            <a:ext cx="2542032" cy="274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250" b="1" dirty="0">
                <a:solidFill>
                  <a:srgbClr val="CC0000"/>
                </a:solidFill>
              </a:rPr>
              <a:t>Variable</a:t>
            </a:r>
            <a:endParaRPr lang="en-US" sz="1250" dirty="0"/>
          </a:p>
        </p:txBody>
      </p:sp>
      <p:sp>
        <p:nvSpPr>
          <p:cNvPr id="25" name="Shape 23"/>
          <p:cNvSpPr/>
          <p:nvPr/>
        </p:nvSpPr>
        <p:spPr>
          <a:xfrm>
            <a:off x="3520440" y="3063240"/>
            <a:ext cx="7086600" cy="384048"/>
          </a:xfrm>
          <a:prstGeom prst="rect">
            <a:avLst/>
          </a:prstGeom>
          <a:solidFill>
            <a:srgbClr val="FDEAEA"/>
          </a:solidFill>
          <a:ln w="889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3575304" y="3136392"/>
            <a:ext cx="6976872" cy="274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250" b="1" dirty="0">
                <a:solidFill>
                  <a:srgbClr val="CC0000"/>
                </a:solidFill>
              </a:rPr>
              <a:t>Meaning</a:t>
            </a:r>
            <a:endParaRPr lang="en-US" sz="1250" dirty="0"/>
          </a:p>
        </p:txBody>
      </p:sp>
      <p:sp>
        <p:nvSpPr>
          <p:cNvPr id="27" name="Shape 25"/>
          <p:cNvSpPr/>
          <p:nvPr/>
        </p:nvSpPr>
        <p:spPr>
          <a:xfrm>
            <a:off x="868680" y="3447288"/>
            <a:ext cx="2651760" cy="384048"/>
          </a:xfrm>
          <a:prstGeom prst="rect">
            <a:avLst/>
          </a:prstGeom>
          <a:solidFill>
            <a:srgbClr val="FFFFFF"/>
          </a:solidFill>
          <a:ln w="889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923544" y="3520440"/>
            <a:ext cx="2542032" cy="274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250" b="1" dirty="0">
                <a:solidFill>
                  <a:srgbClr val="1F2933"/>
                </a:solidFill>
              </a:rPr>
              <a:t>temperature_c</a:t>
            </a:r>
            <a:endParaRPr lang="en-US" sz="1250" dirty="0"/>
          </a:p>
        </p:txBody>
      </p:sp>
      <p:sp>
        <p:nvSpPr>
          <p:cNvPr id="29" name="Shape 27"/>
          <p:cNvSpPr/>
          <p:nvPr/>
        </p:nvSpPr>
        <p:spPr>
          <a:xfrm>
            <a:off x="3520440" y="3447288"/>
            <a:ext cx="7086600" cy="384048"/>
          </a:xfrm>
          <a:prstGeom prst="rect">
            <a:avLst/>
          </a:prstGeom>
          <a:solidFill>
            <a:srgbClr val="FFFFFF"/>
          </a:solidFill>
          <a:ln w="889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3575304" y="3520440"/>
            <a:ext cx="6976872" cy="274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1F2933"/>
                </a:solidFill>
              </a:rPr>
              <a:t>Process temperature in degrees Celsius</a:t>
            </a:r>
            <a:endParaRPr lang="en-US" sz="1250" dirty="0"/>
          </a:p>
        </p:txBody>
      </p:sp>
      <p:sp>
        <p:nvSpPr>
          <p:cNvPr id="31" name="Shape 29"/>
          <p:cNvSpPr/>
          <p:nvPr/>
        </p:nvSpPr>
        <p:spPr>
          <a:xfrm>
            <a:off x="868680" y="3831336"/>
            <a:ext cx="2651760" cy="384048"/>
          </a:xfrm>
          <a:prstGeom prst="rect">
            <a:avLst/>
          </a:prstGeom>
          <a:solidFill>
            <a:srgbClr val="F8FAFC"/>
          </a:solidFill>
          <a:ln w="889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923544" y="3904488"/>
            <a:ext cx="2542032" cy="274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250" b="1" dirty="0">
                <a:solidFill>
                  <a:srgbClr val="1F2933"/>
                </a:solidFill>
              </a:rPr>
              <a:t>pressure_kpa</a:t>
            </a:r>
            <a:endParaRPr lang="en-US" sz="1250" dirty="0"/>
          </a:p>
        </p:txBody>
      </p:sp>
      <p:sp>
        <p:nvSpPr>
          <p:cNvPr id="33" name="Shape 31"/>
          <p:cNvSpPr/>
          <p:nvPr/>
        </p:nvSpPr>
        <p:spPr>
          <a:xfrm>
            <a:off x="3520440" y="3831336"/>
            <a:ext cx="7086600" cy="384048"/>
          </a:xfrm>
          <a:prstGeom prst="rect">
            <a:avLst/>
          </a:prstGeom>
          <a:solidFill>
            <a:srgbClr val="F8FAFC"/>
          </a:solidFill>
          <a:ln w="889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Text 32"/>
          <p:cNvSpPr/>
          <p:nvPr/>
        </p:nvSpPr>
        <p:spPr>
          <a:xfrm>
            <a:off x="3575304" y="3904488"/>
            <a:ext cx="6976872" cy="274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1F2933"/>
                </a:solidFill>
              </a:rPr>
              <a:t>Process pressure in kilopascals</a:t>
            </a:r>
            <a:endParaRPr lang="en-US" sz="1250" dirty="0"/>
          </a:p>
        </p:txBody>
      </p:sp>
      <p:sp>
        <p:nvSpPr>
          <p:cNvPr id="35" name="Shape 33"/>
          <p:cNvSpPr/>
          <p:nvPr/>
        </p:nvSpPr>
        <p:spPr>
          <a:xfrm>
            <a:off x="868680" y="4215384"/>
            <a:ext cx="2651760" cy="384048"/>
          </a:xfrm>
          <a:prstGeom prst="rect">
            <a:avLst/>
          </a:prstGeom>
          <a:solidFill>
            <a:srgbClr val="FFFFFF"/>
          </a:solidFill>
          <a:ln w="889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Text 34"/>
          <p:cNvSpPr/>
          <p:nvPr/>
        </p:nvSpPr>
        <p:spPr>
          <a:xfrm>
            <a:off x="923544" y="4288536"/>
            <a:ext cx="2542032" cy="274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250" b="1" dirty="0">
                <a:solidFill>
                  <a:srgbClr val="1F2933"/>
                </a:solidFill>
              </a:rPr>
              <a:t>speed_mm_s</a:t>
            </a:r>
            <a:endParaRPr lang="en-US" sz="1250" dirty="0"/>
          </a:p>
        </p:txBody>
      </p:sp>
      <p:sp>
        <p:nvSpPr>
          <p:cNvPr id="37" name="Shape 35"/>
          <p:cNvSpPr/>
          <p:nvPr/>
        </p:nvSpPr>
        <p:spPr>
          <a:xfrm>
            <a:off x="3520440" y="4215384"/>
            <a:ext cx="7086600" cy="384048"/>
          </a:xfrm>
          <a:prstGeom prst="rect">
            <a:avLst/>
          </a:prstGeom>
          <a:solidFill>
            <a:srgbClr val="FFFFFF"/>
          </a:solidFill>
          <a:ln w="889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Text 36"/>
          <p:cNvSpPr/>
          <p:nvPr/>
        </p:nvSpPr>
        <p:spPr>
          <a:xfrm>
            <a:off x="3575304" y="4288536"/>
            <a:ext cx="6976872" cy="274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1F2933"/>
                </a:solidFill>
              </a:rPr>
              <a:t>Process speed in millimeters per second</a:t>
            </a:r>
            <a:endParaRPr lang="en-US" sz="1250" dirty="0"/>
          </a:p>
        </p:txBody>
      </p:sp>
      <p:sp>
        <p:nvSpPr>
          <p:cNvPr id="39" name="Shape 37"/>
          <p:cNvSpPr/>
          <p:nvPr/>
        </p:nvSpPr>
        <p:spPr>
          <a:xfrm>
            <a:off x="868680" y="4599432"/>
            <a:ext cx="2651760" cy="384048"/>
          </a:xfrm>
          <a:prstGeom prst="rect">
            <a:avLst/>
          </a:prstGeom>
          <a:solidFill>
            <a:srgbClr val="F8FAFC"/>
          </a:solidFill>
          <a:ln w="889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" name="Text 38"/>
          <p:cNvSpPr/>
          <p:nvPr/>
        </p:nvSpPr>
        <p:spPr>
          <a:xfrm>
            <a:off x="923544" y="4672584"/>
            <a:ext cx="2542032" cy="274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250" b="1" dirty="0">
                <a:solidFill>
                  <a:srgbClr val="1F2933"/>
                </a:solidFill>
              </a:rPr>
              <a:t>vibration_mm_s</a:t>
            </a:r>
            <a:endParaRPr lang="en-US" sz="1250" dirty="0"/>
          </a:p>
        </p:txBody>
      </p:sp>
      <p:sp>
        <p:nvSpPr>
          <p:cNvPr id="41" name="Shape 39"/>
          <p:cNvSpPr/>
          <p:nvPr/>
        </p:nvSpPr>
        <p:spPr>
          <a:xfrm>
            <a:off x="3520440" y="4599432"/>
            <a:ext cx="7086600" cy="384048"/>
          </a:xfrm>
          <a:prstGeom prst="rect">
            <a:avLst/>
          </a:prstGeom>
          <a:solidFill>
            <a:srgbClr val="F8FAFC"/>
          </a:solidFill>
          <a:ln w="889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2" name="Text 40"/>
          <p:cNvSpPr/>
          <p:nvPr/>
        </p:nvSpPr>
        <p:spPr>
          <a:xfrm>
            <a:off x="3575304" y="4672584"/>
            <a:ext cx="6976872" cy="274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1F2933"/>
                </a:solidFill>
              </a:rPr>
              <a:t>Measured vibration in millimeters per second</a:t>
            </a:r>
            <a:endParaRPr lang="en-US" sz="1250" dirty="0"/>
          </a:p>
        </p:txBody>
      </p:sp>
      <p:sp>
        <p:nvSpPr>
          <p:cNvPr id="43" name="Shape 41"/>
          <p:cNvSpPr/>
          <p:nvPr/>
        </p:nvSpPr>
        <p:spPr>
          <a:xfrm>
            <a:off x="868680" y="4983480"/>
            <a:ext cx="2651760" cy="384048"/>
          </a:xfrm>
          <a:prstGeom prst="rect">
            <a:avLst/>
          </a:prstGeom>
          <a:solidFill>
            <a:srgbClr val="FFFFFF"/>
          </a:solidFill>
          <a:ln w="889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4" name="Text 42"/>
          <p:cNvSpPr/>
          <p:nvPr/>
        </p:nvSpPr>
        <p:spPr>
          <a:xfrm>
            <a:off x="923544" y="5056632"/>
            <a:ext cx="2542032" cy="274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250" b="1" dirty="0">
                <a:solidFill>
                  <a:srgbClr val="1F2933"/>
                </a:solidFill>
              </a:rPr>
              <a:t>defect</a:t>
            </a:r>
            <a:endParaRPr lang="en-US" sz="1250" dirty="0"/>
          </a:p>
        </p:txBody>
      </p:sp>
      <p:sp>
        <p:nvSpPr>
          <p:cNvPr id="45" name="Shape 43"/>
          <p:cNvSpPr/>
          <p:nvPr/>
        </p:nvSpPr>
        <p:spPr>
          <a:xfrm>
            <a:off x="3520440" y="4983480"/>
            <a:ext cx="7086600" cy="384048"/>
          </a:xfrm>
          <a:prstGeom prst="rect">
            <a:avLst/>
          </a:prstGeom>
          <a:solidFill>
            <a:srgbClr val="FFFFFF"/>
          </a:solidFill>
          <a:ln w="889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6" name="Text 44"/>
          <p:cNvSpPr/>
          <p:nvPr/>
        </p:nvSpPr>
        <p:spPr>
          <a:xfrm>
            <a:off x="3575304" y="5056632"/>
            <a:ext cx="6976872" cy="274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1F2933"/>
                </a:solidFill>
              </a:rPr>
              <a:t>Binary quality outcome</a:t>
            </a:r>
            <a:endParaRPr lang="en-US" sz="1250" dirty="0"/>
          </a:p>
        </p:txBody>
      </p:sp>
      <p:sp>
        <p:nvSpPr>
          <p:cNvPr id="47" name="Text 45"/>
          <p:cNvSpPr/>
          <p:nvPr/>
        </p:nvSpPr>
        <p:spPr>
          <a:xfrm>
            <a:off x="1005840" y="5577840"/>
            <a:ext cx="9235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CC0000"/>
                </a:solidFill>
              </a:rPr>
              <a:t>A majority-class model can appear accurate while detecting no defects.</a:t>
            </a:r>
            <a:endParaRPr lang="en-US" sz="16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01168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CC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APPLIED AI DESIGN WORKSHOP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9509760" y="201168"/>
            <a:ext cx="1783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4B55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Session 1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502920" y="502920"/>
            <a:ext cx="10469880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594360" y="713232"/>
            <a:ext cx="101041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1F29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Step 3: establish the baseline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10716768" y="6199632"/>
            <a:ext cx="2743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4B5563"/>
                </a:solidFill>
              </a:rPr>
              <a:t>6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822960" y="141732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1F2933"/>
                </a:solidFill>
              </a:rPr>
              <a:t>Baseline rule: predict every process run as acceptable.</a:t>
            </a:r>
            <a:endParaRPr lang="en-US" sz="2100" dirty="0"/>
          </a:p>
        </p:txBody>
      </p:sp>
      <p:sp>
        <p:nvSpPr>
          <p:cNvPr id="8" name="Shape 6"/>
          <p:cNvSpPr/>
          <p:nvPr/>
        </p:nvSpPr>
        <p:spPr>
          <a:xfrm>
            <a:off x="1051560" y="2148840"/>
            <a:ext cx="4206240" cy="1051560"/>
          </a:xfrm>
          <a:prstGeom prst="roundRect">
            <a:avLst>
              <a:gd name="adj" fmla="val 5217"/>
            </a:avLst>
          </a:prstGeom>
          <a:solidFill>
            <a:srgbClr val="FFFFFF"/>
          </a:solidFill>
          <a:ln w="15240">
            <a:solidFill>
              <a:srgbClr val="2E7D3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1197864" y="2276856"/>
            <a:ext cx="39136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4B5563"/>
                </a:solidFill>
              </a:rPr>
              <a:t>Baseline accuracy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1197864" y="2532888"/>
            <a:ext cx="391363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2E7D32"/>
                </a:solidFill>
              </a:rPr>
              <a:t>0.800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1197864" y="2926080"/>
            <a:ext cx="391363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4B5563"/>
                </a:solidFill>
              </a:rPr>
              <a:t>correct mostly because defects are rare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6080760" y="2148840"/>
            <a:ext cx="4206240" cy="1051560"/>
          </a:xfrm>
          <a:prstGeom prst="roundRect">
            <a:avLst>
              <a:gd name="adj" fmla="val 5217"/>
            </a:avLst>
          </a:prstGeom>
          <a:solidFill>
            <a:srgbClr val="FFFFFF"/>
          </a:solidFill>
          <a:ln w="15240">
            <a:solidFill>
              <a:srgbClr val="CC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6227064" y="2276856"/>
            <a:ext cx="39136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4B5563"/>
                </a:solidFill>
              </a:rPr>
              <a:t>Baseline defect recall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6227064" y="2532888"/>
            <a:ext cx="391363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CC0000"/>
                </a:solidFill>
              </a:rPr>
              <a:t>0.000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6227064" y="2926080"/>
            <a:ext cx="391363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4B5563"/>
                </a:solidFill>
              </a:rPr>
              <a:t>misses every defect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1051560" y="3703320"/>
            <a:ext cx="9235440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1051560" y="397764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CC0000"/>
                </a:solidFill>
              </a:rPr>
              <a:t>Interpretation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1188720" y="4434840"/>
            <a:ext cx="9052560" cy="10972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177800" indent="-177800">
              <a:buSzPct val="100000"/>
              <a:buChar char="•"/>
            </a:pPr>
            <a:r>
              <a:rPr lang="en-US" sz="1700" dirty="0">
                <a:solidFill>
                  <a:srgbClr val="1F29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Accuracy alone is not adequate for this problem.</a:t>
            </a:r>
            <a:endParaRPr lang="en-US" sz="1700" dirty="0"/>
          </a:p>
          <a:p>
            <a:pPr marL="177800" indent="-177800">
              <a:buSzPct val="100000"/>
              <a:buChar char="•"/>
            </a:pPr>
            <a:r>
              <a:rPr lang="en-US" sz="1700" dirty="0">
                <a:solidFill>
                  <a:srgbClr val="1F29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baseline clarifies the minimum value a model must exceed.</a:t>
            </a:r>
            <a:endParaRPr lang="en-US" sz="1700" dirty="0"/>
          </a:p>
          <a:p>
            <a:pPr marL="177800" indent="-177800">
              <a:buSzPct val="100000"/>
              <a:buChar char="•"/>
            </a:pPr>
            <a:r>
              <a:rPr lang="en-US" sz="1700" dirty="0">
                <a:solidFill>
                  <a:srgbClr val="1F29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Defect recall is essential if missed defects are expensive.</a:t>
            </a:r>
            <a:endParaRPr lang="en-US" sz="17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01168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CC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APPLIED AI DESIGN WORKSHOP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9509760" y="201168"/>
            <a:ext cx="1783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4B55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Session 1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502920" y="502920"/>
            <a:ext cx="10469880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594360" y="713232"/>
            <a:ext cx="101041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1F29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Step 4: summarize the trained model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10716768" y="6199632"/>
            <a:ext cx="2743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4B5563"/>
                </a:solidFill>
              </a:rPr>
              <a:t>7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822960" y="1353312"/>
            <a:ext cx="7498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F2933"/>
                </a:solidFill>
              </a:rPr>
              <a:t>Model: standardized logistic-regression classifier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822960" y="1755648"/>
            <a:ext cx="8778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4B5563"/>
                </a:solidFill>
              </a:rPr>
              <a:t>Data split: 75% training / 25% test · stratified · fixed random state</a:t>
            </a:r>
            <a:endParaRPr lang="en-US" sz="1450" dirty="0"/>
          </a:p>
        </p:txBody>
      </p:sp>
      <p:sp>
        <p:nvSpPr>
          <p:cNvPr id="9" name="Shape 7"/>
          <p:cNvSpPr/>
          <p:nvPr/>
        </p:nvSpPr>
        <p:spPr>
          <a:xfrm>
            <a:off x="868680" y="2331720"/>
            <a:ext cx="2148840" cy="512064"/>
          </a:xfrm>
          <a:prstGeom prst="rect">
            <a:avLst/>
          </a:prstGeom>
          <a:solidFill>
            <a:srgbClr val="FDEAEA"/>
          </a:solidFill>
          <a:ln w="889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923544" y="2404872"/>
            <a:ext cx="2039112" cy="40233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CC0000"/>
                </a:solidFill>
              </a:rPr>
              <a:t>Metric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3017520" y="2331720"/>
            <a:ext cx="1920240" cy="512064"/>
          </a:xfrm>
          <a:prstGeom prst="rect">
            <a:avLst/>
          </a:prstGeom>
          <a:solidFill>
            <a:srgbClr val="FDEAEA"/>
          </a:solidFill>
          <a:ln w="889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3072384" y="2404872"/>
            <a:ext cx="1810512" cy="40233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CC0000"/>
                </a:solidFill>
              </a:rPr>
              <a:t>Result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868680" y="2843784"/>
            <a:ext cx="2148840" cy="512064"/>
          </a:xfrm>
          <a:prstGeom prst="rect">
            <a:avLst/>
          </a:prstGeom>
          <a:solidFill>
            <a:srgbClr val="FFFFFF"/>
          </a:solidFill>
          <a:ln w="889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923544" y="2916936"/>
            <a:ext cx="2039112" cy="40233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1F2933"/>
                </a:solidFill>
              </a:rPr>
              <a:t>Accuracy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3017520" y="2843784"/>
            <a:ext cx="1920240" cy="512064"/>
          </a:xfrm>
          <a:prstGeom prst="rect">
            <a:avLst/>
          </a:prstGeom>
          <a:solidFill>
            <a:srgbClr val="FFFFFF"/>
          </a:solidFill>
          <a:ln w="889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3072384" y="2916936"/>
            <a:ext cx="1810512" cy="40233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1F2933"/>
                </a:solidFill>
              </a:rPr>
              <a:t>0.855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868680" y="3355848"/>
            <a:ext cx="2148840" cy="512064"/>
          </a:xfrm>
          <a:prstGeom prst="rect">
            <a:avLst/>
          </a:prstGeom>
          <a:solidFill>
            <a:srgbClr val="F8FAFC"/>
          </a:solidFill>
          <a:ln w="889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923544" y="3429000"/>
            <a:ext cx="2039112" cy="40233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1F2933"/>
                </a:solidFill>
              </a:rPr>
              <a:t>Precision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3017520" y="3355848"/>
            <a:ext cx="1920240" cy="512064"/>
          </a:xfrm>
          <a:prstGeom prst="rect">
            <a:avLst/>
          </a:prstGeom>
          <a:solidFill>
            <a:srgbClr val="F8FAFC"/>
          </a:solidFill>
          <a:ln w="889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3072384" y="3429000"/>
            <a:ext cx="1810512" cy="40233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1F2933"/>
                </a:solidFill>
              </a:rPr>
              <a:t>1.000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868680" y="3867912"/>
            <a:ext cx="2148840" cy="512064"/>
          </a:xfrm>
          <a:prstGeom prst="rect">
            <a:avLst/>
          </a:prstGeom>
          <a:solidFill>
            <a:srgbClr val="FFFFFF"/>
          </a:solidFill>
          <a:ln w="889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923544" y="3941064"/>
            <a:ext cx="2039112" cy="40233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1F2933"/>
                </a:solidFill>
              </a:rPr>
              <a:t>Recall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3017520" y="3867912"/>
            <a:ext cx="1920240" cy="512064"/>
          </a:xfrm>
          <a:prstGeom prst="rect">
            <a:avLst/>
          </a:prstGeom>
          <a:solidFill>
            <a:srgbClr val="FFFFFF"/>
          </a:solidFill>
          <a:ln w="889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3072384" y="3941064"/>
            <a:ext cx="1810512" cy="40233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1F2933"/>
                </a:solidFill>
              </a:rPr>
              <a:t>0.273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868680" y="4379976"/>
            <a:ext cx="2148840" cy="512064"/>
          </a:xfrm>
          <a:prstGeom prst="rect">
            <a:avLst/>
          </a:prstGeom>
          <a:solidFill>
            <a:srgbClr val="F8FAFC"/>
          </a:solidFill>
          <a:ln w="889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923544" y="4453128"/>
            <a:ext cx="2039112" cy="40233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1F2933"/>
                </a:solidFill>
              </a:rPr>
              <a:t>F1 score</a:t>
            </a:r>
            <a:endParaRPr lang="en-US" sz="1400" dirty="0"/>
          </a:p>
        </p:txBody>
      </p:sp>
      <p:sp>
        <p:nvSpPr>
          <p:cNvPr id="27" name="Shape 25"/>
          <p:cNvSpPr/>
          <p:nvPr/>
        </p:nvSpPr>
        <p:spPr>
          <a:xfrm>
            <a:off x="3017520" y="4379976"/>
            <a:ext cx="1920240" cy="512064"/>
          </a:xfrm>
          <a:prstGeom prst="rect">
            <a:avLst/>
          </a:prstGeom>
          <a:solidFill>
            <a:srgbClr val="F8FAFC"/>
          </a:solidFill>
          <a:ln w="889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3072384" y="4453128"/>
            <a:ext cx="1810512" cy="40233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1F2933"/>
                </a:solidFill>
              </a:rPr>
              <a:t>0.429</a:t>
            </a:r>
            <a:endParaRPr lang="en-US" sz="1400" dirty="0"/>
          </a:p>
        </p:txBody>
      </p:sp>
      <p:sp>
        <p:nvSpPr>
          <p:cNvPr id="29" name="Shape 27"/>
          <p:cNvSpPr/>
          <p:nvPr/>
        </p:nvSpPr>
        <p:spPr>
          <a:xfrm>
            <a:off x="5486400" y="2331720"/>
            <a:ext cx="1965960" cy="603504"/>
          </a:xfrm>
          <a:prstGeom prst="rect">
            <a:avLst/>
          </a:prstGeom>
          <a:solidFill>
            <a:srgbClr val="FDEAEA"/>
          </a:solidFill>
          <a:ln w="889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5541264" y="2404872"/>
            <a:ext cx="1856232" cy="49377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endParaRPr lang="en-US" sz="1300" dirty="0"/>
          </a:p>
        </p:txBody>
      </p:sp>
      <p:sp>
        <p:nvSpPr>
          <p:cNvPr id="31" name="Shape 29"/>
          <p:cNvSpPr/>
          <p:nvPr/>
        </p:nvSpPr>
        <p:spPr>
          <a:xfrm>
            <a:off x="7452360" y="2331720"/>
            <a:ext cx="1965960" cy="603504"/>
          </a:xfrm>
          <a:prstGeom prst="rect">
            <a:avLst/>
          </a:prstGeom>
          <a:solidFill>
            <a:srgbClr val="FDEAEA"/>
          </a:solidFill>
          <a:ln w="889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7507224" y="2404872"/>
            <a:ext cx="1856232" cy="49377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300" b="1" dirty="0">
                <a:solidFill>
                  <a:srgbClr val="CC0000"/>
                </a:solidFill>
              </a:rPr>
              <a:t>Predicted acceptable</a:t>
            </a:r>
            <a:endParaRPr lang="en-US" sz="1300" dirty="0"/>
          </a:p>
        </p:txBody>
      </p:sp>
      <p:sp>
        <p:nvSpPr>
          <p:cNvPr id="33" name="Shape 31"/>
          <p:cNvSpPr/>
          <p:nvPr/>
        </p:nvSpPr>
        <p:spPr>
          <a:xfrm>
            <a:off x="9418320" y="2331720"/>
            <a:ext cx="1828800" cy="603504"/>
          </a:xfrm>
          <a:prstGeom prst="rect">
            <a:avLst/>
          </a:prstGeom>
          <a:solidFill>
            <a:srgbClr val="FDEAEA"/>
          </a:solidFill>
          <a:ln w="889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Text 32"/>
          <p:cNvSpPr/>
          <p:nvPr/>
        </p:nvSpPr>
        <p:spPr>
          <a:xfrm>
            <a:off x="9473184" y="2404872"/>
            <a:ext cx="1719072" cy="49377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300" b="1" dirty="0">
                <a:solidFill>
                  <a:srgbClr val="CC0000"/>
                </a:solidFill>
              </a:rPr>
              <a:t>Predicted defect</a:t>
            </a:r>
            <a:endParaRPr lang="en-US" sz="1300" dirty="0"/>
          </a:p>
        </p:txBody>
      </p:sp>
      <p:sp>
        <p:nvSpPr>
          <p:cNvPr id="35" name="Shape 33"/>
          <p:cNvSpPr/>
          <p:nvPr/>
        </p:nvSpPr>
        <p:spPr>
          <a:xfrm>
            <a:off x="5486400" y="2935224"/>
            <a:ext cx="1965960" cy="603504"/>
          </a:xfrm>
          <a:prstGeom prst="rect">
            <a:avLst/>
          </a:prstGeom>
          <a:solidFill>
            <a:srgbClr val="FFFFFF"/>
          </a:solidFill>
          <a:ln w="889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Text 34"/>
          <p:cNvSpPr/>
          <p:nvPr/>
        </p:nvSpPr>
        <p:spPr>
          <a:xfrm>
            <a:off x="5541264" y="3008376"/>
            <a:ext cx="1856232" cy="49377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300" b="1" dirty="0">
                <a:solidFill>
                  <a:srgbClr val="1F2933"/>
                </a:solidFill>
              </a:rPr>
              <a:t>Actual acceptable</a:t>
            </a:r>
            <a:endParaRPr lang="en-US" sz="1300" dirty="0"/>
          </a:p>
        </p:txBody>
      </p:sp>
      <p:sp>
        <p:nvSpPr>
          <p:cNvPr id="37" name="Shape 35"/>
          <p:cNvSpPr/>
          <p:nvPr/>
        </p:nvSpPr>
        <p:spPr>
          <a:xfrm>
            <a:off x="7452360" y="2935224"/>
            <a:ext cx="1965960" cy="603504"/>
          </a:xfrm>
          <a:prstGeom prst="rect">
            <a:avLst/>
          </a:prstGeom>
          <a:solidFill>
            <a:srgbClr val="FFFFFF"/>
          </a:solidFill>
          <a:ln w="889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Text 36"/>
          <p:cNvSpPr/>
          <p:nvPr/>
        </p:nvSpPr>
        <p:spPr>
          <a:xfrm>
            <a:off x="7507224" y="3008376"/>
            <a:ext cx="1856232" cy="49377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300" dirty="0">
                <a:solidFill>
                  <a:srgbClr val="1F2933"/>
                </a:solidFill>
              </a:rPr>
              <a:t>44</a:t>
            </a:r>
            <a:endParaRPr lang="en-US" sz="1300" dirty="0"/>
          </a:p>
        </p:txBody>
      </p:sp>
      <p:sp>
        <p:nvSpPr>
          <p:cNvPr id="39" name="Shape 37"/>
          <p:cNvSpPr/>
          <p:nvPr/>
        </p:nvSpPr>
        <p:spPr>
          <a:xfrm>
            <a:off x="9418320" y="2935224"/>
            <a:ext cx="1828800" cy="603504"/>
          </a:xfrm>
          <a:prstGeom prst="rect">
            <a:avLst/>
          </a:prstGeom>
          <a:solidFill>
            <a:srgbClr val="FFFFFF"/>
          </a:solidFill>
          <a:ln w="889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" name="Text 38"/>
          <p:cNvSpPr/>
          <p:nvPr/>
        </p:nvSpPr>
        <p:spPr>
          <a:xfrm>
            <a:off x="9473184" y="3008376"/>
            <a:ext cx="1719072" cy="49377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300" dirty="0">
                <a:solidFill>
                  <a:srgbClr val="1F2933"/>
                </a:solidFill>
              </a:rPr>
              <a:t>0</a:t>
            </a:r>
            <a:endParaRPr lang="en-US" sz="1300" dirty="0"/>
          </a:p>
        </p:txBody>
      </p:sp>
      <p:sp>
        <p:nvSpPr>
          <p:cNvPr id="41" name="Shape 39"/>
          <p:cNvSpPr/>
          <p:nvPr/>
        </p:nvSpPr>
        <p:spPr>
          <a:xfrm>
            <a:off x="5486400" y="3538728"/>
            <a:ext cx="1965960" cy="603504"/>
          </a:xfrm>
          <a:prstGeom prst="rect">
            <a:avLst/>
          </a:prstGeom>
          <a:solidFill>
            <a:srgbClr val="F8FAFC"/>
          </a:solidFill>
          <a:ln w="889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2" name="Text 40"/>
          <p:cNvSpPr/>
          <p:nvPr/>
        </p:nvSpPr>
        <p:spPr>
          <a:xfrm>
            <a:off x="5541264" y="3611880"/>
            <a:ext cx="1856232" cy="49377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300" b="1" dirty="0">
                <a:solidFill>
                  <a:srgbClr val="1F2933"/>
                </a:solidFill>
              </a:rPr>
              <a:t>Actual defect</a:t>
            </a:r>
            <a:endParaRPr lang="en-US" sz="1300" dirty="0"/>
          </a:p>
        </p:txBody>
      </p:sp>
      <p:sp>
        <p:nvSpPr>
          <p:cNvPr id="43" name="Shape 41"/>
          <p:cNvSpPr/>
          <p:nvPr/>
        </p:nvSpPr>
        <p:spPr>
          <a:xfrm>
            <a:off x="7452360" y="3538728"/>
            <a:ext cx="1965960" cy="603504"/>
          </a:xfrm>
          <a:prstGeom prst="rect">
            <a:avLst/>
          </a:prstGeom>
          <a:solidFill>
            <a:srgbClr val="F8FAFC"/>
          </a:solidFill>
          <a:ln w="889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4" name="Text 42"/>
          <p:cNvSpPr/>
          <p:nvPr/>
        </p:nvSpPr>
        <p:spPr>
          <a:xfrm>
            <a:off x="7507224" y="3611880"/>
            <a:ext cx="1856232" cy="49377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300" dirty="0">
                <a:solidFill>
                  <a:srgbClr val="1F2933"/>
                </a:solidFill>
              </a:rPr>
              <a:t>8</a:t>
            </a:r>
            <a:endParaRPr lang="en-US" sz="1300" dirty="0"/>
          </a:p>
        </p:txBody>
      </p:sp>
      <p:sp>
        <p:nvSpPr>
          <p:cNvPr id="45" name="Shape 43"/>
          <p:cNvSpPr/>
          <p:nvPr/>
        </p:nvSpPr>
        <p:spPr>
          <a:xfrm>
            <a:off x="9418320" y="3538728"/>
            <a:ext cx="1828800" cy="603504"/>
          </a:xfrm>
          <a:prstGeom prst="rect">
            <a:avLst/>
          </a:prstGeom>
          <a:solidFill>
            <a:srgbClr val="F8FAFC"/>
          </a:solidFill>
          <a:ln w="889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6" name="Text 44"/>
          <p:cNvSpPr/>
          <p:nvPr/>
        </p:nvSpPr>
        <p:spPr>
          <a:xfrm>
            <a:off x="9473184" y="3611880"/>
            <a:ext cx="1719072" cy="49377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300" dirty="0">
                <a:solidFill>
                  <a:srgbClr val="1F2933"/>
                </a:solidFill>
              </a:rPr>
              <a:t>3</a:t>
            </a:r>
            <a:endParaRPr lang="en-US" sz="1300" dirty="0"/>
          </a:p>
        </p:txBody>
      </p:sp>
      <p:sp>
        <p:nvSpPr>
          <p:cNvPr id="47" name="Text 45"/>
          <p:cNvSpPr/>
          <p:nvPr/>
        </p:nvSpPr>
        <p:spPr>
          <a:xfrm>
            <a:off x="960120" y="5212080"/>
            <a:ext cx="9326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CC0000"/>
                </a:solidFill>
              </a:rPr>
              <a:t>The model produces few false alarms, but misses most actual defects.</a:t>
            </a:r>
            <a:endParaRPr lang="en-US" sz="1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01168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CC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APPLIED AI DESIGN WORKSHOP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9509760" y="201168"/>
            <a:ext cx="1783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4B55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Session 1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502920" y="502920"/>
            <a:ext cx="10469880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594360" y="713232"/>
            <a:ext cx="101041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1F29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Step 5: interpret the evidence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10716768" y="6199632"/>
            <a:ext cx="2743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4B5563"/>
                </a:solidFill>
              </a:rPr>
              <a:t>8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777240" y="141732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2E7D32"/>
                </a:solidFill>
              </a:rPr>
              <a:t>What the model did well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868680" y="1920240"/>
            <a:ext cx="4754880" cy="18288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177800" indent="-177800">
              <a:buSzPct val="100000"/>
              <a:buChar char="•"/>
            </a:pPr>
            <a:r>
              <a:rPr lang="en-US" sz="1600" dirty="0">
                <a:solidFill>
                  <a:srgbClr val="1F29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Improved accuracy from 0.800 to 0.855.</a:t>
            </a:r>
            <a:endParaRPr lang="en-US" sz="1600" dirty="0"/>
          </a:p>
          <a:p>
            <a:pPr marL="177800" indent="-177800">
              <a:buSzPct val="100000"/>
              <a:buChar char="•"/>
            </a:pPr>
            <a:r>
              <a:rPr lang="en-US" sz="1600" dirty="0">
                <a:solidFill>
                  <a:srgbClr val="1F29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Every predicted defect was actually defective.</a:t>
            </a:r>
            <a:endParaRPr lang="en-US" sz="1600" dirty="0"/>
          </a:p>
          <a:p>
            <a:pPr marL="177800" indent="-177800">
              <a:buSzPct val="100000"/>
              <a:buChar char="•"/>
            </a:pPr>
            <a:r>
              <a:rPr lang="en-US" sz="1600" dirty="0">
                <a:solidFill>
                  <a:srgbClr val="1F29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Produced no false alarms in the test set.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080760" y="141732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CC0000"/>
                </a:solidFill>
              </a:rPr>
              <a:t>What the model did poorly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6172200" y="1920240"/>
            <a:ext cx="4754880" cy="18288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177800" indent="-177800">
              <a:buSzPct val="100000"/>
              <a:buChar char="•"/>
            </a:pPr>
            <a:r>
              <a:rPr lang="en-US" sz="1600" dirty="0">
                <a:solidFill>
                  <a:srgbClr val="1F29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Detected only 3 of 11 defective runs.</a:t>
            </a:r>
            <a:endParaRPr lang="en-US" sz="1600" dirty="0"/>
          </a:p>
          <a:p>
            <a:pPr marL="177800" indent="-177800">
              <a:buSzPct val="100000"/>
              <a:buChar char="•"/>
            </a:pPr>
            <a:r>
              <a:rPr lang="en-US" sz="1600" dirty="0">
                <a:solidFill>
                  <a:srgbClr val="1F29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Missed 8 defective runs.</a:t>
            </a:r>
            <a:endParaRPr lang="en-US" sz="1600" dirty="0"/>
          </a:p>
          <a:p>
            <a:pPr marL="177800" indent="-177800">
              <a:buSzPct val="100000"/>
              <a:buChar char="•"/>
            </a:pPr>
            <a:r>
              <a:rPr lang="en-US" sz="1600" dirty="0">
                <a:solidFill>
                  <a:srgbClr val="1F29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Defect recall was only about 27%.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1005840" y="4343400"/>
            <a:ext cx="9875520" cy="786384"/>
          </a:xfrm>
          <a:prstGeom prst="roundRect">
            <a:avLst>
              <a:gd name="adj" fmla="val 9302"/>
            </a:avLst>
          </a:prstGeom>
          <a:solidFill>
            <a:srgbClr val="FFF7E6"/>
          </a:solidFill>
          <a:ln w="13970">
            <a:solidFill>
              <a:srgbClr val="B7791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1234440" y="4608576"/>
            <a:ext cx="9418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1F2933"/>
                </a:solidFill>
              </a:rPr>
              <a:t>Practical meaning: the model is conservative and should not be used as the sole quality-control mechanism.</a:t>
            </a:r>
            <a:endParaRPr lang="en-US" sz="17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01168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CC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APPLIED AI DESIGN WORKSHOP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9509760" y="201168"/>
            <a:ext cx="1783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4B55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Session 1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502920" y="502920"/>
            <a:ext cx="10469880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594360" y="713232"/>
            <a:ext cx="101041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1F29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Step 6: document limitations and next step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10716768" y="6199632"/>
            <a:ext cx="2743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4B5563"/>
                </a:solidFill>
              </a:rPr>
              <a:t>9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777240" y="1371600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CC0000"/>
                </a:solidFill>
              </a:rPr>
              <a:t>Limitations to report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868680" y="1828800"/>
            <a:ext cx="4754880" cy="30175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177800" indent="-177800">
              <a:buSzPct val="100000"/>
              <a:buChar char="•"/>
            </a:pPr>
            <a:r>
              <a:rPr lang="en-US" sz="1500" dirty="0">
                <a:solidFill>
                  <a:srgbClr val="1F29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Only 220 observations.</a:t>
            </a:r>
            <a:endParaRPr lang="en-US" sz="1500" dirty="0"/>
          </a:p>
          <a:p>
            <a:pPr marL="177800" indent="-177800">
              <a:buSzPct val="100000"/>
              <a:buChar char="•"/>
            </a:pPr>
            <a:r>
              <a:rPr lang="en-US" sz="1500" dirty="0">
                <a:solidFill>
                  <a:srgbClr val="1F29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Only four process variables.</a:t>
            </a:r>
            <a:endParaRPr lang="en-US" sz="1500" dirty="0"/>
          </a:p>
          <a:p>
            <a:pPr marL="177800" indent="-177800">
              <a:buSzPct val="100000"/>
              <a:buChar char="•"/>
            </a:pPr>
            <a:r>
              <a:rPr lang="en-US" sz="1500" dirty="0">
                <a:solidFill>
                  <a:srgbClr val="1F29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One train/test split.</a:t>
            </a:r>
            <a:endParaRPr lang="en-US" sz="1500" dirty="0"/>
          </a:p>
          <a:p>
            <a:pPr marL="177800" indent="-177800">
              <a:buSzPct val="100000"/>
              <a:buChar char="•"/>
            </a:pPr>
            <a:r>
              <a:rPr lang="en-US" sz="1500" dirty="0">
                <a:solidFill>
                  <a:srgbClr val="1F29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 external or prospective validation.</a:t>
            </a:r>
            <a:endParaRPr lang="en-US" sz="1500" dirty="0"/>
          </a:p>
          <a:p>
            <a:pPr marL="177800" indent="-177800">
              <a:buSzPct val="100000"/>
              <a:buChar char="•"/>
            </a:pPr>
            <a:r>
              <a:rPr lang="en-US" sz="1500" dirty="0">
                <a:solidFill>
                  <a:srgbClr val="1F29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Associations do not prove causes.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6080760" y="1371600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CC0000"/>
                </a:solidFill>
              </a:rPr>
              <a:t>Recommended next step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6172200" y="1828800"/>
            <a:ext cx="4754880" cy="30175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177800" indent="-177800">
              <a:buSzPct val="100000"/>
              <a:buChar char="•"/>
            </a:pPr>
            <a:r>
              <a:rPr lang="en-US" sz="1500" dirty="0">
                <a:solidFill>
                  <a:srgbClr val="1F29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Evaluate lower decision thresholds.</a:t>
            </a:r>
            <a:endParaRPr lang="en-US" sz="1500" dirty="0"/>
          </a:p>
          <a:p>
            <a:pPr marL="177800" indent="-177800">
              <a:buSzPct val="100000"/>
              <a:buChar char="•"/>
            </a:pPr>
            <a:r>
              <a:rPr lang="en-US" sz="1500" dirty="0">
                <a:solidFill>
                  <a:srgbClr val="1F29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Test class weighting.</a:t>
            </a:r>
            <a:endParaRPr lang="en-US" sz="1500" dirty="0"/>
          </a:p>
          <a:p>
            <a:pPr marL="177800" indent="-177800">
              <a:buSzPct val="100000"/>
              <a:buChar char="•"/>
            </a:pPr>
            <a:r>
              <a:rPr lang="en-US" sz="1500" dirty="0">
                <a:solidFill>
                  <a:srgbClr val="1F29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Collect more defective-run examples.</a:t>
            </a:r>
            <a:endParaRPr lang="en-US" sz="1500" dirty="0"/>
          </a:p>
          <a:p>
            <a:pPr marL="177800" indent="-177800">
              <a:buSzPct val="100000"/>
              <a:buChar char="•"/>
            </a:pPr>
            <a:r>
              <a:rPr lang="en-US" sz="1500" dirty="0">
                <a:solidFill>
                  <a:srgbClr val="1F29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Examine errors by machine, material, or operating condition.</a:t>
            </a:r>
            <a:endParaRPr lang="en-US" sz="1500" dirty="0"/>
          </a:p>
          <a:p>
            <a:pPr marL="177800" indent="-177800">
              <a:buSzPct val="100000"/>
              <a:buChar char="•"/>
            </a:pPr>
            <a:r>
              <a:rPr lang="en-US" sz="1500" dirty="0">
                <a:solidFill>
                  <a:srgbClr val="1F29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 cross-validation before drawing stronger conclusions.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1005840" y="5559552"/>
            <a:ext cx="9509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F2933"/>
                </a:solidFill>
              </a:rPr>
              <a:t>Rule of thumb: limitations are part of the evidence package</a:t>
            </a:r>
            <a:endParaRPr lang="en-US" sz="16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01168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CC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APPLIED AI DESIGN WORKSHOP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9509760" y="201168"/>
            <a:ext cx="1783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4B55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Session 1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502920" y="502920"/>
            <a:ext cx="10469880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594360" y="713232"/>
            <a:ext cx="101041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1F29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Step 7: completed AI evidence package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10716768" y="6199632"/>
            <a:ext cx="2743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4B5563"/>
                </a:solidFill>
              </a:rPr>
              <a:t>10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502920" y="1325880"/>
            <a:ext cx="1965960" cy="502920"/>
          </a:xfrm>
          <a:prstGeom prst="rect">
            <a:avLst/>
          </a:prstGeom>
          <a:solidFill>
            <a:srgbClr val="FDEAEA"/>
          </a:solidFill>
          <a:ln w="889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557784" y="1399032"/>
            <a:ext cx="1856232" cy="3931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250" b="1" dirty="0">
                <a:solidFill>
                  <a:srgbClr val="CC0000"/>
                </a:solidFill>
              </a:rPr>
              <a:t>Field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2468880" y="1325880"/>
            <a:ext cx="9144000" cy="502920"/>
          </a:xfrm>
          <a:prstGeom prst="rect">
            <a:avLst/>
          </a:prstGeom>
          <a:solidFill>
            <a:srgbClr val="FDEAEA"/>
          </a:solidFill>
          <a:ln w="889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2523744" y="1399032"/>
            <a:ext cx="9034272" cy="3931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250" b="1" dirty="0">
                <a:solidFill>
                  <a:srgbClr val="CC0000"/>
                </a:solidFill>
              </a:rPr>
              <a:t>Example entry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502920" y="1828800"/>
            <a:ext cx="1965960" cy="502920"/>
          </a:xfrm>
          <a:prstGeom prst="rect">
            <a:avLst/>
          </a:prstGeom>
          <a:solidFill>
            <a:srgbClr val="FFFFFF"/>
          </a:solidFill>
          <a:ln w="889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557784" y="1901952"/>
            <a:ext cx="1856232" cy="3931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250" b="1" dirty="0">
                <a:solidFill>
                  <a:srgbClr val="1F2933"/>
                </a:solidFill>
              </a:rPr>
              <a:t>Problem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2468880" y="1828800"/>
            <a:ext cx="9144000" cy="502920"/>
          </a:xfrm>
          <a:prstGeom prst="rect">
            <a:avLst/>
          </a:prstGeom>
          <a:solidFill>
            <a:srgbClr val="FFFFFF"/>
          </a:solidFill>
          <a:ln w="889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2523744" y="1901952"/>
            <a:ext cx="9034272" cy="3931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1F2933"/>
                </a:solidFill>
              </a:rPr>
              <a:t>Predict whether a process run will produce a defect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502920" y="2331720"/>
            <a:ext cx="1965960" cy="502920"/>
          </a:xfrm>
          <a:prstGeom prst="rect">
            <a:avLst/>
          </a:prstGeom>
          <a:solidFill>
            <a:srgbClr val="F8FAFC"/>
          </a:solidFill>
          <a:ln w="889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557784" y="2404872"/>
            <a:ext cx="1856232" cy="3931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250" b="1" dirty="0">
                <a:solidFill>
                  <a:srgbClr val="1F2933"/>
                </a:solidFill>
              </a:rPr>
              <a:t>Inputs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2468880" y="2331720"/>
            <a:ext cx="9144000" cy="502920"/>
          </a:xfrm>
          <a:prstGeom prst="rect">
            <a:avLst/>
          </a:prstGeom>
          <a:solidFill>
            <a:srgbClr val="F8FAFC"/>
          </a:solidFill>
          <a:ln w="889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2523744" y="2404872"/>
            <a:ext cx="9034272" cy="3931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1F2933"/>
                </a:solidFill>
              </a:rPr>
              <a:t>Temperature, pressure, speed, vibration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502920" y="2834640"/>
            <a:ext cx="1965960" cy="502920"/>
          </a:xfrm>
          <a:prstGeom prst="rect">
            <a:avLst/>
          </a:prstGeom>
          <a:solidFill>
            <a:srgbClr val="FFFFFF"/>
          </a:solidFill>
          <a:ln w="889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557784" y="2907792"/>
            <a:ext cx="1856232" cy="3931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250" b="1" dirty="0">
                <a:solidFill>
                  <a:srgbClr val="1F2933"/>
                </a:solidFill>
              </a:rPr>
              <a:t>Baseline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2468880" y="2834640"/>
            <a:ext cx="9144000" cy="502920"/>
          </a:xfrm>
          <a:prstGeom prst="rect">
            <a:avLst/>
          </a:prstGeom>
          <a:solidFill>
            <a:srgbClr val="FFFFFF"/>
          </a:solidFill>
          <a:ln w="889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2523744" y="2907792"/>
            <a:ext cx="9034272" cy="3931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1F2933"/>
                </a:solidFill>
              </a:rPr>
              <a:t>Majority-class prediction: accuracy 0.800; recall 0.000</a:t>
            </a:r>
            <a:endParaRPr lang="en-US" sz="1250" dirty="0"/>
          </a:p>
        </p:txBody>
      </p:sp>
      <p:sp>
        <p:nvSpPr>
          <p:cNvPr id="23" name="Shape 21"/>
          <p:cNvSpPr/>
          <p:nvPr/>
        </p:nvSpPr>
        <p:spPr>
          <a:xfrm>
            <a:off x="502920" y="3337560"/>
            <a:ext cx="1965960" cy="502920"/>
          </a:xfrm>
          <a:prstGeom prst="rect">
            <a:avLst/>
          </a:prstGeom>
          <a:solidFill>
            <a:srgbClr val="F8FAFC"/>
          </a:solidFill>
          <a:ln w="889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557784" y="3410712"/>
            <a:ext cx="1856232" cy="3931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250" b="1" dirty="0">
                <a:solidFill>
                  <a:srgbClr val="1F2933"/>
                </a:solidFill>
              </a:rPr>
              <a:t>Model</a:t>
            </a:r>
            <a:endParaRPr lang="en-US" sz="1250" dirty="0"/>
          </a:p>
        </p:txBody>
      </p:sp>
      <p:sp>
        <p:nvSpPr>
          <p:cNvPr id="25" name="Shape 23"/>
          <p:cNvSpPr/>
          <p:nvPr/>
        </p:nvSpPr>
        <p:spPr>
          <a:xfrm>
            <a:off x="2468880" y="3337560"/>
            <a:ext cx="9144000" cy="502920"/>
          </a:xfrm>
          <a:prstGeom prst="rect">
            <a:avLst/>
          </a:prstGeom>
          <a:solidFill>
            <a:srgbClr val="F8FAFC"/>
          </a:solidFill>
          <a:ln w="889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2523744" y="3410712"/>
            <a:ext cx="9034272" cy="3931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1F2933"/>
                </a:solidFill>
              </a:rPr>
              <a:t>Standardized logistic regression</a:t>
            </a:r>
            <a:endParaRPr lang="en-US" sz="1250" dirty="0"/>
          </a:p>
        </p:txBody>
      </p:sp>
      <p:sp>
        <p:nvSpPr>
          <p:cNvPr id="27" name="Shape 25"/>
          <p:cNvSpPr/>
          <p:nvPr/>
        </p:nvSpPr>
        <p:spPr>
          <a:xfrm>
            <a:off x="502920" y="3840480"/>
            <a:ext cx="1965960" cy="502920"/>
          </a:xfrm>
          <a:prstGeom prst="rect">
            <a:avLst/>
          </a:prstGeom>
          <a:solidFill>
            <a:srgbClr val="FFFFFF"/>
          </a:solidFill>
          <a:ln w="889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557784" y="3913632"/>
            <a:ext cx="1856232" cy="3931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250" b="1" dirty="0">
                <a:solidFill>
                  <a:srgbClr val="1F2933"/>
                </a:solidFill>
              </a:rPr>
              <a:t>Result</a:t>
            </a:r>
            <a:endParaRPr lang="en-US" sz="1250" dirty="0"/>
          </a:p>
        </p:txBody>
      </p:sp>
      <p:sp>
        <p:nvSpPr>
          <p:cNvPr id="29" name="Shape 27"/>
          <p:cNvSpPr/>
          <p:nvPr/>
        </p:nvSpPr>
        <p:spPr>
          <a:xfrm>
            <a:off x="2468880" y="3840480"/>
            <a:ext cx="9144000" cy="502920"/>
          </a:xfrm>
          <a:prstGeom prst="rect">
            <a:avLst/>
          </a:prstGeom>
          <a:solidFill>
            <a:srgbClr val="FFFFFF"/>
          </a:solidFill>
          <a:ln w="889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2523744" y="3913632"/>
            <a:ext cx="9034272" cy="3931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1F2933"/>
                </a:solidFill>
              </a:rPr>
              <a:t>Accuracy 0.855; precision 1.000; recall 0.273; F1 0.429</a:t>
            </a:r>
            <a:endParaRPr lang="en-US" sz="1250" dirty="0"/>
          </a:p>
        </p:txBody>
      </p:sp>
      <p:sp>
        <p:nvSpPr>
          <p:cNvPr id="31" name="Shape 29"/>
          <p:cNvSpPr/>
          <p:nvPr/>
        </p:nvSpPr>
        <p:spPr>
          <a:xfrm>
            <a:off x="502920" y="4343400"/>
            <a:ext cx="1965960" cy="502920"/>
          </a:xfrm>
          <a:prstGeom prst="rect">
            <a:avLst/>
          </a:prstGeom>
          <a:solidFill>
            <a:srgbClr val="F8FAFC"/>
          </a:solidFill>
          <a:ln w="889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557784" y="4416552"/>
            <a:ext cx="1856232" cy="3931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250" b="1" dirty="0">
                <a:solidFill>
                  <a:srgbClr val="1F2933"/>
                </a:solidFill>
              </a:rPr>
              <a:t>Boundary</a:t>
            </a:r>
            <a:endParaRPr lang="en-US" sz="1250" dirty="0"/>
          </a:p>
        </p:txBody>
      </p:sp>
      <p:sp>
        <p:nvSpPr>
          <p:cNvPr id="33" name="Shape 31"/>
          <p:cNvSpPr/>
          <p:nvPr/>
        </p:nvSpPr>
        <p:spPr>
          <a:xfrm>
            <a:off x="2468880" y="4343400"/>
            <a:ext cx="9144000" cy="502920"/>
          </a:xfrm>
          <a:prstGeom prst="rect">
            <a:avLst/>
          </a:prstGeom>
          <a:solidFill>
            <a:srgbClr val="F8FAFC"/>
          </a:solidFill>
          <a:ln w="889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Text 32"/>
          <p:cNvSpPr/>
          <p:nvPr/>
        </p:nvSpPr>
        <p:spPr>
          <a:xfrm>
            <a:off x="2523744" y="4416552"/>
            <a:ext cx="9034272" cy="3931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1F2933"/>
                </a:solidFill>
              </a:rPr>
              <a:t>Does not prove process variables cause defects</a:t>
            </a:r>
            <a:endParaRPr lang="en-US" sz="1250" dirty="0"/>
          </a:p>
        </p:txBody>
      </p:sp>
      <p:sp>
        <p:nvSpPr>
          <p:cNvPr id="35" name="Shape 33"/>
          <p:cNvSpPr/>
          <p:nvPr/>
        </p:nvSpPr>
        <p:spPr>
          <a:xfrm>
            <a:off x="502920" y="4846320"/>
            <a:ext cx="1965960" cy="502920"/>
          </a:xfrm>
          <a:prstGeom prst="rect">
            <a:avLst/>
          </a:prstGeom>
          <a:solidFill>
            <a:srgbClr val="FFFFFF"/>
          </a:solidFill>
          <a:ln w="889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Text 34"/>
          <p:cNvSpPr/>
          <p:nvPr/>
        </p:nvSpPr>
        <p:spPr>
          <a:xfrm>
            <a:off x="557784" y="4919472"/>
            <a:ext cx="1856232" cy="3931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250" b="1" dirty="0">
                <a:solidFill>
                  <a:srgbClr val="1F2933"/>
                </a:solidFill>
              </a:rPr>
              <a:t>Next step</a:t>
            </a:r>
            <a:endParaRPr lang="en-US" sz="1250" dirty="0"/>
          </a:p>
        </p:txBody>
      </p:sp>
      <p:sp>
        <p:nvSpPr>
          <p:cNvPr id="37" name="Shape 35"/>
          <p:cNvSpPr/>
          <p:nvPr/>
        </p:nvSpPr>
        <p:spPr>
          <a:xfrm>
            <a:off x="2468880" y="4846320"/>
            <a:ext cx="9144000" cy="502920"/>
          </a:xfrm>
          <a:prstGeom prst="rect">
            <a:avLst/>
          </a:prstGeom>
          <a:solidFill>
            <a:srgbClr val="FFFFFF"/>
          </a:solidFill>
          <a:ln w="889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Text 36"/>
          <p:cNvSpPr/>
          <p:nvPr/>
        </p:nvSpPr>
        <p:spPr>
          <a:xfrm>
            <a:off x="2523744" y="4919472"/>
            <a:ext cx="9034272" cy="3931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1F2933"/>
                </a:solidFill>
              </a:rPr>
              <a:t>Adjust threshold, test class weighting, collect more defect data</a:t>
            </a:r>
            <a:endParaRPr lang="en-US" sz="12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01168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CC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APPLIED AI DESIGN WORKSHOP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9509760" y="201168"/>
            <a:ext cx="1783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4B55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Session 1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502920" y="502920"/>
            <a:ext cx="10469880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594360" y="713232"/>
            <a:ext cx="101041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1F29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Step 8: prepare the evidence for an LLM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10716768" y="6199632"/>
            <a:ext cx="2743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4B5563"/>
                </a:solidFill>
              </a:rPr>
              <a:t>11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731520" y="1325880"/>
            <a:ext cx="10515600" cy="4160520"/>
          </a:xfrm>
          <a:prstGeom prst="rect">
            <a:avLst/>
          </a:prstGeom>
          <a:solidFill>
            <a:srgbClr val="F8FAFC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960120" y="1572768"/>
            <a:ext cx="10058400" cy="36576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1F29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You are assisting a </a:t>
            </a:r>
            <a:r>
              <a:rPr lang="en-US" sz="1150" dirty="0">
                <a:solidFill>
                  <a:srgbClr val="FF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process engineer</a:t>
            </a:r>
            <a:r>
              <a:rPr lang="en-US" sz="1150" dirty="0">
                <a:solidFill>
                  <a:srgbClr val="1F29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 Use only the evidence provided below.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1F29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 not invent causes, variables, or performance results.</a:t>
            </a:r>
            <a:endParaRPr lang="en-US" sz="1150" dirty="0"/>
          </a:p>
          <a:p>
            <a:pPr marL="0" indent="0">
              <a:buNone/>
            </a:pPr>
            <a:endParaRPr lang="en-US" sz="1150" dirty="0">
              <a:solidFill>
                <a:srgbClr val="FFC000"/>
              </a:solidFill>
            </a:endParaRPr>
          </a:p>
          <a:p>
            <a:pPr marL="0" indent="0">
              <a:buNone/>
            </a:pPr>
            <a:r>
              <a:rPr lang="en-US" sz="1150" dirty="0">
                <a:solidFill>
                  <a:srgbClr val="FFC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Evidence:</a:t>
            </a:r>
            <a:endParaRPr lang="en-US" sz="1150" dirty="0">
              <a:solidFill>
                <a:srgbClr val="FFC000"/>
              </a:solidFill>
            </a:endParaRPr>
          </a:p>
          <a:p>
            <a:pPr marL="0" indent="0">
              <a:buNone/>
            </a:pPr>
            <a:r>
              <a:rPr lang="en-US" sz="1150" dirty="0">
                <a:solidFill>
                  <a:srgbClr val="1F29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 Dataset: 220 process runs; 20% defective.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1F29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 Inputs: temperature, pressure, speed, vibration.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1F29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 Baseline: accuracy 0.800; defect recall 0.000.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1F29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 Logistic regression: accuracy 0.855, precision 1.000, recall 0.273, F1 0.429.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1F29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 Confusion matrix: TN=44, FP=0, FN=8, TP=3.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1F29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 Limitations: small dataset, single split, limited inputs, no external validation.</a:t>
            </a:r>
            <a:endParaRPr lang="en-US" sz="1150" dirty="0"/>
          </a:p>
          <a:p>
            <a:pPr marL="0" indent="0">
              <a:buNone/>
            </a:pP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chemeClr val="accent1">
                    <a:lumMod val="75000"/>
                  </a:scheme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Produce</a:t>
            </a:r>
            <a:r>
              <a:rPr lang="en-US" sz="1150" dirty="0">
                <a:solidFill>
                  <a:srgbClr val="1F29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technical interpretation, manager summary, next analysis, and one unsupported claim.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944880" y="5029200"/>
            <a:ext cx="98755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dirty="0"/>
              <a:t>Prompt pattern: </a:t>
            </a:r>
            <a:r>
              <a:rPr lang="en-US" sz="3200" dirty="0">
                <a:solidFill>
                  <a:srgbClr val="FF0000"/>
                </a:solidFill>
              </a:rPr>
              <a:t>role</a:t>
            </a:r>
            <a:r>
              <a:rPr lang="en-US" sz="3200" dirty="0"/>
              <a:t> + </a:t>
            </a:r>
            <a:r>
              <a:rPr lang="en-US" sz="3200" dirty="0">
                <a:solidFill>
                  <a:srgbClr val="FFC000"/>
                </a:solidFill>
              </a:rPr>
              <a:t>evidence</a:t>
            </a:r>
            <a:r>
              <a:rPr lang="en-US" sz="3200" dirty="0"/>
              <a:t> + </a:t>
            </a:r>
            <a:r>
              <a:rPr lang="en-US" sz="3200" dirty="0">
                <a:solidFill>
                  <a:srgbClr val="FFC000"/>
                </a:solidFill>
              </a:rPr>
              <a:t>constraints</a:t>
            </a:r>
            <a:r>
              <a:rPr lang="en-US" sz="3200" dirty="0"/>
              <a:t> + </a:t>
            </a:r>
            <a:r>
              <a:rPr lang="en-US" sz="3200" dirty="0">
                <a:solidFill>
                  <a:srgbClr val="00B0F0"/>
                </a:solidFill>
              </a:rPr>
              <a:t>requested</a:t>
            </a:r>
            <a:r>
              <a:rPr lang="en-US" sz="3200" dirty="0"/>
              <a:t> structure.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B459F1-93E2-E534-9F12-45813113BE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7E8E9DFE-2599-3A5E-8D5C-04F24626872C}"/>
              </a:ext>
            </a:extLst>
          </p:cNvPr>
          <p:cNvSpPr/>
          <p:nvPr/>
        </p:nvSpPr>
        <p:spPr>
          <a:xfrm>
            <a:off x="502920" y="201168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CC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APPLIED AI DESIGN WORKSHOP</a:t>
            </a:r>
            <a:endParaRPr lang="en-US" sz="1000" dirty="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C3D22EDB-B078-49B1-4E2A-CD26B7DF32E4}"/>
              </a:ext>
            </a:extLst>
          </p:cNvPr>
          <p:cNvSpPr/>
          <p:nvPr/>
        </p:nvSpPr>
        <p:spPr>
          <a:xfrm>
            <a:off x="9509760" y="201168"/>
            <a:ext cx="1783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4B55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Session 1</a:t>
            </a:r>
            <a:endParaRPr lang="en-US" sz="1000" dirty="0"/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C289D1DF-C284-5037-0732-7DF06E9A15A9}"/>
              </a:ext>
            </a:extLst>
          </p:cNvPr>
          <p:cNvSpPr/>
          <p:nvPr/>
        </p:nvSpPr>
        <p:spPr>
          <a:xfrm>
            <a:off x="502920" y="502920"/>
            <a:ext cx="10469880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F8A3B050-412D-FA5D-688F-49D7C0D9BBDE}"/>
              </a:ext>
            </a:extLst>
          </p:cNvPr>
          <p:cNvSpPr/>
          <p:nvPr/>
        </p:nvSpPr>
        <p:spPr>
          <a:xfrm>
            <a:off x="594360" y="713232"/>
            <a:ext cx="101041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1F29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Step 8: prepare the evidence for an LLM</a:t>
            </a:r>
            <a:endParaRPr lang="en-US" sz="2400" dirty="0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74AA9417-04BC-C33D-2DAE-CC3403DAC045}"/>
              </a:ext>
            </a:extLst>
          </p:cNvPr>
          <p:cNvSpPr/>
          <p:nvPr/>
        </p:nvSpPr>
        <p:spPr>
          <a:xfrm>
            <a:off x="10716768" y="6199632"/>
            <a:ext cx="2743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4B5563"/>
                </a:solidFill>
              </a:rPr>
              <a:t>11</a:t>
            </a:r>
            <a:endParaRPr lang="en-US" sz="800" dirty="0"/>
          </a:p>
        </p:txBody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095CBF21-ADF9-B794-C314-D436A7B7A00A}"/>
              </a:ext>
            </a:extLst>
          </p:cNvPr>
          <p:cNvSpPr/>
          <p:nvPr/>
        </p:nvSpPr>
        <p:spPr>
          <a:xfrm>
            <a:off x="800100" y="5455920"/>
            <a:ext cx="98755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dirty="0"/>
              <a:t>Prompt pattern: </a:t>
            </a:r>
            <a:r>
              <a:rPr lang="en-US" sz="3200" dirty="0">
                <a:solidFill>
                  <a:srgbClr val="FF0000"/>
                </a:solidFill>
              </a:rPr>
              <a:t>role</a:t>
            </a:r>
            <a:r>
              <a:rPr lang="en-US" sz="3200" dirty="0"/>
              <a:t> + </a:t>
            </a:r>
            <a:r>
              <a:rPr lang="en-US" sz="3200" dirty="0">
                <a:solidFill>
                  <a:srgbClr val="FFC000"/>
                </a:solidFill>
              </a:rPr>
              <a:t>evidence</a:t>
            </a:r>
            <a:r>
              <a:rPr lang="en-US" sz="3200" dirty="0"/>
              <a:t> + </a:t>
            </a:r>
            <a:r>
              <a:rPr lang="en-US" sz="3200" dirty="0">
                <a:solidFill>
                  <a:srgbClr val="FFC000"/>
                </a:solidFill>
              </a:rPr>
              <a:t>constraints</a:t>
            </a:r>
            <a:r>
              <a:rPr lang="en-US" sz="3200" dirty="0"/>
              <a:t> + </a:t>
            </a:r>
            <a:r>
              <a:rPr lang="en-US" sz="3200" dirty="0">
                <a:solidFill>
                  <a:srgbClr val="00B0F0"/>
                </a:solidFill>
              </a:rPr>
              <a:t>requested</a:t>
            </a:r>
            <a:r>
              <a:rPr lang="en-US" sz="3200" dirty="0"/>
              <a:t> structure.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A91F1EE-340B-5B42-453D-D68A4445541F}"/>
              </a:ext>
            </a:extLst>
          </p:cNvPr>
          <p:cNvSpPr txBox="1"/>
          <p:nvPr/>
        </p:nvSpPr>
        <p:spPr>
          <a:xfrm>
            <a:off x="594360" y="1288534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https://gemini.google.com/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C2A90C9E-1FE7-D7CC-E5FD-37F84FB9D0F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00580" y="1794256"/>
            <a:ext cx="7274560" cy="36258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1222853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01168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CC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APPLIED AI DESIGN WORKSHOP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9509760" y="201168"/>
            <a:ext cx="1783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4B55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Session 1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502920" y="502920"/>
            <a:ext cx="10469880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594360" y="713232"/>
            <a:ext cx="101041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1F29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Grounded Response Structure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10716768" y="6199632"/>
            <a:ext cx="2743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4B5563"/>
                </a:solidFill>
              </a:rPr>
              <a:t>12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685800" y="1417320"/>
            <a:ext cx="2423160" cy="713232"/>
          </a:xfrm>
          <a:prstGeom prst="rect">
            <a:avLst/>
          </a:prstGeom>
          <a:solidFill>
            <a:srgbClr val="FDEAEA"/>
          </a:solidFill>
          <a:ln w="889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740664" y="1490472"/>
            <a:ext cx="2313432" cy="60350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300" b="1" dirty="0">
                <a:solidFill>
                  <a:srgbClr val="CC0000"/>
                </a:solidFill>
              </a:rPr>
              <a:t>Section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108960" y="1417320"/>
            <a:ext cx="8138160" cy="713232"/>
          </a:xfrm>
          <a:prstGeom prst="rect">
            <a:avLst/>
          </a:prstGeom>
          <a:solidFill>
            <a:srgbClr val="FDEAEA"/>
          </a:solidFill>
          <a:ln w="889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3163824" y="1490472"/>
            <a:ext cx="8028432" cy="60350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300" b="1" dirty="0">
                <a:solidFill>
                  <a:srgbClr val="CC0000"/>
                </a:solidFill>
              </a:rPr>
              <a:t>Content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85800" y="2130552"/>
            <a:ext cx="2423160" cy="713232"/>
          </a:xfrm>
          <a:prstGeom prst="rect">
            <a:avLst/>
          </a:prstGeom>
          <a:solidFill>
            <a:srgbClr val="FFFFFF"/>
          </a:solidFill>
          <a:ln w="889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740664" y="2203704"/>
            <a:ext cx="2313432" cy="60350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300" b="1" dirty="0">
                <a:solidFill>
                  <a:srgbClr val="1F2933"/>
                </a:solidFill>
              </a:rPr>
              <a:t>Technical interpretation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3108960" y="2130552"/>
            <a:ext cx="8138160" cy="713232"/>
          </a:xfrm>
          <a:prstGeom prst="rect">
            <a:avLst/>
          </a:prstGeom>
          <a:solidFill>
            <a:srgbClr val="FFFFFF"/>
          </a:solidFill>
          <a:ln w="889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3163824" y="2203704"/>
            <a:ext cx="8028432" cy="60350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300" dirty="0">
                <a:solidFill>
                  <a:srgbClr val="1F2933"/>
                </a:solidFill>
              </a:rPr>
              <a:t>Model improves accuracy but has low defect recall; screening value is limited.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685800" y="2843784"/>
            <a:ext cx="2423160" cy="713232"/>
          </a:xfrm>
          <a:prstGeom prst="rect">
            <a:avLst/>
          </a:prstGeom>
          <a:solidFill>
            <a:srgbClr val="F8FAFC"/>
          </a:solidFill>
          <a:ln w="889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740664" y="2916936"/>
            <a:ext cx="2313432" cy="60350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300" b="1" dirty="0">
                <a:solidFill>
                  <a:srgbClr val="1F2933"/>
                </a:solidFill>
              </a:rPr>
              <a:t>Manager summary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3108960" y="2843784"/>
            <a:ext cx="8138160" cy="713232"/>
          </a:xfrm>
          <a:prstGeom prst="rect">
            <a:avLst/>
          </a:prstGeom>
          <a:solidFill>
            <a:srgbClr val="F8FAFC"/>
          </a:solidFill>
          <a:ln w="889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3163824" y="2916936"/>
            <a:ext cx="8028432" cy="60350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300" dirty="0">
                <a:solidFill>
                  <a:srgbClr val="1F2933"/>
                </a:solidFill>
              </a:rPr>
              <a:t>Few false alarms, but only about one-quarter of defects detected. Do not replace inspection.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685800" y="3557016"/>
            <a:ext cx="2423160" cy="713232"/>
          </a:xfrm>
          <a:prstGeom prst="rect">
            <a:avLst/>
          </a:prstGeom>
          <a:solidFill>
            <a:srgbClr val="FFFFFF"/>
          </a:solidFill>
          <a:ln w="889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740664" y="3630168"/>
            <a:ext cx="2313432" cy="60350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300" b="1" dirty="0">
                <a:solidFill>
                  <a:srgbClr val="1F2933"/>
                </a:solidFill>
              </a:rPr>
              <a:t>Recommended next analysis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3108960" y="3557016"/>
            <a:ext cx="8138160" cy="713232"/>
          </a:xfrm>
          <a:prstGeom prst="rect">
            <a:avLst/>
          </a:prstGeom>
          <a:solidFill>
            <a:srgbClr val="FFFFFF"/>
          </a:solidFill>
          <a:ln w="889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3163824" y="3630168"/>
            <a:ext cx="8028432" cy="60350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300" dirty="0">
                <a:solidFill>
                  <a:srgbClr val="1F2933"/>
                </a:solidFill>
              </a:rPr>
              <a:t>Evaluate precision–recall tradeoffs across probability thresholds.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685800" y="4270248"/>
            <a:ext cx="2423160" cy="713232"/>
          </a:xfrm>
          <a:prstGeom prst="rect">
            <a:avLst/>
          </a:prstGeom>
          <a:solidFill>
            <a:srgbClr val="F8FAFC"/>
          </a:solidFill>
          <a:ln w="889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740664" y="4343400"/>
            <a:ext cx="2313432" cy="60350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300" b="1" dirty="0">
                <a:solidFill>
                  <a:srgbClr val="1F2933"/>
                </a:solidFill>
              </a:rPr>
              <a:t>Unsupported statement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3108960" y="4270248"/>
            <a:ext cx="8138160" cy="713232"/>
          </a:xfrm>
          <a:prstGeom prst="rect">
            <a:avLst/>
          </a:prstGeom>
          <a:solidFill>
            <a:srgbClr val="F8FAFC"/>
          </a:solidFill>
          <a:ln w="889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3163824" y="4343400"/>
            <a:ext cx="8028432" cy="60350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300" dirty="0">
                <a:solidFill>
                  <a:srgbClr val="1F2933"/>
                </a:solidFill>
              </a:rPr>
              <a:t>Do not claim that measured variables cause defects.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822960" y="5166360"/>
            <a:ext cx="9966960" cy="658368"/>
          </a:xfrm>
          <a:prstGeom prst="roundRect">
            <a:avLst>
              <a:gd name="adj" fmla="val 11111"/>
            </a:avLst>
          </a:prstGeom>
          <a:solidFill>
            <a:srgbClr val="FDEAEA"/>
          </a:solidFill>
          <a:ln w="12700">
            <a:solidFill>
              <a:srgbClr val="CC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1051560" y="5404104"/>
            <a:ext cx="9509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1F2933"/>
                </a:solidFill>
              </a:rPr>
              <a:t>The AI explanation should organize evidence — not create new evidence.</a:t>
            </a:r>
            <a:endParaRPr lang="en-US" sz="17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493776"/>
          </a:xfrm>
          <a:prstGeom prst="rect">
            <a:avLst/>
          </a:prstGeom>
          <a:solidFill>
            <a:srgbClr val="1B365D"/>
          </a:solidFill>
          <a:ln w="12700">
            <a:solidFill>
              <a:srgbClr val="1B365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11480" y="118872"/>
            <a:ext cx="3931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APPLIED AI DESIGN WORKSHOP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8321040" y="118872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Session 1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0" y="493776"/>
            <a:ext cx="12191695" cy="64008"/>
          </a:xfrm>
          <a:prstGeom prst="rect">
            <a:avLst/>
          </a:prstGeom>
          <a:solidFill>
            <a:srgbClr val="CC0000"/>
          </a:solidFill>
          <a:ln w="12700">
            <a:solidFill>
              <a:srgbClr val="CC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502920" y="777240"/>
            <a:ext cx="10881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1B365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Compare AI responses: fluent vs evidence-based</a:t>
            </a:r>
            <a:endParaRPr lang="en-US" sz="2500" dirty="0"/>
          </a:p>
        </p:txBody>
      </p:sp>
      <p:sp>
        <p:nvSpPr>
          <p:cNvPr id="7" name="Text 5"/>
          <p:cNvSpPr/>
          <p:nvPr/>
        </p:nvSpPr>
        <p:spPr>
          <a:xfrm>
            <a:off x="530352" y="1216152"/>
            <a:ext cx="10607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58606A"/>
                </a:solidFill>
              </a:rPr>
              <a:t>Use the comparison to teach AI auditing.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685800" y="1600200"/>
            <a:ext cx="5166360" cy="1143000"/>
          </a:xfrm>
          <a:prstGeom prst="roundRect">
            <a:avLst>
              <a:gd name="adj" fmla="val 6400"/>
            </a:avLst>
          </a:prstGeom>
          <a:solidFill>
            <a:srgbClr val="F4F6F8"/>
          </a:solidFill>
          <a:ln w="12700">
            <a:solidFill>
              <a:srgbClr val="D7DEE8">
                <a:alpha val="9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850392" y="1728216"/>
            <a:ext cx="483717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CC0000"/>
                </a:solidFill>
              </a:rPr>
              <a:t>⚠️ Ungrounded response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850392" y="2075688"/>
            <a:ext cx="4837176" cy="55778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220" dirty="0">
                <a:solidFill>
                  <a:srgbClr val="202124"/>
                </a:solidFill>
              </a:rPr>
              <a:t>May sound confident but can invent causes, prescribe corrective actions, and ignore low recall.</a:t>
            </a:r>
            <a:endParaRPr lang="en-US" sz="1220" dirty="0"/>
          </a:p>
        </p:txBody>
      </p:sp>
      <p:sp>
        <p:nvSpPr>
          <p:cNvPr id="11" name="Shape 9"/>
          <p:cNvSpPr/>
          <p:nvPr/>
        </p:nvSpPr>
        <p:spPr>
          <a:xfrm>
            <a:off x="6355080" y="1600200"/>
            <a:ext cx="5166360" cy="1143000"/>
          </a:xfrm>
          <a:prstGeom prst="roundRect">
            <a:avLst>
              <a:gd name="adj" fmla="val 6400"/>
            </a:avLst>
          </a:prstGeom>
          <a:solidFill>
            <a:srgbClr val="F4F6F8"/>
          </a:solidFill>
          <a:ln w="12700">
            <a:solidFill>
              <a:srgbClr val="D7DEE8">
                <a:alpha val="9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6519672" y="1728216"/>
            <a:ext cx="483717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E7D32"/>
                </a:solidFill>
              </a:rPr>
              <a:t>✓ Grounded response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6519672" y="2075688"/>
            <a:ext cx="4837176" cy="55778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220" dirty="0">
                <a:solidFill>
                  <a:srgbClr val="202124"/>
                </a:solidFill>
              </a:rPr>
              <a:t>Should cite the supplied metrics, state limitations, avoid causal claims, and recommend a defensible next analysis.</a:t>
            </a:r>
            <a:endParaRPr lang="en-US" sz="1220" dirty="0"/>
          </a:p>
        </p:txBody>
      </p:sp>
      <p:sp>
        <p:nvSpPr>
          <p:cNvPr id="14" name="Shape 12"/>
          <p:cNvSpPr/>
          <p:nvPr/>
        </p:nvSpPr>
        <p:spPr>
          <a:xfrm>
            <a:off x="960120" y="3154680"/>
            <a:ext cx="2103120" cy="429768"/>
          </a:xfrm>
          <a:prstGeom prst="rect">
            <a:avLst/>
          </a:prstGeom>
          <a:solidFill>
            <a:srgbClr val="1B365D"/>
          </a:solidFill>
          <a:ln w="6350">
            <a:solidFill>
              <a:srgbClr val="B5C0C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1005840" y="3227832"/>
            <a:ext cx="2011680" cy="32004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FFFFFF"/>
                </a:solidFill>
              </a:rPr>
              <a:t>Audit question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3063240" y="3154680"/>
            <a:ext cx="8046720" cy="429768"/>
          </a:xfrm>
          <a:prstGeom prst="rect">
            <a:avLst/>
          </a:prstGeom>
          <a:solidFill>
            <a:srgbClr val="1B365D"/>
          </a:solidFill>
          <a:ln w="6350">
            <a:solidFill>
              <a:srgbClr val="B5C0C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3108960" y="3227832"/>
            <a:ext cx="7955280" cy="32004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FFFFFF"/>
                </a:solidFill>
              </a:rPr>
              <a:t>What to look for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960120" y="3584448"/>
            <a:ext cx="2103120" cy="429768"/>
          </a:xfrm>
          <a:prstGeom prst="rect">
            <a:avLst/>
          </a:prstGeom>
          <a:solidFill>
            <a:srgbClr val="FFFFFF"/>
          </a:solidFill>
          <a:ln w="6350">
            <a:solidFill>
              <a:srgbClr val="B5C0C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1005840" y="3657600"/>
            <a:ext cx="2011680" cy="32004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202124"/>
                </a:solidFill>
              </a:rPr>
              <a:t>Evidence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3063240" y="3584448"/>
            <a:ext cx="8046720" cy="429768"/>
          </a:xfrm>
          <a:prstGeom prst="rect">
            <a:avLst/>
          </a:prstGeom>
          <a:solidFill>
            <a:srgbClr val="FFFFFF"/>
          </a:solidFill>
          <a:ln w="6350">
            <a:solidFill>
              <a:srgbClr val="B5C0C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3108960" y="3657600"/>
            <a:ext cx="7955280" cy="32004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 algn="l">
              <a:buNone/>
            </a:pPr>
            <a:r>
              <a:rPr lang="en-US" sz="1150" dirty="0">
                <a:solidFill>
                  <a:srgbClr val="202124"/>
                </a:solidFill>
              </a:rPr>
              <a:t>Does every number match the supplied metrics?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960120" y="4014216"/>
            <a:ext cx="2103120" cy="429768"/>
          </a:xfrm>
          <a:prstGeom prst="rect">
            <a:avLst/>
          </a:prstGeom>
          <a:solidFill>
            <a:srgbClr val="FFFFFF"/>
          </a:solidFill>
          <a:ln w="6350">
            <a:solidFill>
              <a:srgbClr val="B5C0C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1005840" y="4087368"/>
            <a:ext cx="2011680" cy="32004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202124"/>
                </a:solidFill>
              </a:rPr>
              <a:t>Interpretation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3063240" y="4014216"/>
            <a:ext cx="8046720" cy="429768"/>
          </a:xfrm>
          <a:prstGeom prst="rect">
            <a:avLst/>
          </a:prstGeom>
          <a:solidFill>
            <a:srgbClr val="FFFFFF"/>
          </a:solidFill>
          <a:ln w="6350">
            <a:solidFill>
              <a:srgbClr val="B5C0C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3108960" y="4087368"/>
            <a:ext cx="7955280" cy="32004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 algn="l">
              <a:buNone/>
            </a:pPr>
            <a:r>
              <a:rPr lang="en-US" sz="1150" dirty="0">
                <a:solidFill>
                  <a:srgbClr val="202124"/>
                </a:solidFill>
              </a:rPr>
              <a:t>Does it distinguish association from causation?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960120" y="4443984"/>
            <a:ext cx="2103120" cy="429768"/>
          </a:xfrm>
          <a:prstGeom prst="rect">
            <a:avLst/>
          </a:prstGeom>
          <a:solidFill>
            <a:srgbClr val="FFFFFF"/>
          </a:solidFill>
          <a:ln w="6350">
            <a:solidFill>
              <a:srgbClr val="B5C0C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1005840" y="4517136"/>
            <a:ext cx="2011680" cy="32004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202124"/>
                </a:solidFill>
              </a:rPr>
              <a:t>Limitations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3063240" y="4443984"/>
            <a:ext cx="8046720" cy="429768"/>
          </a:xfrm>
          <a:prstGeom prst="rect">
            <a:avLst/>
          </a:prstGeom>
          <a:solidFill>
            <a:srgbClr val="FFFFFF"/>
          </a:solidFill>
          <a:ln w="6350">
            <a:solidFill>
              <a:srgbClr val="B5C0C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3108960" y="4517136"/>
            <a:ext cx="7955280" cy="32004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 algn="l">
              <a:buNone/>
            </a:pPr>
            <a:r>
              <a:rPr lang="en-US" sz="1150" dirty="0">
                <a:solidFill>
                  <a:srgbClr val="202124"/>
                </a:solidFill>
              </a:rPr>
              <a:t>Does it mention low recall and lack of external validation?</a:t>
            </a:r>
            <a:endParaRPr lang="en-US" sz="1150" dirty="0"/>
          </a:p>
        </p:txBody>
      </p:sp>
      <p:sp>
        <p:nvSpPr>
          <p:cNvPr id="30" name="Shape 28"/>
          <p:cNvSpPr/>
          <p:nvPr/>
        </p:nvSpPr>
        <p:spPr>
          <a:xfrm>
            <a:off x="960120" y="4873752"/>
            <a:ext cx="2103120" cy="429768"/>
          </a:xfrm>
          <a:prstGeom prst="rect">
            <a:avLst/>
          </a:prstGeom>
          <a:solidFill>
            <a:srgbClr val="FFFFFF"/>
          </a:solidFill>
          <a:ln w="6350">
            <a:solidFill>
              <a:srgbClr val="B5C0C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1005840" y="4946904"/>
            <a:ext cx="2011680" cy="32004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202124"/>
                </a:solidFill>
              </a:rPr>
              <a:t>Action</a:t>
            </a:r>
            <a:endParaRPr lang="en-US" sz="1150" dirty="0"/>
          </a:p>
        </p:txBody>
      </p:sp>
      <p:sp>
        <p:nvSpPr>
          <p:cNvPr id="32" name="Shape 30"/>
          <p:cNvSpPr/>
          <p:nvPr/>
        </p:nvSpPr>
        <p:spPr>
          <a:xfrm>
            <a:off x="3063240" y="4873752"/>
            <a:ext cx="8046720" cy="429768"/>
          </a:xfrm>
          <a:prstGeom prst="rect">
            <a:avLst/>
          </a:prstGeom>
          <a:solidFill>
            <a:srgbClr val="FFFFFF"/>
          </a:solidFill>
          <a:ln w="6350">
            <a:solidFill>
              <a:srgbClr val="B5C0C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3108960" y="4946904"/>
            <a:ext cx="7955280" cy="32004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 algn="l">
              <a:buNone/>
            </a:pPr>
            <a:r>
              <a:rPr lang="en-US" sz="1150" dirty="0">
                <a:solidFill>
                  <a:srgbClr val="202124"/>
                </a:solidFill>
              </a:rPr>
              <a:t>Is the recommendation consistent with the evidence?</a:t>
            </a:r>
            <a:endParaRPr lang="en-US" sz="1150" dirty="0"/>
          </a:p>
        </p:txBody>
      </p:sp>
      <p:sp>
        <p:nvSpPr>
          <p:cNvPr id="34" name="Text 32"/>
          <p:cNvSpPr/>
          <p:nvPr/>
        </p:nvSpPr>
        <p:spPr>
          <a:xfrm>
            <a:off x="11567160" y="6528816"/>
            <a:ext cx="320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7B8490"/>
                </a:solidFill>
              </a:rPr>
              <a:t>9</a:t>
            </a:r>
            <a:endParaRPr lang="en-US" sz="8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01168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CC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APPLIED AI DESIGN WORKSHOP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10012680" y="201168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4B55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Session 1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502920" y="502920"/>
            <a:ext cx="10469880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594360" y="713232"/>
            <a:ext cx="100584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1F29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Transition to AI: predictive evidence becomes context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10716768" y="6199632"/>
            <a:ext cx="2743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4B5563"/>
                </a:solidFill>
              </a:rPr>
              <a:t>6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731520" y="2011680"/>
            <a:ext cx="10424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10000"/>
          </a:bodyPr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1F2933"/>
                </a:solidFill>
              </a:rPr>
              <a:t>Data → Baseline → Model → Metrics → Interpretation → LLM/RAG workflow → Human review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1554480" y="3657600"/>
            <a:ext cx="8412480" cy="15544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177800" indent="-177800">
              <a:buSzPct val="100000"/>
              <a:buChar char="•"/>
            </a:pPr>
            <a:r>
              <a:rPr lang="en-US" sz="1800" dirty="0">
                <a:solidFill>
                  <a:srgbClr val="1F29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model does not become the full AI system.</a:t>
            </a:r>
            <a:endParaRPr lang="en-US" sz="1800" dirty="0"/>
          </a:p>
          <a:p>
            <a:pPr marL="177800" indent="-177800">
              <a:buSzPct val="100000"/>
              <a:buChar char="•"/>
            </a:pPr>
            <a:r>
              <a:rPr lang="en-US" sz="1800" dirty="0">
                <a:solidFill>
                  <a:srgbClr val="1F29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LLM should explain evidence, not invent evidence.</a:t>
            </a:r>
            <a:endParaRPr lang="en-US" sz="1800" dirty="0"/>
          </a:p>
          <a:p>
            <a:pPr marL="177800" indent="-177800">
              <a:buSzPct val="100000"/>
              <a:buChar char="•"/>
            </a:pPr>
            <a:r>
              <a:rPr lang="en-US" sz="1800" dirty="0">
                <a:solidFill>
                  <a:srgbClr val="1F29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human should decide whether the explanation is acceptable.</a:t>
            </a:r>
            <a:endParaRPr lang="en-US" sz="18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493776"/>
          </a:xfrm>
          <a:prstGeom prst="rect">
            <a:avLst/>
          </a:prstGeom>
          <a:solidFill>
            <a:srgbClr val="1B365D"/>
          </a:solidFill>
          <a:ln w="12700">
            <a:solidFill>
              <a:srgbClr val="1B365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11480" y="118872"/>
            <a:ext cx="3931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APPLIED AI DESIGN WORKSHOP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8321040" y="118872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Session 1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0" y="493776"/>
            <a:ext cx="12191695" cy="64008"/>
          </a:xfrm>
          <a:prstGeom prst="rect">
            <a:avLst/>
          </a:prstGeom>
          <a:solidFill>
            <a:srgbClr val="CC0000"/>
          </a:solidFill>
          <a:ln w="12700">
            <a:solidFill>
              <a:srgbClr val="CC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502920" y="777240"/>
            <a:ext cx="10881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1B365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Closing message</a:t>
            </a:r>
            <a:endParaRPr lang="en-US" sz="2500" dirty="0"/>
          </a:p>
        </p:txBody>
      </p:sp>
      <p:sp>
        <p:nvSpPr>
          <p:cNvPr id="7" name="Text 5"/>
          <p:cNvSpPr/>
          <p:nvPr/>
        </p:nvSpPr>
        <p:spPr>
          <a:xfrm>
            <a:off x="530352" y="1216152"/>
            <a:ext cx="10607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58606A"/>
                </a:solidFill>
              </a:rPr>
              <a:t>Evidence-grounded AI is a workflow design problem.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914400" y="1828800"/>
            <a:ext cx="2926080" cy="914400"/>
          </a:xfrm>
          <a:prstGeom prst="roundRect">
            <a:avLst>
              <a:gd name="adj" fmla="val 8000"/>
            </a:avLst>
          </a:prstGeom>
          <a:solidFill>
            <a:srgbClr val="CC0000"/>
          </a:solidFill>
          <a:ln w="12700">
            <a:solidFill>
              <a:srgbClr val="CC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1005840" y="1947672"/>
            <a:ext cx="2743200" cy="7315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Do not ask: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“Can AI explain this?”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886200" y="2286000"/>
            <a:ext cx="777240" cy="0"/>
          </a:xfrm>
          <a:prstGeom prst="line">
            <a:avLst/>
          </a:prstGeom>
          <a:noFill/>
          <a:ln w="27940">
            <a:solidFill>
              <a:srgbClr val="CC0000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4663440" y="1691640"/>
            <a:ext cx="3703320" cy="1188720"/>
          </a:xfrm>
          <a:prstGeom prst="roundRect">
            <a:avLst>
              <a:gd name="adj" fmla="val 6154"/>
            </a:avLst>
          </a:prstGeom>
          <a:solidFill>
            <a:srgbClr val="1B365D"/>
          </a:solidFill>
          <a:ln w="12700">
            <a:solidFill>
              <a:srgbClr val="1B365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4754880" y="1810512"/>
            <a:ext cx="3520440" cy="10058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Ask instead: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“What evidence can AI use, and what must it not claim?”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8366760" y="2286000"/>
            <a:ext cx="777240" cy="0"/>
          </a:xfrm>
          <a:prstGeom prst="line">
            <a:avLst/>
          </a:prstGeom>
          <a:noFill/>
          <a:ln w="27940">
            <a:solidFill>
              <a:srgbClr val="CC0000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9144000" y="1691640"/>
            <a:ext cx="2240280" cy="1188720"/>
          </a:xfrm>
          <a:prstGeom prst="roundRect">
            <a:avLst>
              <a:gd name="adj" fmla="val 6154"/>
            </a:avLst>
          </a:prstGeom>
          <a:solidFill>
            <a:srgbClr val="F6C445"/>
          </a:solidFill>
          <a:ln w="12700">
            <a:solidFill>
              <a:srgbClr val="F6C44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9235440" y="1810512"/>
            <a:ext cx="2057400" cy="10058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B365D"/>
                </a:solidFill>
              </a:rPr>
              <a:t>Then design: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1B365D"/>
                </a:solidFill>
              </a:rPr>
              <a:t>Grounding • limits • review • evaluation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1567160" y="6528816"/>
            <a:ext cx="320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7B8490"/>
                </a:solidFill>
              </a:rPr>
              <a:t>13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82</TotalTime>
  <Words>1373</Words>
  <Application>Microsoft Office PowerPoint</Application>
  <PresentationFormat>Widescreen</PresentationFormat>
  <Paragraphs>297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3" baseType="lpstr">
      <vt:lpstr>Aptos</vt:lpstr>
      <vt:lpstr>Aptos Display</vt:lpstr>
      <vt:lpstr>Arial</vt:lpstr>
      <vt:lpstr>Courier New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NC State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Day 3–4 Synthesis</dc:title>
  <dc:subject>Applied AI Design Workshop</dc:subject>
  <dc:creator>Fred Livingston</dc:creator>
  <cp:lastModifiedBy>Fred Livingston</cp:lastModifiedBy>
  <cp:revision>14</cp:revision>
  <dcterms:created xsi:type="dcterms:W3CDTF">2026-07-17T04:23:23Z</dcterms:created>
  <dcterms:modified xsi:type="dcterms:W3CDTF">2026-07-17T15:23:58Z</dcterms:modified>
</cp:coreProperties>
</file>