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62" r:id="rId4"/>
    <p:sldId id="260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61" r:id="rId17"/>
    <p:sldId id="274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6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25544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NC State Engineering -- ANS / Conferences / 2021 Student Conference">
            <a:extLst>
              <a:ext uri="{FF2B5EF4-FFF2-40B4-BE49-F238E27FC236}">
                <a16:creationId xmlns:a16="http://schemas.microsoft.com/office/drawing/2014/main" id="{8F3784AA-2818-E7AF-6E6A-BD6117BEBC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03457" y="81291"/>
            <a:ext cx="1551223" cy="43240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1044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7548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5 · Session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21792" y="987552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 package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21792" y="2029968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an AI evidence package from prior workshop results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1792" y="2788920"/>
            <a:ext cx="2011680" cy="7315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21792" y="5230368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 for Faculty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Fred Livingston (fjliving@ncsu.edu)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012680" y="2011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Purpose: convert prior work into AI-ready evidence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C0000"/>
                </a:solidFill>
              </a:rPr>
              <a:t>What participants already created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4572000" cy="3566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 statements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Regression or classification metrics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comparisons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Data-preparation decisions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Feature-engineering rationale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Cluster profiles or PCA views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0" y="14173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C0000"/>
                </a:solidFill>
              </a:rPr>
              <a:t>What AI needs to stay grounded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715000" y="1874520"/>
            <a:ext cx="4572000" cy="3566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source context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Metrics and visuals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limitations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Definitions of inputs and targets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Boundaries on claims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criteria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201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Activity: purpose and outputs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31520" y="132588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1F2933"/>
                </a:solidFill>
              </a:rPr>
              <a:t>Convert prior ML work into a concise evidence package that an AI system can use without inventing claims.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77240" y="2148840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EAF3FB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0392" y="2331720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</a:rPr>
              <a:t>Day 3–4 evidence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496312" y="2350008"/>
            <a:ext cx="265176" cy="256032"/>
          </a:xfrm>
          <a:prstGeom prst="rightArrow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88920" y="2148840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EAF3FB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862072" y="2331720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</a:rPr>
              <a:t>Model result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07992" y="2350008"/>
            <a:ext cx="265176" cy="256032"/>
          </a:xfrm>
          <a:prstGeom prst="rightArrow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00600" y="2148840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EAF3FB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73752" y="2331720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</a:rPr>
              <a:t>Limitations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519672" y="2350008"/>
            <a:ext cx="265176" cy="256032"/>
          </a:xfrm>
          <a:prstGeom prst="rightArrow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12280" y="2148840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EAF3FB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85432" y="2331720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</a:rPr>
              <a:t>Grounded prompt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531352" y="2350008"/>
            <a:ext cx="265176" cy="256032"/>
          </a:xfrm>
          <a:prstGeom prst="rightArrow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823960" y="2148840"/>
            <a:ext cx="1691640" cy="685800"/>
          </a:xfrm>
          <a:prstGeom prst="roundRect">
            <a:avLst>
              <a:gd name="adj" fmla="val 8000"/>
            </a:avLst>
          </a:prstGeom>
          <a:solidFill>
            <a:srgbClr val="EAF3FB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897112" y="2331720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</a:rPr>
              <a:t>AI response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3429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C0000"/>
                </a:solidFill>
              </a:rPr>
              <a:t>Completed package should answer: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60120" y="3886200"/>
            <a:ext cx="9692640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evidence do we have?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does it support?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does it not support?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should an AI system use it?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012680" y="2011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 package template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</a:rPr>
              <a:t>Problem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43200" y="1581912"/>
            <a:ext cx="77724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1947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</a:rPr>
              <a:t>Dataset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43200" y="2112264"/>
            <a:ext cx="77724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24780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</a:rPr>
              <a:t>Model or method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743200" y="2642616"/>
            <a:ext cx="77724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2960" y="300837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</a:rPr>
              <a:t>Metric/result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743200" y="3172968"/>
            <a:ext cx="77724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3538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</a:rPr>
              <a:t>Visualization/table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743200" y="3703320"/>
            <a:ext cx="77724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4069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</a:rPr>
              <a:t>Limitations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743200" y="4233672"/>
            <a:ext cx="77724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22960" y="45994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</a:rPr>
              <a:t>Human decision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743200" y="4764024"/>
            <a:ext cx="77724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539496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F2933"/>
                </a:solidFill>
              </a:rPr>
              <a:t>Keep this packet concise: the AI system should use it as grounding context, not as a replacement for disciplinary judgment.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201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Guided scenario: predicting defective process runs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2933"/>
                </a:solidFill>
              </a:rPr>
              <a:t>A faculty research group wants to determine whether process measurements can help identify manufacturing runs likely to produce a defect.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2331720"/>
            <a:ext cx="2148840" cy="484632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32104" y="2404872"/>
            <a:ext cx="203911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</a:rPr>
              <a:t>Element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926080" y="2331720"/>
            <a:ext cx="7955280" cy="484632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80944" y="2404872"/>
            <a:ext cx="784555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</a:rPr>
              <a:t>Guided example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2816352"/>
            <a:ext cx="214884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" y="2889504"/>
            <a:ext cx="203911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Intended user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26080" y="2816352"/>
            <a:ext cx="795528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980944" y="2889504"/>
            <a:ext cx="784555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Process engineer or laboratory researcher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77240" y="3300984"/>
            <a:ext cx="2148840" cy="484632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2104" y="3374136"/>
            <a:ext cx="203911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Decision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926080" y="3300984"/>
            <a:ext cx="7955280" cy="484632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980944" y="3374136"/>
            <a:ext cx="784555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Flag runs for additional inspection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77240" y="3785616"/>
            <a:ext cx="214884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32104" y="3858768"/>
            <a:ext cx="203911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Unit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926080" y="3785616"/>
            <a:ext cx="795528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980944" y="3858768"/>
            <a:ext cx="784555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One manufacturing process run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" y="4270248"/>
            <a:ext cx="2148840" cy="484632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2104" y="4343400"/>
            <a:ext cx="203911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Target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926080" y="4270248"/>
            <a:ext cx="7955280" cy="484632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980944" y="4343400"/>
            <a:ext cx="784555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Defect vs. acceptable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77240" y="4754880"/>
            <a:ext cx="214884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2104" y="4828032"/>
            <a:ext cx="203911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Model role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926080" y="4754880"/>
            <a:ext cx="7955280" cy="484632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980944" y="4828032"/>
            <a:ext cx="7845552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Decision support, not automatic approval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68680" y="548640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C0000"/>
                </a:solidFill>
              </a:rPr>
              <a:t>Key framing question: what decision would change if the evidence were reliable?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201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1: state the problem precisely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10149840" cy="1078992"/>
          </a:xfrm>
          <a:prstGeom prst="roundRect">
            <a:avLst>
              <a:gd name="adj" fmla="val 6780"/>
            </a:avLst>
          </a:prstGeom>
          <a:solidFill>
            <a:srgbClr val="FDEAEA"/>
          </a:solidFill>
          <a:ln w="1524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1560" y="1691640"/>
            <a:ext cx="9601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3"/>
                </a:solidFill>
              </a:rPr>
              <a:t>Can process temperature, pressure, speed, and vibration be used to predict whether a manufacturing run will produce a defective part?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14400" y="2971800"/>
            <a:ext cx="2103120" cy="512064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69264" y="3044952"/>
            <a:ext cx="19933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</a:rPr>
              <a:t>Field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017520" y="2971800"/>
            <a:ext cx="7680960" cy="512064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72384" y="3044952"/>
            <a:ext cx="75712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</a:rPr>
              <a:t>Entry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483864"/>
            <a:ext cx="2103120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9264" y="3557016"/>
            <a:ext cx="19933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Inputs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017520" y="3483864"/>
            <a:ext cx="7680960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72384" y="3557016"/>
            <a:ext cx="75712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Temperature, pressure, speed, vibration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3995928"/>
            <a:ext cx="2103120" cy="512064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69264" y="4069080"/>
            <a:ext cx="19933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Target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017520" y="3995928"/>
            <a:ext cx="7680960" cy="512064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072384" y="4069080"/>
            <a:ext cx="75712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0 = acceptable; 1 = defective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14400" y="4507992"/>
            <a:ext cx="2103120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69264" y="4581144"/>
            <a:ext cx="19933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Task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017520" y="4507992"/>
            <a:ext cx="7680960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072384" y="4581144"/>
            <a:ext cx="75712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Binary classification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4400" y="5020056"/>
            <a:ext cx="2103120" cy="512064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69264" y="5093208"/>
            <a:ext cx="19933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Metric priority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017520" y="5020056"/>
            <a:ext cx="7680960" cy="512064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072384" y="5093208"/>
            <a:ext cx="757123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Recall if missed defects are costly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201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2: describe the dataset and class balance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822960" y="1417320"/>
            <a:ext cx="21945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245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9264" y="154533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B5563"/>
                </a:solidFill>
              </a:rPr>
              <a:t>Total process runs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9264" y="1801368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45B8C"/>
                </a:solidFill>
              </a:rPr>
              <a:t>220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69264" y="2194560"/>
            <a:ext cx="1901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B5563"/>
                </a:solidFill>
              </a:rPr>
              <a:t>rows / observations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37560" y="1417320"/>
            <a:ext cx="21945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83864" y="154533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B5563"/>
                </a:solidFill>
              </a:rPr>
              <a:t>Acceptable runs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83864" y="1801368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D32"/>
                </a:solidFill>
              </a:rPr>
              <a:t>176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483864" y="2194560"/>
            <a:ext cx="1901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B5563"/>
                </a:solidFill>
              </a:rPr>
              <a:t>80% of dataset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52160" y="1417320"/>
            <a:ext cx="21945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98464" y="154533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B5563"/>
                </a:solidFill>
              </a:rPr>
              <a:t>Defective runs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98464" y="1801368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C0000"/>
                </a:solidFill>
              </a:rPr>
              <a:t>44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998464" y="2194560"/>
            <a:ext cx="1901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B5563"/>
                </a:solidFill>
              </a:rPr>
              <a:t>20% of dataset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366760" y="1417320"/>
            <a:ext cx="21945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513064" y="1545336"/>
            <a:ext cx="1901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B5563"/>
                </a:solidFill>
              </a:rPr>
              <a:t>Initial concern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13064" y="1801368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B7791F"/>
                </a:solidFill>
              </a:rPr>
              <a:t>Imbalance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513064" y="2194560"/>
            <a:ext cx="1901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B5563"/>
                </a:solidFill>
              </a:rPr>
              <a:t>accuracy may mislead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68680" y="3063240"/>
            <a:ext cx="2651760" cy="384048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23544" y="3136392"/>
            <a:ext cx="2542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CC0000"/>
                </a:solidFill>
              </a:rPr>
              <a:t>Variable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3520440" y="3063240"/>
            <a:ext cx="7086600" cy="384048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575304" y="3136392"/>
            <a:ext cx="69768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CC0000"/>
                </a:solidFill>
              </a:rPr>
              <a:t>Meaning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68680" y="3447288"/>
            <a:ext cx="265176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23544" y="3520440"/>
            <a:ext cx="2542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temperature_c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520440" y="3447288"/>
            <a:ext cx="708660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575304" y="3520440"/>
            <a:ext cx="69768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Process temperature in degrees Celsius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68680" y="3831336"/>
            <a:ext cx="2651760" cy="384048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23544" y="3904488"/>
            <a:ext cx="2542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pressure_kpa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3520440" y="3831336"/>
            <a:ext cx="7086600" cy="384048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575304" y="3904488"/>
            <a:ext cx="69768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Process pressure in kilopascals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68680" y="4215384"/>
            <a:ext cx="265176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23544" y="4288536"/>
            <a:ext cx="2542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speed_mm_s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3520440" y="4215384"/>
            <a:ext cx="708660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575304" y="4288536"/>
            <a:ext cx="69768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Process speed in millimeters per second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68680" y="4599432"/>
            <a:ext cx="2651760" cy="384048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23544" y="4672584"/>
            <a:ext cx="2542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vibration_mm_s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3520440" y="4599432"/>
            <a:ext cx="7086600" cy="384048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575304" y="4672584"/>
            <a:ext cx="69768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Measured vibration in millimeters per second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68680" y="4983480"/>
            <a:ext cx="265176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23544" y="5056632"/>
            <a:ext cx="254203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defect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520440" y="4983480"/>
            <a:ext cx="7086600" cy="384048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575304" y="5056632"/>
            <a:ext cx="6976872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Binary quality outcome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05840" y="5577840"/>
            <a:ext cx="923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C0000"/>
                </a:solidFill>
              </a:rPr>
              <a:t>A majority-class model can appear accurate while detecting no defects.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201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3: establish the baseline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F2933"/>
                </a:solidFill>
              </a:rPr>
              <a:t>Baseline rule: predict every process run as acceptable.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51560" y="2148840"/>
            <a:ext cx="42062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97864" y="22768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B5563"/>
                </a:solidFill>
              </a:rPr>
              <a:t>Baseline accuracy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97864" y="2532888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D32"/>
                </a:solidFill>
              </a:rPr>
              <a:t>0.800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97864" y="2926080"/>
            <a:ext cx="3913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B5563"/>
                </a:solidFill>
              </a:rPr>
              <a:t>correct mostly because defects are rare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80760" y="2148840"/>
            <a:ext cx="42062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27064" y="22768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B5563"/>
                </a:solidFill>
              </a:rPr>
              <a:t>Baseline defect recall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27064" y="2532888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CC0000"/>
                </a:solidFill>
              </a:rPr>
              <a:t>0.000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27064" y="2926080"/>
            <a:ext cx="39136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B5563"/>
                </a:solidFill>
              </a:rPr>
              <a:t>misses every defect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051560" y="3703320"/>
            <a:ext cx="923544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51560" y="39776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C0000"/>
                </a:solidFill>
              </a:rPr>
              <a:t>Interpretation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88720" y="4434840"/>
            <a:ext cx="905256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alone is not adequate for this problem.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baseline clarifies the minimum value a model must exceed.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 recall is essential if missed defects are expensive.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201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4: summarize the trained model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" y="13533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3"/>
                </a:solidFill>
              </a:rPr>
              <a:t>Model: standardized logistic-regression classifier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1755648"/>
            <a:ext cx="8778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B5563"/>
                </a:solidFill>
              </a:rPr>
              <a:t>Data split: 75% training / 25% test · stratified · fixed random state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2148840" cy="512064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23544" y="2404872"/>
            <a:ext cx="203911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</a:rPr>
              <a:t>Metric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017520" y="2331720"/>
            <a:ext cx="1920240" cy="512064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72384" y="2404872"/>
            <a:ext cx="181051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CC0000"/>
                </a:solidFill>
              </a:rPr>
              <a:t>Result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8680" y="2843784"/>
            <a:ext cx="2148840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23544" y="2916936"/>
            <a:ext cx="203911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Accuracy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017520" y="2843784"/>
            <a:ext cx="1920240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72384" y="2916936"/>
            <a:ext cx="181051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0.855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68680" y="3355848"/>
            <a:ext cx="2148840" cy="512064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3544" y="3429000"/>
            <a:ext cx="203911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Precision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017520" y="3355848"/>
            <a:ext cx="1920240" cy="512064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072384" y="3429000"/>
            <a:ext cx="181051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1.000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68680" y="3867912"/>
            <a:ext cx="2148840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23544" y="3941064"/>
            <a:ext cx="203911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Recall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017520" y="3867912"/>
            <a:ext cx="1920240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072384" y="3941064"/>
            <a:ext cx="181051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0.273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68680" y="4379976"/>
            <a:ext cx="2148840" cy="512064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3544" y="4453128"/>
            <a:ext cx="203911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</a:rPr>
              <a:t>F1 score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017520" y="4379976"/>
            <a:ext cx="1920240" cy="512064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072384" y="4453128"/>
            <a:ext cx="181051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3"/>
                </a:solidFill>
              </a:rPr>
              <a:t>0.429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0" y="2331720"/>
            <a:ext cx="1965960" cy="603504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541264" y="2404872"/>
            <a:ext cx="18562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452360" y="2331720"/>
            <a:ext cx="1965960" cy="603504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507224" y="2404872"/>
            <a:ext cx="18562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</a:rPr>
              <a:t>Predicted acceptable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418320" y="2331720"/>
            <a:ext cx="1828800" cy="603504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473184" y="2404872"/>
            <a:ext cx="171907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</a:rPr>
              <a:t>Predicted defect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0" y="2935224"/>
            <a:ext cx="1965960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541264" y="3008376"/>
            <a:ext cx="18562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</a:rPr>
              <a:t>Actual acceptable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452360" y="2935224"/>
            <a:ext cx="1965960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507224" y="3008376"/>
            <a:ext cx="18562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</a:rPr>
              <a:t>44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418320" y="2935224"/>
            <a:ext cx="1828800" cy="603504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473184" y="3008376"/>
            <a:ext cx="171907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</a:rPr>
              <a:t>0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0" y="3538728"/>
            <a:ext cx="1965960" cy="603504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541264" y="3611880"/>
            <a:ext cx="18562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</a:rPr>
              <a:t>Actual defect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452360" y="3538728"/>
            <a:ext cx="1965960" cy="603504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507224" y="3611880"/>
            <a:ext cx="18562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</a:rPr>
              <a:t>8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9418320" y="3538728"/>
            <a:ext cx="1828800" cy="603504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9473184" y="3611880"/>
            <a:ext cx="171907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</a:rPr>
              <a:t>3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60120" y="5212080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C0000"/>
                </a:solidFill>
              </a:rPr>
              <a:t>The model produces few false alarms, but misses most actual defects.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201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5: interpret the evidence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</a:rPr>
              <a:t>What the model did well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Improved accuracy from 0.800 to 0.855.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predicted defect was actually defective.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Produced no false alarms in the test set.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807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C0000"/>
                </a:solidFill>
              </a:rPr>
              <a:t>What the model did poorly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172200" y="1920240"/>
            <a:ext cx="475488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Detected only 3 of 11 defective runs.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Missed 8 defective runs.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 recall was only about 27%.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05840" y="4343400"/>
            <a:ext cx="9875520" cy="786384"/>
          </a:xfrm>
          <a:prstGeom prst="roundRect">
            <a:avLst>
              <a:gd name="adj" fmla="val 9302"/>
            </a:avLst>
          </a:prstGeom>
          <a:solidFill>
            <a:srgbClr val="FFF7E6"/>
          </a:solidFill>
          <a:ln w="13970">
            <a:solidFill>
              <a:srgbClr val="B779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34440" y="4608576"/>
            <a:ext cx="9418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3"/>
                </a:solidFill>
              </a:rPr>
              <a:t>Practical meaning: the model is conservative and should not be used as the sole quality-control mechanism.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201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6: document limitations and next step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C0000"/>
                </a:solidFill>
              </a:rPr>
              <a:t>Limitations to report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1828800"/>
            <a:ext cx="4754880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220 observations.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four process variables.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train/test split.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external or prospective validation.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Associations do not prove causes.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80760" y="1371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C0000"/>
                </a:solidFill>
              </a:rPr>
              <a:t>Recommended next step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172200" y="1828800"/>
            <a:ext cx="4754880" cy="3017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lower decision thresholds.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class weighting.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 more defective-run examples.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Examine errors by machine, material, or operating condition.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cross-validation before drawing stronger conclusions.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559552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933"/>
                </a:solidFill>
              </a:rPr>
              <a:t>Rule of thumb: limitations are part of the evidence package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201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7: completed AI evidence package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10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1325880"/>
            <a:ext cx="1965960" cy="502920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57784" y="1399032"/>
            <a:ext cx="185623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CC0000"/>
                </a:solidFill>
              </a:rPr>
              <a:t>Field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68880" y="1325880"/>
            <a:ext cx="9144000" cy="502920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23744" y="1399032"/>
            <a:ext cx="903427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CC0000"/>
                </a:solidFill>
              </a:rPr>
              <a:t>Example entry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828800"/>
            <a:ext cx="196596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57784" y="1901952"/>
            <a:ext cx="185623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Problem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468880" y="1828800"/>
            <a:ext cx="91440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523744" y="1901952"/>
            <a:ext cx="903427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Predict whether a process run will produce a defect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2331720"/>
            <a:ext cx="1965960" cy="502920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7784" y="2404872"/>
            <a:ext cx="185623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Inputs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468880" y="2331720"/>
            <a:ext cx="9144000" cy="502920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523744" y="2404872"/>
            <a:ext cx="903427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Temperature, pressure, speed, vibration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834640"/>
            <a:ext cx="196596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57784" y="2907792"/>
            <a:ext cx="185623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Baseline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468880" y="2834640"/>
            <a:ext cx="91440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523744" y="2907792"/>
            <a:ext cx="903427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Majority-class prediction: accuracy 0.800; recall 0.000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2920" y="3337560"/>
            <a:ext cx="1965960" cy="502920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57784" y="3410712"/>
            <a:ext cx="185623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Model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2468880" y="3337560"/>
            <a:ext cx="9144000" cy="502920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523744" y="3410712"/>
            <a:ext cx="903427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Standardized logistic regression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3840480"/>
            <a:ext cx="196596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57784" y="3913632"/>
            <a:ext cx="185623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Result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2468880" y="3840480"/>
            <a:ext cx="91440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523744" y="3913632"/>
            <a:ext cx="903427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Accuracy 0.855; precision 1.000; recall 0.273; F1 0.429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" y="4343400"/>
            <a:ext cx="1965960" cy="502920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57784" y="4416552"/>
            <a:ext cx="185623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Boundary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468880" y="4343400"/>
            <a:ext cx="9144000" cy="502920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523744" y="4416552"/>
            <a:ext cx="903427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Does not prove process variables cause defects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02920" y="4846320"/>
            <a:ext cx="196596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57784" y="4919472"/>
            <a:ext cx="185623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933"/>
                </a:solidFill>
              </a:rPr>
              <a:t>Next step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2468880" y="4846320"/>
            <a:ext cx="9144000" cy="502920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523744" y="4919472"/>
            <a:ext cx="9034272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3"/>
                </a:solidFill>
              </a:rPr>
              <a:t>Adjust threshold, test class weighting, collect more defect data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201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8: prepare the evidence for an LLM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11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1325880"/>
            <a:ext cx="10515600" cy="4160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1572768"/>
            <a:ext cx="100584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assisting a process engineer. Use only the evidence provided below.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not invent causes, variables, or performance results.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Dataset: 220 process runs; 20% defective.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Inputs: temperature, pressure, speed, vibration.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Baseline: accuracy 0.800; defect recall 0.000.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Logistic regression: accuracy 0.855, precision 1.000, recall 0.273, F1 0.429.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Confusion matrix: TN=44, FP=0, FN=8, TP=3.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Limitations: small dataset, single split, limited inputs, no external validation.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Produce: technical interpretation, manager summary, next analysis, and one unsupported claim.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60120" y="565099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C0000"/>
                </a:solidFill>
              </a:rPr>
              <a:t>Prompt pattern: role + evidence + constraints + requested structure.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20116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104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Grounded Response 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2423160" cy="713232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0664" y="1490472"/>
            <a:ext cx="23134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</a:rPr>
              <a:t>Section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08960" y="1417320"/>
            <a:ext cx="8138160" cy="713232"/>
          </a:xfrm>
          <a:prstGeom prst="rect">
            <a:avLst/>
          </a:prstGeom>
          <a:solidFill>
            <a:srgbClr val="FDEAEA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63824" y="1490472"/>
            <a:ext cx="80284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CC0000"/>
                </a:solidFill>
              </a:rPr>
              <a:t>Content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2130552"/>
            <a:ext cx="2423160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40664" y="2203704"/>
            <a:ext cx="23134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</a:rPr>
              <a:t>Technical interpretation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108960" y="2130552"/>
            <a:ext cx="8138160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163824" y="2203704"/>
            <a:ext cx="80284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</a:rPr>
              <a:t>Model improves accuracy but has low defect recall; screening value is limited.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2843784"/>
            <a:ext cx="2423160" cy="713232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40664" y="2916936"/>
            <a:ext cx="23134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</a:rPr>
              <a:t>Manager summary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108960" y="2843784"/>
            <a:ext cx="8138160" cy="713232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163824" y="2916936"/>
            <a:ext cx="80284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</a:rPr>
              <a:t>Few false alarms, but only about one-quarter of defects detected. Do not replace inspection.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3557016"/>
            <a:ext cx="2423160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40664" y="3630168"/>
            <a:ext cx="23134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</a:rPr>
              <a:t>Recommended next analysis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108960" y="3557016"/>
            <a:ext cx="8138160" cy="713232"/>
          </a:xfrm>
          <a:prstGeom prst="rect">
            <a:avLst/>
          </a:prstGeom>
          <a:solidFill>
            <a:srgbClr val="FFFFFF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163824" y="3630168"/>
            <a:ext cx="80284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</a:rPr>
              <a:t>Evaluate precision–recall tradeoffs across probability thresholds.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4270248"/>
            <a:ext cx="2423160" cy="713232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0664" y="4343400"/>
            <a:ext cx="23134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3"/>
                </a:solidFill>
              </a:rPr>
              <a:t>Unsupported statement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108960" y="4270248"/>
            <a:ext cx="8138160" cy="713232"/>
          </a:xfrm>
          <a:prstGeom prst="rect">
            <a:avLst/>
          </a:prstGeom>
          <a:solidFill>
            <a:srgbClr val="F8FAFC"/>
          </a:solidFill>
          <a:ln w="889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163824" y="4343400"/>
            <a:ext cx="80284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3"/>
                </a:solidFill>
              </a:rPr>
              <a:t>Do not claim that measured variables cause defects.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22960" y="5166360"/>
            <a:ext cx="9966960" cy="658368"/>
          </a:xfrm>
          <a:prstGeom prst="roundRect">
            <a:avLst>
              <a:gd name="adj" fmla="val 11111"/>
            </a:avLst>
          </a:prstGeom>
          <a:solidFill>
            <a:srgbClr val="FDEAEA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051560" y="5404104"/>
            <a:ext cx="9509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F2933"/>
                </a:solidFill>
              </a:rPr>
              <a:t>The AI explanation should organize evidence — not create new evidence.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93776"/>
          </a:xfrm>
          <a:prstGeom prst="rect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1887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321040" y="11887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493776"/>
            <a:ext cx="12191695" cy="640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36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 AI responses: fluent vs evidence-based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30352" y="12161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8606A"/>
                </a:solidFill>
              </a:rPr>
              <a:t>Use the comparison to teach AI auditing.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85800" y="1600200"/>
            <a:ext cx="5166360" cy="1143000"/>
          </a:xfrm>
          <a:prstGeom prst="roundRect">
            <a:avLst>
              <a:gd name="adj" fmla="val 6400"/>
            </a:avLst>
          </a:prstGeom>
          <a:solidFill>
            <a:srgbClr val="F4F6F8"/>
          </a:solidFill>
          <a:ln w="12700">
            <a:solidFill>
              <a:srgbClr val="D7DEE8">
                <a:alpha val="9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0392" y="1728216"/>
            <a:ext cx="4837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C0000"/>
                </a:solidFill>
              </a:rPr>
              <a:t>⚠️ Ungrounded response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0392" y="2075688"/>
            <a:ext cx="4837176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02124"/>
                </a:solidFill>
              </a:rPr>
              <a:t>May sound confident but can invent causes, prescribe corrective actions, and ignore low recall.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6355080" y="1600200"/>
            <a:ext cx="5166360" cy="1143000"/>
          </a:xfrm>
          <a:prstGeom prst="roundRect">
            <a:avLst>
              <a:gd name="adj" fmla="val 6400"/>
            </a:avLst>
          </a:prstGeom>
          <a:solidFill>
            <a:srgbClr val="F4F6F8"/>
          </a:solidFill>
          <a:ln w="12700">
            <a:solidFill>
              <a:srgbClr val="D7DEE8">
                <a:alpha val="9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19672" y="1728216"/>
            <a:ext cx="4837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</a:rPr>
              <a:t>✓ Grounded response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19672" y="2075688"/>
            <a:ext cx="4837176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202124"/>
                </a:solidFill>
              </a:rPr>
              <a:t>Should cite the supplied metrics, state limitations, avoid causal claims, and recommend a defensible next analysis.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960120" y="3154680"/>
            <a:ext cx="2103120" cy="429768"/>
          </a:xfrm>
          <a:prstGeom prst="rect">
            <a:avLst/>
          </a:prstGeom>
          <a:solidFill>
            <a:srgbClr val="1B365D"/>
          </a:solidFill>
          <a:ln w="6350">
            <a:solidFill>
              <a:srgbClr val="B5C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227832"/>
            <a:ext cx="2011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</a:rPr>
              <a:t>Audit question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8046720" cy="429768"/>
          </a:xfrm>
          <a:prstGeom prst="rect">
            <a:avLst/>
          </a:prstGeom>
          <a:solidFill>
            <a:srgbClr val="1B365D"/>
          </a:solidFill>
          <a:ln w="6350">
            <a:solidFill>
              <a:srgbClr val="B5C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108960" y="3227832"/>
            <a:ext cx="7955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</a:rPr>
              <a:t>What to look for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60120" y="3584448"/>
            <a:ext cx="210312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B5C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05840" y="3657600"/>
            <a:ext cx="2011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02124"/>
                </a:solidFill>
              </a:rPr>
              <a:t>Evidence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063240" y="3584448"/>
            <a:ext cx="804672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B5C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108960" y="3657600"/>
            <a:ext cx="7955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02124"/>
                </a:solidFill>
              </a:rPr>
              <a:t>Does every number match the supplied metrics?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60120" y="4014216"/>
            <a:ext cx="210312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B5C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05840" y="4087368"/>
            <a:ext cx="2011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02124"/>
                </a:solidFill>
              </a:rPr>
              <a:t>Interpretation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063240" y="4014216"/>
            <a:ext cx="804672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B5C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108960" y="4087368"/>
            <a:ext cx="7955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02124"/>
                </a:solidFill>
              </a:rPr>
              <a:t>Does it distinguish association from causation?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60120" y="4443984"/>
            <a:ext cx="210312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B5C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05840" y="4517136"/>
            <a:ext cx="2011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02124"/>
                </a:solidFill>
              </a:rPr>
              <a:t>Limitations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063240" y="4443984"/>
            <a:ext cx="804672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B5C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108960" y="4517136"/>
            <a:ext cx="7955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02124"/>
                </a:solidFill>
              </a:rPr>
              <a:t>Does it mention low recall and lack of external validation?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60120" y="4873752"/>
            <a:ext cx="210312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B5C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05840" y="4946904"/>
            <a:ext cx="20116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02124"/>
                </a:solidFill>
              </a:rPr>
              <a:t>Action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063240" y="4873752"/>
            <a:ext cx="8046720" cy="429768"/>
          </a:xfrm>
          <a:prstGeom prst="rect">
            <a:avLst/>
          </a:prstGeom>
          <a:solidFill>
            <a:srgbClr val="FFFFFF"/>
          </a:solidFill>
          <a:ln w="6350">
            <a:solidFill>
              <a:srgbClr val="B5C0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108960" y="4946904"/>
            <a:ext cx="7955280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02124"/>
                </a:solidFill>
              </a:rPr>
              <a:t>Is the recommendation consistent with the evidence?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567160" y="6528816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B8490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C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0012680" y="2011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502920"/>
            <a:ext cx="1046988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713232"/>
            <a:ext cx="10058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9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Transition to AI: predictive evidence becomes context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716768" y="619963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B5563"/>
                </a:solidFill>
              </a:rPr>
              <a:t>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F2933"/>
                </a:solidFill>
              </a:rPr>
              <a:t>Data → Baseline → Model → Metrics → Interpretation → LLM/RAG workflow → Human review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554480" y="3657600"/>
            <a:ext cx="8412480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does not become the full AI system.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LLM should explain evidence, not invent evidence.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should decide whether the explanation is acceptable.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93776"/>
          </a:xfrm>
          <a:prstGeom prst="rect">
            <a:avLst/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18872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AI DESIGN WORKSHOP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321040" y="11887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 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0" y="493776"/>
            <a:ext cx="12191695" cy="640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36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Closing message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30352" y="12161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8606A"/>
                </a:solidFill>
              </a:rPr>
              <a:t>Evidence-grounded AI is a workflow design problem.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1947672"/>
            <a:ext cx="274320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Do not ask: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“Can AI explain this?”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86200" y="2286000"/>
            <a:ext cx="777240" cy="0"/>
          </a:xfrm>
          <a:prstGeom prst="line">
            <a:avLst/>
          </a:prstGeom>
          <a:noFill/>
          <a:ln w="27940">
            <a:solidFill>
              <a:srgbClr val="CC00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691640"/>
            <a:ext cx="3703320" cy="1188720"/>
          </a:xfrm>
          <a:prstGeom prst="roundRect">
            <a:avLst>
              <a:gd name="adj" fmla="val 6154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1810512"/>
            <a:ext cx="352044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Ask instead: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“What evidence can AI use, and what must it not claim?”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366760" y="2286000"/>
            <a:ext cx="777240" cy="0"/>
          </a:xfrm>
          <a:prstGeom prst="line">
            <a:avLst/>
          </a:prstGeom>
          <a:noFill/>
          <a:ln w="27940">
            <a:solidFill>
              <a:srgbClr val="CC00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144000" y="169164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6C445"/>
          </a:solidFill>
          <a:ln w="12700">
            <a:solidFill>
              <a:srgbClr val="F6C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235440" y="1810512"/>
            <a:ext cx="20574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65D"/>
                </a:solidFill>
              </a:rPr>
              <a:t>Then design: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B365D"/>
                </a:solidFill>
              </a:rPr>
              <a:t>Grounding • limits • review • evaluation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67160" y="6528816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7B8490"/>
                </a:solidFill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1336</Words>
  <Application>Microsoft Office PowerPoint</Application>
  <PresentationFormat>Widescreen</PresentationFormat>
  <Paragraphs>290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NC State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3–4 Synthesis</dc:title>
  <dc:subject>Applied AI Design Workshop</dc:subject>
  <dc:creator>Fred Livingston</dc:creator>
  <cp:lastModifiedBy>Fred Livingston</cp:lastModifiedBy>
  <cp:revision>12</cp:revision>
  <dcterms:created xsi:type="dcterms:W3CDTF">2026-07-17T04:23:23Z</dcterms:created>
  <dcterms:modified xsi:type="dcterms:W3CDTF">2026-07-17T07:50:07Z</dcterms:modified>
</cp:coreProperties>
</file>