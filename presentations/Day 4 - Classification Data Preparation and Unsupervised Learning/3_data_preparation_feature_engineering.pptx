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9" autoAdjust="0"/>
    <p:restoredTop sz="94610"/>
  </p:normalViewPr>
  <p:slideViewPr>
    <p:cSldViewPr snapToGrid="0" snapToObjects="1">
      <p:cViewPr>
        <p:scale>
          <a:sx n="99" d="100"/>
          <a:sy n="99" d="100"/>
        </p:scale>
        <p:origin x="88" y="3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2290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9184" y="4754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dirty="0">
                <a:solidFill>
                  <a:srgbClr val="CC0000"/>
                </a:solidFill>
              </a:rPr>
              <a:t>SESSION 3</a:t>
            </a:r>
            <a:endParaRPr lang="en-US" sz="650" dirty="0"/>
          </a:p>
        </p:txBody>
      </p:sp>
      <p:sp>
        <p:nvSpPr>
          <p:cNvPr id="3" name="Text 1"/>
          <p:cNvSpPr/>
          <p:nvPr/>
        </p:nvSpPr>
        <p:spPr>
          <a:xfrm>
            <a:off x="329184" y="941832"/>
            <a:ext cx="5806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</a:rPr>
              <a:t>Data Preparation and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</a:rPr>
              <a:t>Feature Engineering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111111"/>
                </a:solidFill>
              </a:rPr>
              <a:t>for Applied AI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329184" y="2532888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44444"/>
                </a:solidFill>
              </a:rPr>
              <a:t>Missing data • Outliers • Scaling • Encoding • Leakage • Domain features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329184" y="2962656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Applied AI Design Workshop for Faculty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555555"/>
                </a:solidFill>
              </a:rPr>
              <a:t>Fred Livingston (fjliving@ncsu.edu) 2026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29184" y="3566160"/>
            <a:ext cx="4663440" cy="0"/>
          </a:xfrm>
          <a:prstGeom prst="line">
            <a:avLst/>
          </a:prstGeom>
          <a:noFill/>
          <a:ln w="1524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446520" y="868680"/>
            <a:ext cx="297180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92824" y="987552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Goal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592824" y="1307592"/>
            <a:ext cx="2679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11111"/>
                </a:solidFill>
              </a:rPr>
              <a:t>turn raw disciplinary data into a trustworthy modeling table.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6446520" y="2057400"/>
            <a:ext cx="297180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92824" y="2176272"/>
            <a:ext cx="2679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Session outputs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92824" y="2496312"/>
            <a:ext cx="26791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• Data-readiness checklist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• Preprocessing plan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• Leakage-risk decision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• Candidate feature list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• Minimal coding pattern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555480" y="868680"/>
            <a:ext cx="2011680" cy="2788920"/>
          </a:xfrm>
          <a:prstGeom prst="roundRect">
            <a:avLst>
              <a:gd name="adj" fmla="val 2273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701784" y="987552"/>
            <a:ext cx="171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Core idea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9701784" y="1307592"/>
            <a:ext cx="1719072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Model quality is bounded by data quality and representation. Better features often beat bigger models.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3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Activity roadmap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38912" y="141732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85216" y="1536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Audit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85216" y="1856232"/>
            <a:ext cx="13350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</a:rPr>
              <a:t>Rows, types, missingness, target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103120" y="1810512"/>
            <a:ext cx="256032" cy="274320"/>
          </a:xfrm>
          <a:prstGeom prst="chevron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359152" y="141732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05456" y="1536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Clean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505456" y="1856232"/>
            <a:ext cx="13350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</a:rPr>
              <a:t>Missing values, outliers, categories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023360" y="1810512"/>
            <a:ext cx="256032" cy="274320"/>
          </a:xfrm>
          <a:prstGeom prst="chevron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79392" y="141732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25696" y="1536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Transform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25696" y="1856232"/>
            <a:ext cx="13350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</a:rPr>
              <a:t>Scaling and encoding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943600" y="1810512"/>
            <a:ext cx="256032" cy="274320"/>
          </a:xfrm>
          <a:prstGeom prst="chevron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99632" y="141732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45936" y="1536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Protect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45936" y="1856232"/>
            <a:ext cx="13350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</a:rPr>
              <a:t>Leakage and split strategy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7863840" y="1810512"/>
            <a:ext cx="256032" cy="274320"/>
          </a:xfrm>
          <a:prstGeom prst="chevron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119872" y="141732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266176" y="1536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Engineer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266176" y="1856232"/>
            <a:ext cx="13350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</a:rPr>
              <a:t>Domain and time-series features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9784080" y="1810512"/>
            <a:ext cx="256032" cy="274320"/>
          </a:xfrm>
          <a:prstGeom prst="chevron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0040112" y="1417320"/>
            <a:ext cx="1627632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186416" y="1536192"/>
            <a:ext cx="1335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Document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186416" y="1856232"/>
            <a:ext cx="1335024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111111"/>
                </a:solidFill>
              </a:rPr>
              <a:t>Preprocessing plan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914400" y="4160520"/>
            <a:ext cx="1037844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060704" y="4279392"/>
            <a:ext cx="100858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Facilitator note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060704" y="4599432"/>
            <a:ext cx="10085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Keep every preprocessing decision grounded in the prediction point: what would be known before the model is asked to predict?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C0000"/>
                </a:solidFill>
              </a:rPr>
              <a:t>Data preparation is the bridge between problem framing and model training.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3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Why data preparation matters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418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Applied AI fails when the data table does not match the real decision context.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40080" y="132588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6384" y="14447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Raw data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86384" y="1764792"/>
            <a:ext cx="25877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• Different units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• Missing values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• Text labels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• Sensor noise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• Time stamps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• Batch identifiers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703320" y="2029968"/>
            <a:ext cx="502920" cy="457200"/>
          </a:xfrm>
          <a:prstGeom prst="chevron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34840" y="132588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81144" y="14447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Modeling table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81144" y="1764792"/>
            <a:ext cx="25877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• One row per observation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• Clean inputs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• Target separated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• Encoded categories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• Scaled numeric fields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• No leakage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543800" y="2029968"/>
            <a:ext cx="502920" cy="457200"/>
          </a:xfrm>
          <a:prstGeom prst="chevron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75320" y="132588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21624" y="144475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Defensible model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421624" y="1764792"/>
            <a:ext cx="25877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• Baseline comparison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• Valid split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• Interpretable metrics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• Reproducible decisions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• Clear limitations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C0000"/>
                </a:solidFill>
              </a:rPr>
              <a:t>Preprocessing is not clerical cleanup — it is part of the research design.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3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Part 1: audit the data before modeling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418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A good audit asks whether the dataset can support the intended prediction task.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143000"/>
            <a:ext cx="3518890" cy="620486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197864"/>
            <a:ext cx="33908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</a:rPr>
              <a:t>Question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3250" y="1143000"/>
            <a:ext cx="7408190" cy="620486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77258" y="1197864"/>
            <a:ext cx="72801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</a:rPr>
              <a:t>Why it matters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94360" y="1763486"/>
            <a:ext cx="3518890" cy="620486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58368" y="1818350"/>
            <a:ext cx="33908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What does one row represent?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113250" y="1763486"/>
            <a:ext cx="7408190" cy="620486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77258" y="1818350"/>
            <a:ext cx="72801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Defines the unit of observation and prevents mixed cases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94360" y="2383971"/>
            <a:ext cx="3518890" cy="620486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8368" y="2438835"/>
            <a:ext cx="33908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Which column is the target?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3250" y="2383971"/>
            <a:ext cx="7408190" cy="620486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77258" y="2438835"/>
            <a:ext cx="72801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Separates prediction objective from inputs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4360" y="3004457"/>
            <a:ext cx="3518890" cy="620486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" y="3059321"/>
            <a:ext cx="33908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Which variables are numeric, categorical, datetime, text, or IDs?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13250" y="3004457"/>
            <a:ext cx="7408190" cy="620486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77258" y="3059321"/>
            <a:ext cx="72801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Determines preprocessing and modeling choices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4360" y="3624943"/>
            <a:ext cx="3518890" cy="620486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" y="3679807"/>
            <a:ext cx="33908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Are values missing?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13250" y="3624943"/>
            <a:ext cx="7408190" cy="620486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177258" y="3679807"/>
            <a:ext cx="72801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May require imputation, removal, or redesign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94360" y="4245429"/>
            <a:ext cx="3518890" cy="620486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8368" y="4300293"/>
            <a:ext cx="33908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Are categories consistent?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113250" y="4245429"/>
            <a:ext cx="7408190" cy="620486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177258" y="4300293"/>
            <a:ext cx="72801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Avoids treating “A”, “a”, and “Batch A” as different categories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94360" y="4865914"/>
            <a:ext cx="3518890" cy="620486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8368" y="4920778"/>
            <a:ext cx="33908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Are there outliers or impossible values?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113250" y="4865914"/>
            <a:ext cx="7408190" cy="620486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177258" y="4920778"/>
            <a:ext cx="7280174" cy="51075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May indicate errors, rare events, or valid extremes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C0000"/>
                </a:solidFill>
              </a:rPr>
              <a:t>A good data audit reduces the risk of training a high-scoring but meaningless model.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3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Part 2: clean missing values and outliers carefully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418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Missingness and extreme values can be errors, process signals, or meaningful rare events.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188720"/>
            <a:ext cx="3154680" cy="1965960"/>
          </a:xfrm>
          <a:prstGeom prst="roundRect">
            <a:avLst>
              <a:gd name="adj" fmla="val 2326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2104" y="1307592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Missing values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32104" y="1627632"/>
            <a:ext cx="286207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Common actions: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• Remove only when justified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• Impute median or mode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• Add a missingness indicator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• Revisit data collection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26280" y="1188720"/>
            <a:ext cx="3154680" cy="1965960"/>
          </a:xfrm>
          <a:prstGeom prst="roundRect">
            <a:avLst>
              <a:gd name="adj" fmla="val 2326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72584" y="1307592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Outliers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72584" y="1627632"/>
            <a:ext cx="286207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Possible actions: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• Correct impossible values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• Preserve rare valid cases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• Cap or transform values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• Use robust models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366760" y="1188720"/>
            <a:ext cx="2606040" cy="1965960"/>
          </a:xfrm>
          <a:prstGeom prst="roundRect">
            <a:avLst>
              <a:gd name="adj" fmla="val 2326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513064" y="1307592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Key caution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513064" y="1627632"/>
            <a:ext cx="2313432" cy="1435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40" dirty="0">
                <a:solidFill>
                  <a:srgbClr val="111111"/>
                </a:solidFill>
              </a:rPr>
              <a:t>Fit imputation and scaling rules only on training data, then apply them to validation/test data.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822960" y="3886200"/>
            <a:ext cx="2640330" cy="30861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86968" y="3941064"/>
            <a:ext cx="2512314" cy="1988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111111"/>
                </a:solidFill>
              </a:rPr>
              <a:t>Example</a:t>
            </a:r>
            <a:endParaRPr lang="en-US" sz="730" dirty="0"/>
          </a:p>
        </p:txBody>
      </p:sp>
      <p:sp>
        <p:nvSpPr>
          <p:cNvPr id="18" name="Shape 16"/>
          <p:cNvSpPr/>
          <p:nvPr/>
        </p:nvSpPr>
        <p:spPr>
          <a:xfrm>
            <a:off x="3463290" y="3886200"/>
            <a:ext cx="3520440" cy="30861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527298" y="3941064"/>
            <a:ext cx="3392424" cy="1988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111111"/>
                </a:solidFill>
              </a:rPr>
              <a:t>Interpretation</a:t>
            </a:r>
            <a:endParaRPr lang="en-US" sz="730" dirty="0"/>
          </a:p>
        </p:txBody>
      </p:sp>
      <p:sp>
        <p:nvSpPr>
          <p:cNvPr id="20" name="Shape 18"/>
          <p:cNvSpPr/>
          <p:nvPr/>
        </p:nvSpPr>
        <p:spPr>
          <a:xfrm>
            <a:off x="6983730" y="3886200"/>
            <a:ext cx="4400550" cy="30861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47738" y="3941064"/>
            <a:ext cx="4272534" cy="1988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111111"/>
                </a:solidFill>
              </a:rPr>
              <a:t>Decision</a:t>
            </a:r>
            <a:endParaRPr lang="en-US" sz="730" dirty="0"/>
          </a:p>
        </p:txBody>
      </p:sp>
      <p:sp>
        <p:nvSpPr>
          <p:cNvPr id="22" name="Shape 20"/>
          <p:cNvSpPr/>
          <p:nvPr/>
        </p:nvSpPr>
        <p:spPr>
          <a:xfrm>
            <a:off x="822960" y="4194810"/>
            <a:ext cx="2640330" cy="30861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86968" y="4249674"/>
            <a:ext cx="2512314" cy="1988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CC0000"/>
                </a:solidFill>
              </a:rPr>
              <a:t>Vibration missing during high-speed runs</a:t>
            </a:r>
            <a:endParaRPr lang="en-US" sz="730" dirty="0"/>
          </a:p>
        </p:txBody>
      </p:sp>
      <p:sp>
        <p:nvSpPr>
          <p:cNvPr id="24" name="Shape 22"/>
          <p:cNvSpPr/>
          <p:nvPr/>
        </p:nvSpPr>
        <p:spPr>
          <a:xfrm>
            <a:off x="3463290" y="4194810"/>
            <a:ext cx="3520440" cy="30861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27298" y="4249674"/>
            <a:ext cx="3392424" cy="1988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11111"/>
                </a:solidFill>
              </a:rPr>
              <a:t>Sensor saturation may be informative</a:t>
            </a:r>
            <a:endParaRPr lang="en-US" sz="730" dirty="0"/>
          </a:p>
        </p:txBody>
      </p:sp>
      <p:sp>
        <p:nvSpPr>
          <p:cNvPr id="26" name="Shape 24"/>
          <p:cNvSpPr/>
          <p:nvPr/>
        </p:nvSpPr>
        <p:spPr>
          <a:xfrm>
            <a:off x="6983730" y="4194810"/>
            <a:ext cx="4400550" cy="30861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47738" y="4249674"/>
            <a:ext cx="4272534" cy="1988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11111"/>
                </a:solidFill>
              </a:rPr>
              <a:t>Add missingness flag and investigate sensor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822960" y="4503420"/>
            <a:ext cx="2640330" cy="30861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86968" y="4558284"/>
            <a:ext cx="2512314" cy="1988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CC0000"/>
                </a:solidFill>
              </a:rPr>
              <a:t>pH missing at random</a:t>
            </a:r>
            <a:endParaRPr lang="en-US" sz="730" dirty="0"/>
          </a:p>
        </p:txBody>
      </p:sp>
      <p:sp>
        <p:nvSpPr>
          <p:cNvPr id="30" name="Shape 28"/>
          <p:cNvSpPr/>
          <p:nvPr/>
        </p:nvSpPr>
        <p:spPr>
          <a:xfrm>
            <a:off x="3463290" y="4503420"/>
            <a:ext cx="3520440" cy="30861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527298" y="4558284"/>
            <a:ext cx="3392424" cy="1988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11111"/>
                </a:solidFill>
              </a:rPr>
              <a:t>Small random gaps</a:t>
            </a:r>
            <a:endParaRPr lang="en-US" sz="730" dirty="0"/>
          </a:p>
        </p:txBody>
      </p:sp>
      <p:sp>
        <p:nvSpPr>
          <p:cNvPr id="32" name="Shape 30"/>
          <p:cNvSpPr/>
          <p:nvPr/>
        </p:nvSpPr>
        <p:spPr>
          <a:xfrm>
            <a:off x="6983730" y="4503420"/>
            <a:ext cx="4400550" cy="30861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47738" y="4558284"/>
            <a:ext cx="4272534" cy="1988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11111"/>
                </a:solidFill>
              </a:rPr>
              <a:t>Median imputation may be acceptable</a:t>
            </a:r>
            <a:endParaRPr lang="en-US" sz="730" dirty="0"/>
          </a:p>
        </p:txBody>
      </p:sp>
      <p:sp>
        <p:nvSpPr>
          <p:cNvPr id="34" name="Shape 32"/>
          <p:cNvSpPr/>
          <p:nvPr/>
        </p:nvSpPr>
        <p:spPr>
          <a:xfrm>
            <a:off x="822960" y="4812030"/>
            <a:ext cx="2640330" cy="30861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86968" y="4866894"/>
            <a:ext cx="2512314" cy="1988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30" b="1" dirty="0">
                <a:solidFill>
                  <a:srgbClr val="CC0000"/>
                </a:solidFill>
              </a:rPr>
              <a:t>Final inspection score missing before inspection</a:t>
            </a:r>
            <a:endParaRPr lang="en-US" sz="730" dirty="0"/>
          </a:p>
        </p:txBody>
      </p:sp>
      <p:sp>
        <p:nvSpPr>
          <p:cNvPr id="36" name="Shape 34"/>
          <p:cNvSpPr/>
          <p:nvPr/>
        </p:nvSpPr>
        <p:spPr>
          <a:xfrm>
            <a:off x="3463290" y="4812030"/>
            <a:ext cx="3520440" cy="30861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527298" y="4866894"/>
            <a:ext cx="3392424" cy="1988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11111"/>
                </a:solidFill>
              </a:rPr>
              <a:t>Prediction-time leakage risk</a:t>
            </a:r>
            <a:endParaRPr lang="en-US" sz="730" dirty="0"/>
          </a:p>
        </p:txBody>
      </p:sp>
      <p:sp>
        <p:nvSpPr>
          <p:cNvPr id="38" name="Shape 36"/>
          <p:cNvSpPr/>
          <p:nvPr/>
        </p:nvSpPr>
        <p:spPr>
          <a:xfrm>
            <a:off x="6983730" y="4812030"/>
            <a:ext cx="4400550" cy="30861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047738" y="4866894"/>
            <a:ext cx="4272534" cy="19888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11111"/>
                </a:solidFill>
              </a:rPr>
              <a:t>Do not use as input</a:t>
            </a:r>
            <a:endParaRPr lang="en-US" sz="7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3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Part 3: choose transformations by data type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418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Models need numeric arrays, but disciplinary data often contain categories, IDs, dates, and text.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143000"/>
            <a:ext cx="2040255" cy="68580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197864"/>
            <a:ext cx="1912239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</a:rPr>
              <a:t>Data type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634615" y="1143000"/>
            <a:ext cx="3740468" cy="68580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98623" y="1197864"/>
            <a:ext cx="361245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</a:rPr>
              <a:t>Examples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375083" y="1143000"/>
            <a:ext cx="5100638" cy="68580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39091" y="1197864"/>
            <a:ext cx="497262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</a:rPr>
              <a:t>Typical handling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4360" y="1828800"/>
            <a:ext cx="2040255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1883664"/>
            <a:ext cx="1912239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Numeric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634615" y="1828800"/>
            <a:ext cx="3740468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98623" y="1883664"/>
            <a:ext cx="361245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temperature, pressure, speed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375083" y="1828800"/>
            <a:ext cx="5100638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39091" y="1883664"/>
            <a:ext cx="497262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Impute missing values; scale if needed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4360" y="2514600"/>
            <a:ext cx="2040255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" y="2569464"/>
            <a:ext cx="1912239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Categorical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634615" y="2514600"/>
            <a:ext cx="3740468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698623" y="2569464"/>
            <a:ext cx="361245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material type, machine ID, treatment group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375083" y="2514600"/>
            <a:ext cx="5100638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39091" y="2569464"/>
            <a:ext cx="497262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One-hot encode or ordinal encode carefully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94360" y="3200400"/>
            <a:ext cx="2040255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8368" y="3255264"/>
            <a:ext cx="1912239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Datetime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634615" y="3200400"/>
            <a:ext cx="3740468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698623" y="3255264"/>
            <a:ext cx="361245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timestamp, collection date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375083" y="3200400"/>
            <a:ext cx="5100638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439091" y="3255264"/>
            <a:ext cx="497262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Extract elapsed time, hour, day, cycle, or lags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94360" y="3886200"/>
            <a:ext cx="2040255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8368" y="3941064"/>
            <a:ext cx="1912239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Identifier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634615" y="3886200"/>
            <a:ext cx="3740468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698623" y="3941064"/>
            <a:ext cx="361245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part ID, student ID, batch ID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375083" y="3886200"/>
            <a:ext cx="5100638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39091" y="3941064"/>
            <a:ext cx="497262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Usually remove; use for grouping or split strategy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94360" y="4572000"/>
            <a:ext cx="2040255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58368" y="4626864"/>
            <a:ext cx="1912239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Text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634615" y="4572000"/>
            <a:ext cx="3740468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698623" y="4626864"/>
            <a:ext cx="361245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notes, descriptions, comments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375083" y="4572000"/>
            <a:ext cx="5100638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439091" y="4626864"/>
            <a:ext cx="497262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Use separate NLP workflow; avoid accidental leakage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C0000"/>
                </a:solidFill>
              </a:rPr>
              <a:t>Question to ask: is this variable a meaningful predictor, an identifier, or a disguised answer?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3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Part 4: scale numeric features and encode categories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418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Transformations should make inputs usable without changing the meaning of the problem.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31520" y="1234440"/>
            <a:ext cx="3017520" cy="2240280"/>
          </a:xfrm>
          <a:prstGeom prst="roundRect">
            <a:avLst>
              <a:gd name="adj" fmla="val 2041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77824" y="1353312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Scaling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77824" y="1673352"/>
            <a:ext cx="27249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Why it matters: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variables measured in large units can dominate distance-based or coefficient-based models.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Use for KNN, SVM, PCA, logistic regression, and regularized regression.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251960" y="1234440"/>
            <a:ext cx="3017520" cy="2240280"/>
          </a:xfrm>
          <a:prstGeom prst="roundRect">
            <a:avLst>
              <a:gd name="adj" fmla="val 2041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398264" y="1353312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Encoding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398264" y="1673352"/>
            <a:ext cx="27249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Why it matters: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models cannot use raw text categories.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Use one-hot encoding for categories without natural order. Be careful with ordinal encoding.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7772400" y="1234440"/>
            <a:ext cx="3017520" cy="2240280"/>
          </a:xfrm>
          <a:prstGeom prst="roundRect">
            <a:avLst>
              <a:gd name="adj" fmla="val 2041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18704" y="1353312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Pipeline rule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918704" y="1673352"/>
            <a:ext cx="2724912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111111"/>
                </a:solidFill>
              </a:rPr>
              <a:t>Fit scalers, encoders, and imputers on training data only. Apply the learned transformations to validation and test sets.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C0000"/>
                </a:solidFill>
              </a:rPr>
              <a:t>Preprocessing rules are learned from the training set, not from the full dataset.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3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Part 5: data leakage can invalidate a model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418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Leakage creates inflated performance by letting the model see information unavailable in real use.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2104" y="135331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Target leakage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32104" y="1673352"/>
            <a:ext cx="25877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11111"/>
                </a:solidFill>
              </a:rPr>
              <a:t>Input contains the answer or a near-answer.</a:t>
            </a:r>
            <a:endParaRPr lang="en-US" sz="830" dirty="0"/>
          </a:p>
          <a:p>
            <a:pPr marL="0" indent="0">
              <a:buNone/>
            </a:pP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111111"/>
                </a:solidFill>
              </a:rPr>
              <a:t>Example: final inspection score used to predict pass/fail quality.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3886200" y="123444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32504" y="135331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Time leakage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32504" y="1673352"/>
            <a:ext cx="25877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11111"/>
                </a:solidFill>
              </a:rPr>
              <a:t>Future information is used to predict an earlier outcome.</a:t>
            </a:r>
            <a:endParaRPr lang="en-US" sz="830" dirty="0"/>
          </a:p>
          <a:p>
            <a:pPr marL="0" indent="0">
              <a:buNone/>
            </a:pP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111111"/>
                </a:solidFill>
              </a:rPr>
              <a:t>Example: using post-failure data to predict pre-failure status.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7086600" y="1234440"/>
            <a:ext cx="2880360" cy="2011680"/>
          </a:xfrm>
          <a:prstGeom prst="roundRect">
            <a:avLst>
              <a:gd name="adj" fmla="val 2273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232904" y="1353312"/>
            <a:ext cx="25877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Group leakage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232904" y="1673352"/>
            <a:ext cx="258775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30" dirty="0">
                <a:solidFill>
                  <a:srgbClr val="111111"/>
                </a:solidFill>
              </a:rPr>
              <a:t>Related samples appear in both train and test sets.</a:t>
            </a:r>
            <a:endParaRPr lang="en-US" sz="830" dirty="0"/>
          </a:p>
          <a:p>
            <a:pPr marL="0" indent="0">
              <a:buNone/>
            </a:pPr>
            <a:endParaRPr lang="en-US" sz="830" dirty="0"/>
          </a:p>
          <a:p>
            <a:pPr marL="0" indent="0">
              <a:buNone/>
            </a:pPr>
            <a:r>
              <a:rPr lang="en-US" sz="830" dirty="0">
                <a:solidFill>
                  <a:srgbClr val="111111"/>
                </a:solidFill>
              </a:rPr>
              <a:t>Example: parts from the same batch split across train and test.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1737360" y="4160520"/>
            <a:ext cx="8503920" cy="694944"/>
          </a:xfrm>
          <a:prstGeom prst="roundRect">
            <a:avLst>
              <a:gd name="adj" fmla="val 6579"/>
            </a:avLst>
          </a:prstGeom>
          <a:solidFill>
            <a:srgbClr val="FFFFFF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883664" y="4279392"/>
            <a:ext cx="8211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CC0000"/>
                </a:solidFill>
              </a:rPr>
              <a:t>Activity prompt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1883664" y="4599432"/>
            <a:ext cx="8211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11111"/>
                </a:solidFill>
              </a:rPr>
              <a:t>For each feature, ask: would this value be known at the moment the prediction is needed?</a:t>
            </a:r>
            <a:endParaRPr lang="en-US" sz="9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3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Part 6: engineer features with disciplinary meaning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418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Feature engineering converts raw measurements into variables that better represent mechanisms, behavior, or context.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143000"/>
            <a:ext cx="2653719" cy="70104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8368" y="1197864"/>
            <a:ext cx="2525703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11111"/>
                </a:solidFill>
              </a:rPr>
              <a:t>Raw data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3248079" y="1143000"/>
            <a:ext cx="3590326" cy="70104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312087" y="1197864"/>
            <a:ext cx="3462310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11111"/>
                </a:solidFill>
              </a:rPr>
              <a:t>Engineered feature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6838406" y="1143000"/>
            <a:ext cx="4683034" cy="70104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902414" y="1197864"/>
            <a:ext cx="4555018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111111"/>
                </a:solidFill>
              </a:rPr>
              <a:t>Why useful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594360" y="1844040"/>
            <a:ext cx="2653719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8368" y="1898904"/>
            <a:ext cx="2525703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CC0000"/>
                </a:solidFill>
              </a:rPr>
              <a:t>Temperature time series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3248079" y="1844040"/>
            <a:ext cx="3590326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312087" y="1898904"/>
            <a:ext cx="3462310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</a:rPr>
              <a:t>slope, max, time above threshold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6838406" y="1844040"/>
            <a:ext cx="4683034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02414" y="1898904"/>
            <a:ext cx="4555018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</a:rPr>
              <a:t>Captures trend and thermal exposure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594360" y="2545080"/>
            <a:ext cx="2653719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8368" y="2599944"/>
            <a:ext cx="2525703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CC0000"/>
                </a:solidFill>
              </a:rPr>
              <a:t>Sensor signal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3248079" y="2545080"/>
            <a:ext cx="3590326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312087" y="2599944"/>
            <a:ext cx="3462310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</a:rPr>
              <a:t>rolling mean, variance, peak count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6838406" y="2545080"/>
            <a:ext cx="4683034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902414" y="2599944"/>
            <a:ext cx="4555018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</a:rPr>
              <a:t>Summarizes stability and abnormal variation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594360" y="3246120"/>
            <a:ext cx="2653719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8368" y="3300984"/>
            <a:ext cx="2525703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CC0000"/>
                </a:solidFill>
              </a:rPr>
              <a:t>Process settings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3248079" y="3246120"/>
            <a:ext cx="3590326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312087" y="3300984"/>
            <a:ext cx="3462310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</a:rPr>
              <a:t>distance from nominal setting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6838406" y="3246120"/>
            <a:ext cx="4683034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902414" y="3300984"/>
            <a:ext cx="4555018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</a:rPr>
              <a:t>Represents deviation from intended operation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594360" y="3947160"/>
            <a:ext cx="2653719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8368" y="4002024"/>
            <a:ext cx="2525703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CC0000"/>
                </a:solidFill>
              </a:rPr>
              <a:t>Student activity logs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3248079" y="3947160"/>
            <a:ext cx="3590326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312087" y="4002024"/>
            <a:ext cx="3462310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</a:rPr>
              <a:t>completion rate, delay, weekly activity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6838406" y="3947160"/>
            <a:ext cx="4683034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902414" y="4002024"/>
            <a:ext cx="4555018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</a:rPr>
              <a:t>Summarizes engagement over time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594360" y="4648200"/>
            <a:ext cx="2653719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58368" y="4703064"/>
            <a:ext cx="2525703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b="1" dirty="0">
                <a:solidFill>
                  <a:srgbClr val="CC0000"/>
                </a:solidFill>
              </a:rPr>
              <a:t>Bioprocess trajectories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3248079" y="4648200"/>
            <a:ext cx="3590326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312087" y="4703064"/>
            <a:ext cx="3462310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</a:rPr>
              <a:t>area under curve, growth rate, final-initial change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6838406" y="4648200"/>
            <a:ext cx="4683034" cy="70104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902414" y="4703064"/>
            <a:ext cx="4555018" cy="591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</a:rPr>
              <a:t>Captures dynamic process behavior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C0000"/>
                </a:solidFill>
              </a:rPr>
              <a:t>Good features make the model inputs closer to how a domain expert reasons about the system.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3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Mini-lesson: summarize time-series data into features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418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Many applied datasets start as trajectories but need one row per run, batch, part, or subject.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68680" y="4389120"/>
            <a:ext cx="548640" cy="0"/>
          </a:xfrm>
          <a:prstGeom prst="line">
            <a:avLst/>
          </a:prstGeom>
          <a:noFill/>
          <a:ln w="2286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17320" y="3886200"/>
            <a:ext cx="548640" cy="0"/>
          </a:xfrm>
          <a:prstGeom prst="line">
            <a:avLst/>
          </a:prstGeom>
          <a:noFill/>
          <a:ln w="2286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965960" y="3337560"/>
            <a:ext cx="548640" cy="0"/>
          </a:xfrm>
          <a:prstGeom prst="line">
            <a:avLst/>
          </a:prstGeom>
          <a:noFill/>
          <a:ln w="2286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514600" y="2907792"/>
            <a:ext cx="548640" cy="0"/>
          </a:xfrm>
          <a:prstGeom prst="line">
            <a:avLst/>
          </a:prstGeom>
          <a:noFill/>
          <a:ln w="2286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063240" y="2514600"/>
            <a:ext cx="548640" cy="0"/>
          </a:xfrm>
          <a:prstGeom prst="line">
            <a:avLst/>
          </a:prstGeom>
          <a:noFill/>
          <a:ln w="2286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11880" y="2221992"/>
            <a:ext cx="548640" cy="0"/>
          </a:xfrm>
          <a:prstGeom prst="line">
            <a:avLst/>
          </a:prstGeom>
          <a:noFill/>
          <a:ln w="2286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60520" y="2075688"/>
            <a:ext cx="548640" cy="0"/>
          </a:xfrm>
          <a:prstGeom prst="line">
            <a:avLst/>
          </a:prstGeom>
          <a:noFill/>
          <a:ln w="2286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27532" y="4347972"/>
            <a:ext cx="82296" cy="8229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376172" y="3845052"/>
            <a:ext cx="82296" cy="8229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924812" y="3296412"/>
            <a:ext cx="82296" cy="8229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473452" y="2866644"/>
            <a:ext cx="82296" cy="8229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022092" y="2473452"/>
            <a:ext cx="82296" cy="8229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570732" y="2180844"/>
            <a:ext cx="82296" cy="8229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9372" y="2034540"/>
            <a:ext cx="82296" cy="8229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68012" y="1933956"/>
            <a:ext cx="82296" cy="82296"/>
          </a:xfrm>
          <a:prstGeom prst="ellipse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377440" y="473659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55555"/>
                </a:solidFill>
              </a:rPr>
              <a:t>time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 rot="16200000">
            <a:off x="502920" y="30632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55555"/>
                </a:solidFill>
              </a:rPr>
              <a:t>response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5532120" y="1143000"/>
            <a:ext cx="2148840" cy="960120"/>
          </a:xfrm>
          <a:prstGeom prst="roundRect">
            <a:avLst>
              <a:gd name="adj" fmla="val 4762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78424" y="1261872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Initial / final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678424" y="1581912"/>
            <a:ext cx="1856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</a:rPr>
              <a:t>Starting value, ending value, final-initial change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7909560" y="1143000"/>
            <a:ext cx="2148840" cy="960120"/>
          </a:xfrm>
          <a:prstGeom prst="roundRect">
            <a:avLst>
              <a:gd name="adj" fmla="val 4762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055864" y="1261872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Trend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055864" y="1581912"/>
            <a:ext cx="1856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</a:rPr>
              <a:t>Slope, growth rate, time to threshold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5532120" y="2423160"/>
            <a:ext cx="2148840" cy="960120"/>
          </a:xfrm>
          <a:prstGeom prst="roundRect">
            <a:avLst>
              <a:gd name="adj" fmla="val 4762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78424" y="2542032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Stability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78424" y="2862072"/>
            <a:ext cx="1856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</a:rPr>
              <a:t>Mean, variance, coefficient of variation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7909560" y="2423160"/>
            <a:ext cx="2148840" cy="960120"/>
          </a:xfrm>
          <a:prstGeom prst="roundRect">
            <a:avLst>
              <a:gd name="adj" fmla="val 4762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055864" y="2542032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Exposure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055864" y="2862072"/>
            <a:ext cx="185623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80" dirty="0">
                <a:solidFill>
                  <a:srgbClr val="111111"/>
                </a:solidFill>
              </a:rPr>
              <a:t>Area under curve, time above limit</a:t>
            </a:r>
            <a:endParaRPr lang="en-US" sz="780" dirty="0"/>
          </a:p>
        </p:txBody>
      </p:sp>
      <p:sp>
        <p:nvSpPr>
          <p:cNvPr id="36" name="Shape 34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C0000"/>
                </a:solidFill>
              </a:rPr>
              <a:t>Feature summaries should match the process behavior that matters for the outcome.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3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Part 7: select features to simplify the model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418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More variables are not always better. Selection can improve interpretation, cost, and robustness.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22960" y="1234440"/>
            <a:ext cx="2743200" cy="1600200"/>
          </a:xfrm>
          <a:prstGeom prst="roundRect">
            <a:avLst>
              <a:gd name="adj" fmla="val 2857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9264" y="135331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Filter methods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69264" y="1673352"/>
            <a:ext cx="24505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Use correlation, variance, or statistical association before training a model.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931920" y="1234440"/>
            <a:ext cx="2743200" cy="1600200"/>
          </a:xfrm>
          <a:prstGeom prst="roundRect">
            <a:avLst>
              <a:gd name="adj" fmla="val 2857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078224" y="135331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Embedded methods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78224" y="1673352"/>
            <a:ext cx="24505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Use model structure such as Lasso coefficients or tree-based importance.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7040880" y="1234440"/>
            <a:ext cx="2743200" cy="1600200"/>
          </a:xfrm>
          <a:prstGeom prst="roundRect">
            <a:avLst>
              <a:gd name="adj" fmla="val 2857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87184" y="1353312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Domain selection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187184" y="1673352"/>
            <a:ext cx="24505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Keep variables that are reliable, available early, and meaningful to collaborators.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914400" y="37947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C0000"/>
                </a:solidFill>
              </a:rPr>
              <a:t>Selection criteria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23160" y="3703320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423160" y="3785616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Predictive value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3977640" y="3703320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977640" y="3785616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Interpretability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5532120" y="3703320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32120" y="3785616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Measurement cost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7086600" y="3703320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86600" y="3785616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Available at prediction time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8641080" y="3703320"/>
            <a:ext cx="1417320" cy="310896"/>
          </a:xfrm>
          <a:prstGeom prst="roundRect">
            <a:avLst>
              <a:gd name="adj" fmla="val 14706"/>
            </a:avLst>
          </a:prstGeom>
          <a:solidFill>
            <a:srgbClr val="777777"/>
          </a:solidFill>
          <a:ln w="12700">
            <a:solidFill>
              <a:srgbClr val="7777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641080" y="3785616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FFFFFF"/>
                </a:solidFill>
              </a:rPr>
              <a:t>Robust across groups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C0000"/>
                </a:solidFill>
              </a:rPr>
              <a:t>Feature selection is a design decision, not only a statistical procedure.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3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Session 3 technical skill: pandas data audit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418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Goal: quickly inspect structure, missingness, variable types, and target balance.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280160"/>
            <a:ext cx="6812280" cy="4160520"/>
          </a:xfrm>
          <a:prstGeom prst="roundRect">
            <a:avLst>
              <a:gd name="adj" fmla="val 659"/>
            </a:avLst>
          </a:prstGeom>
          <a:solidFill>
            <a:srgbClr val="F5F5F5"/>
          </a:solidFill>
          <a:ln w="762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2104" y="1417320"/>
            <a:ext cx="6519672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pd.read_csv("process_data.csv")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print(df.shape)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display(df.head())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 = pd.DataFrame({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"dtype": df.dtypes.astype(str),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"missing": df.isna().sum(),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"unique": df.nunique()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display(summary)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For classification targets</a:t>
            </a: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display(df["defect"].value_counts(normalize=True))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7818120" y="1417320"/>
            <a:ext cx="3154680" cy="1005840"/>
          </a:xfrm>
          <a:prstGeom prst="roundRect">
            <a:avLst>
              <a:gd name="adj" fmla="val 4545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64424" y="1536192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Use before modeling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964424" y="1856232"/>
            <a:ext cx="28620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This audit should happen before selecting an algorithm.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818120" y="2743200"/>
            <a:ext cx="3154680" cy="1280160"/>
          </a:xfrm>
          <a:prstGeom prst="roundRect">
            <a:avLst>
              <a:gd name="adj" fmla="val 3571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64424" y="2862072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Instructor prompt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7964424" y="3182112"/>
            <a:ext cx="28620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“What would stop us from trusting a model trained on this table?”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18120" y="4343400"/>
            <a:ext cx="3154680" cy="685800"/>
          </a:xfrm>
          <a:prstGeom prst="roundRect">
            <a:avLst>
              <a:gd name="adj" fmla="val 6667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964424" y="4462272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Notebook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964424" y="4782312"/>
            <a:ext cx="2862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Session 3 embedded notebook or data-preparation notebook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3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Session 3 technical skill: safe preprocessing pipeline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418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Goal: fit preprocessing decisions on training data only and apply them consistently to test data.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685800" y="1234440"/>
            <a:ext cx="7040880" cy="4434840"/>
          </a:xfrm>
          <a:prstGeom prst="roundRect">
            <a:avLst>
              <a:gd name="adj" fmla="val 619"/>
            </a:avLst>
          </a:prstGeom>
          <a:solidFill>
            <a:srgbClr val="F5F5F5"/>
          </a:solidFill>
          <a:ln w="762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32104" y="1371600"/>
            <a:ext cx="6748272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sklearn.compose import ColumnTransformer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sklearn.pipeline import Pipeline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sklearn.impute import SimpleImputer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StandardScaler, OneHotEncoder</a:t>
            </a:r>
            <a:endParaRPr lang="en-US" sz="760" dirty="0"/>
          </a:p>
          <a:p>
            <a:pPr marL="0" indent="0">
              <a:buNone/>
            </a:pP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numeric_features = ["temperature", "pressure", "vibration"]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categorical_features = ["material_type"]</a:t>
            </a:r>
            <a:endParaRPr lang="en-US" sz="760" dirty="0"/>
          </a:p>
          <a:p>
            <a:pPr marL="0" indent="0">
              <a:buNone/>
            </a:pP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preprocess = ColumnTransformer([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("num", Pipeline([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("impute", SimpleImputer(strategy="median")),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("scale", StandardScaler())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]), numeric_features),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("cat", OneHotEncoder(handle_unknown="ignore"),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categorical_features)</a:t>
            </a: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760" dirty="0"/>
          </a:p>
          <a:p>
            <a:pPr marL="0" indent="0">
              <a:buNone/>
            </a:pPr>
            <a:endParaRPr lang="en-US" sz="760" dirty="0"/>
          </a:p>
          <a:p>
            <a:pPr marL="0" indent="0">
              <a:buNone/>
            </a:pPr>
            <a:r>
              <a:rPr lang="en-US" sz="76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Later: Pipeline([("prep", preprocess), ("model", model)])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8001000" y="1371600"/>
            <a:ext cx="3063240" cy="1005840"/>
          </a:xfrm>
          <a:prstGeom prst="roundRect">
            <a:avLst>
              <a:gd name="adj" fmla="val 4545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147304" y="149047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Why pipeline?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147304" y="1810512"/>
            <a:ext cx="2770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111111"/>
                </a:solidFill>
              </a:rPr>
              <a:t>It prevents train/test contamination and documents the workflow.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8001000" y="2697480"/>
            <a:ext cx="3063240" cy="1188720"/>
          </a:xfrm>
          <a:prstGeom prst="roundRect">
            <a:avLst>
              <a:gd name="adj" fmla="val 3846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47304" y="281635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Key principle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147304" y="3136392"/>
            <a:ext cx="2770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111111"/>
                </a:solidFill>
              </a:rPr>
              <a:t>Never use test data to decide imputation, scaling, or encoding rules.</a:t>
            </a:r>
            <a:endParaRPr lang="en-US" sz="860" dirty="0"/>
          </a:p>
        </p:txBody>
      </p:sp>
      <p:sp>
        <p:nvSpPr>
          <p:cNvPr id="15" name="Shape 13"/>
          <p:cNvSpPr/>
          <p:nvPr/>
        </p:nvSpPr>
        <p:spPr>
          <a:xfrm>
            <a:off x="8001000" y="4251960"/>
            <a:ext cx="3063240" cy="731520"/>
          </a:xfrm>
          <a:prstGeom prst="roundRect">
            <a:avLst>
              <a:gd name="adj" fmla="val 6250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47304" y="437083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Link to baseline modeling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147304" y="4690872"/>
            <a:ext cx="2770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111111"/>
                </a:solidFill>
              </a:rPr>
              <a:t>Use the preprocessing object inside the baseline model workflow.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3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Faculty activity: create a preprocessing plan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29184" y="941832"/>
            <a:ext cx="10789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33333"/>
                </a:solidFill>
              </a:rPr>
              <a:t>Use a workshop dataset or one from your own discipline.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77240" y="1325880"/>
            <a:ext cx="3667344" cy="46736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1380744"/>
            <a:ext cx="3539328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</a:rPr>
              <a:t>Decision area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444584" y="1325880"/>
            <a:ext cx="6985416" cy="467360"/>
          </a:xfrm>
          <a:prstGeom prst="rect">
            <a:avLst/>
          </a:prstGeom>
          <a:solidFill>
            <a:srgbClr val="F2F2F2"/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08592" y="1380744"/>
            <a:ext cx="6857400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111111"/>
                </a:solidFill>
              </a:rPr>
              <a:t>Participant response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77240" y="1793240"/>
            <a:ext cx="3667344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1248" y="1848104"/>
            <a:ext cx="3539328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Unit of observation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444584" y="1793240"/>
            <a:ext cx="6985416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08592" y="1848104"/>
            <a:ext cx="6857400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77240" y="2260600"/>
            <a:ext cx="3667344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" y="2315464"/>
            <a:ext cx="3539328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Target variable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444584" y="2260600"/>
            <a:ext cx="6985416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08592" y="2315464"/>
            <a:ext cx="6857400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77240" y="2727960"/>
            <a:ext cx="3667344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1248" y="2782824"/>
            <a:ext cx="3539328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Numeric inputs needing scaling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444584" y="2727960"/>
            <a:ext cx="6985416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08592" y="2782824"/>
            <a:ext cx="6857400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77240" y="3195320"/>
            <a:ext cx="3667344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1248" y="3250184"/>
            <a:ext cx="3539328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Categorical inputs needing encoding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444584" y="3195320"/>
            <a:ext cx="6985416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08592" y="3250184"/>
            <a:ext cx="6857400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77240" y="3662680"/>
            <a:ext cx="3667344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41248" y="3717544"/>
            <a:ext cx="3539328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Missing-data strategy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444584" y="3662680"/>
            <a:ext cx="6985416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508592" y="3717544"/>
            <a:ext cx="6857400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77240" y="4130040"/>
            <a:ext cx="3667344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41248" y="4184904"/>
            <a:ext cx="3539328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Possible leakage variable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444584" y="4130040"/>
            <a:ext cx="6985416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08592" y="4184904"/>
            <a:ext cx="6857400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77240" y="4597400"/>
            <a:ext cx="3667344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41248" y="4652264"/>
            <a:ext cx="3539328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Candidate domain-informed feature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444584" y="4597400"/>
            <a:ext cx="6985416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508592" y="4652264"/>
            <a:ext cx="6857400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77240" y="5064760"/>
            <a:ext cx="3667344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41248" y="5119624"/>
            <a:ext cx="3539328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800" b="1" dirty="0">
                <a:solidFill>
                  <a:srgbClr val="CC0000"/>
                </a:solidFill>
              </a:rPr>
              <a:t>Feature to remove or postpone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444584" y="5064760"/>
            <a:ext cx="6985416" cy="467360"/>
          </a:xfrm>
          <a:prstGeom prst="rect">
            <a:avLst/>
          </a:prstGeom>
          <a:solidFill>
            <a:srgbClr val="FFFFFF">
              <a:alpha val="0"/>
            </a:srgbClr>
          </a:solidFill>
          <a:ln w="5080">
            <a:solidFill>
              <a:srgbClr val="E2E2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08592" y="5119624"/>
            <a:ext cx="6857400" cy="357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C0000"/>
                </a:solidFill>
              </a:rPr>
              <a:t>Deliverable: one preprocessing plan that could be implemented before model training.</a:t>
            </a:r>
            <a:endParaRPr lang="en-US" sz="8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01752" y="228600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b="1" dirty="0">
                <a:solidFill>
                  <a:srgbClr val="555555"/>
                </a:solidFill>
              </a:rPr>
              <a:t>APPLIED AI DESIGN WORKSHOP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0972800" y="22860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550" dirty="0">
                <a:solidFill>
                  <a:srgbClr val="555555"/>
                </a:solidFill>
              </a:rPr>
              <a:t>Session 3</a:t>
            </a:r>
            <a:endParaRPr lang="en-US" sz="550" dirty="0"/>
          </a:p>
        </p:txBody>
      </p:sp>
      <p:sp>
        <p:nvSpPr>
          <p:cNvPr id="5" name="Text 3"/>
          <p:cNvSpPr/>
          <p:nvPr/>
        </p:nvSpPr>
        <p:spPr>
          <a:xfrm>
            <a:off x="329184" y="50292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</a:rPr>
              <a:t>Session 3 wrap-up: what you should take forward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1143000"/>
            <a:ext cx="3063240" cy="3566160"/>
          </a:xfrm>
          <a:prstGeom prst="roundRect">
            <a:avLst>
              <a:gd name="adj" fmla="val 1493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9264" y="126187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Before modeling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69264" y="1581912"/>
            <a:ext cx="2770632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Define the unit of observation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Identify target and inputs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Audit data types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Check missing values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Check leakage risk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26280" y="1143000"/>
            <a:ext cx="3063240" cy="3566160"/>
          </a:xfrm>
          <a:prstGeom prst="roundRect">
            <a:avLst>
              <a:gd name="adj" fmla="val 1493"/>
            </a:avLst>
          </a:prstGeom>
          <a:solidFill>
            <a:srgbClr val="FBEAEC"/>
          </a:solidFill>
          <a:ln w="7620">
            <a:solidFill>
              <a:srgbClr val="E5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72584" y="126187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During preprocessing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672584" y="1581912"/>
            <a:ext cx="2770632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Fit transformations on training data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Impute carefully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Scale when needed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Encode categories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Preserve meaningful outliers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229600" y="1143000"/>
            <a:ext cx="3063240" cy="3566160"/>
          </a:xfrm>
          <a:prstGeom prst="roundRect">
            <a:avLst>
              <a:gd name="adj" fmla="val 1493"/>
            </a:avLst>
          </a:prstGeom>
          <a:solidFill>
            <a:srgbClr val="F7F7F7"/>
          </a:solidFill>
          <a:ln w="7620">
            <a:solidFill>
              <a:srgbClr val="E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75904" y="1261872"/>
            <a:ext cx="27706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 dirty="0">
                <a:solidFill>
                  <a:srgbClr val="CC0000"/>
                </a:solidFill>
              </a:rPr>
              <a:t>After preprocessing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375904" y="1581912"/>
            <a:ext cx="2770632" cy="3035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Document decisions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Explain limitations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Revisit data collection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Engineer better features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11111"/>
                </a:solidFill>
              </a:rPr>
              <a:t>• Prepare for model comparison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" y="6053328"/>
            <a:ext cx="10927080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0160">
            <a:solidFill>
              <a:srgbClr val="F0A0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6172200"/>
            <a:ext cx="10652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C0000"/>
                </a:solidFill>
              </a:rPr>
              <a:t>Next: Unsupervised Learning for Discovery — exploring structure when target labels are unavailable.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1759</Words>
  <Application>Microsoft Office PowerPoint</Application>
  <PresentationFormat>Widescreen</PresentationFormat>
  <Paragraphs>329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NC State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 Session 3 — Data Preparation and Feature Engineering for Applied AI</dc:title>
  <dc:subject>Applied AI Design Workshop for Faculty</dc:subject>
  <dc:creator>Fred Livingston</dc:creator>
  <cp:lastModifiedBy>Fred Livingston</cp:lastModifiedBy>
  <cp:revision>2</cp:revision>
  <dcterms:created xsi:type="dcterms:W3CDTF">2026-07-16T04:18:24Z</dcterms:created>
  <dcterms:modified xsi:type="dcterms:W3CDTF">2026-07-16T04:23:44Z</dcterms:modified>
</cp:coreProperties>
</file>