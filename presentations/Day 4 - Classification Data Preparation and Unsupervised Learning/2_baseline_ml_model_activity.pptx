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72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29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5754-8DE9-F711-B781-27A395BF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82290-116A-887E-A9DE-773EECA11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48C46-2062-08F5-DECF-7EC0FD6A8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CBA0-A03F-7982-AAB3-BA277AE25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87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36E2-09A4-F5B3-E105-6220F603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85F85-BA25-1F2D-E2F7-35DF3BD99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59608-E0C3-9579-A693-03205510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E80A-C38E-18AF-210F-213E5328E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54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E5A5C3EF-E580-40D8-42BB-2D19A1EFB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6537" y="33437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170432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Hands-On Activity: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Building a Baseline ML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Dataset inspection • Baselines • Simple models • Metrics • 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complete one defensible first-pass ML workflow, not just run a model.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9572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514600"/>
            <a:ext cx="355701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Activity outputs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Problem statement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Baseline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Trained simple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Initial metrics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Interpretation and limitation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Inspect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Check rows, variables, types, missing values, and target definition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Frame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Decide whether the dataset supports regression or classification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Baseline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Establish a simple comparison model before training anything complex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Train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Fit one or two simple models using a transparent workflow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Interpret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Compare metrics, identify limitations, and recommend a next step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960120" y="5138928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Participant output: a concise model card for a first-pass baseline ML analysis.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C8102E"/>
                </a:solidFill>
              </a:rPr>
              <a:t>Define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Target, inputs, task, metric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3055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Inspect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242316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Rows, missing values, types, leakage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0507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Baseline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29768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Mean/median or majority class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7959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Train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Simple model pair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5411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0275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Evaluate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804672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Metrics and error patterns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2863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126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772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Interpret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99212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Limitations and next step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" y="4828032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4712" y="4946904"/>
            <a:ext cx="98663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purpose is to practice a complete, defensible workflow, </a:t>
            </a:r>
            <a:r>
              <a:rPr lang="en-US" sz="1800" b="1" dirty="0">
                <a:solidFill>
                  <a:srgbClr val="FF0000"/>
                </a:solidFill>
              </a:rPr>
              <a:t>not to optimize model performance.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Run Quality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compact engineering dataset to practice the full workflow without domain-specific software barriers.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Material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Yield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54203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295351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91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336499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45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747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61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377647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1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45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603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891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5800" y="418795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35240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99832" y="190195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Regression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continuous yield.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7635240" y="3063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799832" y="318211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Classification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pass/fail quality.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635240" y="43434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99832" y="446227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Baseline required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Compare against simplest useful rule.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define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Start by writing down what the model is expected to predict and how success will be judged.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922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" y="2006851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Decision or prediction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question should the model answer?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Will this run pass quality inspection?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2314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2474" y="1983734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Unit of observation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one row?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one process run, part, student, machine cycle, sample, or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5624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8866" y="2006851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score reflects success?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recall if missed defects are costly; MAE if error magnitude matters.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98348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4712" y="5102352"/>
            <a:ext cx="98663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one sentence problem statement + selected metric + baseline choice.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B9C4CFF-8DDA-FE55-E552-6A96B7649640}"/>
              </a:ext>
            </a:extLst>
          </p:cNvPr>
          <p:cNvSpPr/>
          <p:nvPr/>
        </p:nvSpPr>
        <p:spPr>
          <a:xfrm>
            <a:off x="9449824" y="1883150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B9DD9B-4B53-DE2E-1055-3183973F9D81}"/>
              </a:ext>
            </a:extLst>
          </p:cNvPr>
          <p:cNvSpPr txBox="1"/>
          <p:nvPr/>
        </p:nvSpPr>
        <p:spPr>
          <a:xfrm>
            <a:off x="9600742" y="1987506"/>
            <a:ext cx="23514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Target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the outcome?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Regression: number, Classification: class label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inspect the data before modeling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baseline model is only meaningful if the dataset has been checked for basic validity.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Rows and columns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Do we have enough observations for the number of variables?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Data types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Which features are numerical, categorical, date/time, or text?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Missing values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Are values missing randomly, systematically, or by design?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Target definition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Is the target measurable, consistent, and available after the prediction point?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Leakage risk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Would any input reveal the answer too directly or too late?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Split strategy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Should the data be split randomly, by group, or by time?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Mini-lesson: data leakage can invalidate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Leakage occurs when the model uses information that would not be available at the time of prediction.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Example leakage feature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Final inspection score included as an input when predicting pass/fail quality.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The model is effectively seeing the answer.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Time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Using future sensor readings when predicting an earlier failure or yield.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timeline is broken.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Group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Samples from the same subject, machine, or batch appear in both train and test sets.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test set is too familiar.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Activity: Identify one variable that could cause leakage and justify keeping or removing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establish the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baseline answers: what performance can we get with a simple, transparent rule?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training-set mean or median.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MAE, RMSE, R² relative to simple prediction.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or current rule.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confusion matrix, accuracy, precision, recall, F1.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Why it matters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A model that does not beat the baseline should not be treated as useful, even if it is complex.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train simple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simple, interpretable models first. The goal is to understand the problem before chasing accuracy.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Mean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Linear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Decision-tree regression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training and test error.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Majority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Logistic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 tree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confusion matrices.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Model discipline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Use the same split, same inputs, and same target for each comparison.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Change one thing at a time.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evaluate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Evaluation should answer both “How well did it predict?” and “What kinds of errors did it make?”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82880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MAE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182880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Average absolute error in original units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359152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RMSE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359152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Penalizes larger errors more strongly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889504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2889504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target variation explained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82112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19856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Accuracy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3419856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Overall percent correct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12464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950208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Recall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950208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important positives detected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242816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448056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predicted positives that were correct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77316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0120" y="553212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24712" y="565099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Metric choice should reflect the practical consequence of the error, not just mathematical convenience.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 continued: inspect error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first model is most valuable when it shows where the data or problem formulation needs improvement.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374904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402336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33832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36118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971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0" y="31546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5010912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Residuals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</a:rPr>
              <a:t>TP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</a:rPr>
              <a:t>FN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FP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TN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874520"/>
            <a:ext cx="2743200" cy="235000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85632" y="2136605"/>
            <a:ext cx="250545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errors larger for one group?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mistakes tied to missing features?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one class poorly represented?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the target noisy?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Error analysis converts model performance into research and data-collection priorities.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B3479-7140-8B17-EB80-57D39627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5FF1EA-730B-522D-8B4D-D4F5BC76A1AC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BC651-59B7-7B3C-F659-196067D70FA0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254A0F-4E4D-6434-5740-5CA4B54317F6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F55C01-8EC8-3B35-2ED2-D3518227FB7B}"/>
              </a:ext>
            </a:extLst>
          </p:cNvPr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51A6403-5B1E-3145-540E-4AD48B91CF83}"/>
              </a:ext>
            </a:extLst>
          </p:cNvPr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C1E2CBF-28F2-2320-FC0D-4DC61A5324BE}"/>
              </a:ext>
            </a:extLst>
          </p:cNvPr>
          <p:cNvSpPr/>
          <p:nvPr/>
        </p:nvSpPr>
        <p:spPr>
          <a:xfrm>
            <a:off x="6217920" y="3840480"/>
            <a:ext cx="4709160" cy="140817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3517CC1-A114-5A01-D961-3C3AF18E2A34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CA0F78D-4437-1537-A652-2473CC37F945}"/>
              </a:ext>
            </a:extLst>
          </p:cNvPr>
          <p:cNvSpPr/>
          <p:nvPr/>
        </p:nvSpPr>
        <p:spPr>
          <a:xfrm>
            <a:off x="612648" y="85953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technical skill: complete baseline modeling workflow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BAAD2E2-644F-9A87-9CF8-AD104EBE1E87}"/>
              </a:ext>
            </a:extLst>
          </p:cNvPr>
          <p:cNvSpPr/>
          <p:nvPr/>
        </p:nvSpPr>
        <p:spPr>
          <a:xfrm>
            <a:off x="630936" y="13807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combine the tool skills into one repeatable applied ML workflow.</a:t>
            </a:r>
            <a:endParaRPr lang="en-US" sz="115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95D6381A-794F-0809-87F8-197A30909B19}"/>
              </a:ext>
            </a:extLst>
          </p:cNvPr>
          <p:cNvSpPr/>
          <p:nvPr/>
        </p:nvSpPr>
        <p:spPr>
          <a:xfrm>
            <a:off x="841248" y="2048256"/>
            <a:ext cx="621792" cy="6217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96B6C89-6E23-E74B-CAF8-BFF4C919A19F}"/>
              </a:ext>
            </a:extLst>
          </p:cNvPr>
          <p:cNvSpPr/>
          <p:nvPr/>
        </p:nvSpPr>
        <p:spPr>
          <a:xfrm>
            <a:off x="84124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8A71BDB-A70B-C2BC-8B47-ED5388BA8C59}"/>
              </a:ext>
            </a:extLst>
          </p:cNvPr>
          <p:cNvSpPr/>
          <p:nvPr/>
        </p:nvSpPr>
        <p:spPr>
          <a:xfrm>
            <a:off x="49377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Load</a:t>
            </a:r>
            <a:endParaRPr lang="en-US" sz="115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D0A191D-5444-867F-4E4E-159EDD959CD7}"/>
              </a:ext>
            </a:extLst>
          </p:cNvPr>
          <p:cNvSpPr/>
          <p:nvPr/>
        </p:nvSpPr>
        <p:spPr>
          <a:xfrm>
            <a:off x="149961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3129BA29-D1C1-E6CB-0E62-584A705FDE9D}"/>
              </a:ext>
            </a:extLst>
          </p:cNvPr>
          <p:cNvSpPr/>
          <p:nvPr/>
        </p:nvSpPr>
        <p:spPr>
          <a:xfrm>
            <a:off x="2395728" y="2048256"/>
            <a:ext cx="621792" cy="6217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4707713-95A6-A3EC-B2CC-06DC7E628DA3}"/>
              </a:ext>
            </a:extLst>
          </p:cNvPr>
          <p:cNvSpPr/>
          <p:nvPr/>
        </p:nvSpPr>
        <p:spPr>
          <a:xfrm>
            <a:off x="239572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A9254CEC-D708-470E-8122-1FAADAD8C624}"/>
              </a:ext>
            </a:extLst>
          </p:cNvPr>
          <p:cNvSpPr/>
          <p:nvPr/>
        </p:nvSpPr>
        <p:spPr>
          <a:xfrm>
            <a:off x="204825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Inspect</a:t>
            </a:r>
            <a:endParaRPr lang="en-US" sz="115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0E33C5B5-8595-228B-25D9-5F11AFE06BA0}"/>
              </a:ext>
            </a:extLst>
          </p:cNvPr>
          <p:cNvSpPr/>
          <p:nvPr/>
        </p:nvSpPr>
        <p:spPr>
          <a:xfrm>
            <a:off x="305409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1E097BF4-2790-E123-D834-D28EE23B278D}"/>
              </a:ext>
            </a:extLst>
          </p:cNvPr>
          <p:cNvSpPr/>
          <p:nvPr/>
        </p:nvSpPr>
        <p:spPr>
          <a:xfrm>
            <a:off x="3950208" y="2048256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D8769ECD-EC98-E951-F273-F079387A89B7}"/>
              </a:ext>
            </a:extLst>
          </p:cNvPr>
          <p:cNvSpPr/>
          <p:nvPr/>
        </p:nvSpPr>
        <p:spPr>
          <a:xfrm>
            <a:off x="395020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C302185-03D2-AD64-0CFA-E51FCF267F6A}"/>
              </a:ext>
            </a:extLst>
          </p:cNvPr>
          <p:cNvSpPr/>
          <p:nvPr/>
        </p:nvSpPr>
        <p:spPr>
          <a:xfrm>
            <a:off x="360273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Visualize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30F219B8-0265-D765-0149-287784690912}"/>
              </a:ext>
            </a:extLst>
          </p:cNvPr>
          <p:cNvSpPr/>
          <p:nvPr/>
        </p:nvSpPr>
        <p:spPr>
          <a:xfrm>
            <a:off x="460857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CF2AE6C1-4E4E-6B99-EEA9-C65EEECEA819}"/>
              </a:ext>
            </a:extLst>
          </p:cNvPr>
          <p:cNvSpPr/>
          <p:nvPr/>
        </p:nvSpPr>
        <p:spPr>
          <a:xfrm>
            <a:off x="5504688" y="2048256"/>
            <a:ext cx="621792" cy="621792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5FD21750-A2C3-A148-95BF-A95F843EA2CC}"/>
              </a:ext>
            </a:extLst>
          </p:cNvPr>
          <p:cNvSpPr/>
          <p:nvPr/>
        </p:nvSpPr>
        <p:spPr>
          <a:xfrm>
            <a:off x="550468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4FB9BA9-796A-CFD9-607C-6DAC4DAF00C9}"/>
              </a:ext>
            </a:extLst>
          </p:cNvPr>
          <p:cNvSpPr/>
          <p:nvPr/>
        </p:nvSpPr>
        <p:spPr>
          <a:xfrm>
            <a:off x="515721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Split</a:t>
            </a:r>
            <a:endParaRPr lang="en-US" sz="115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2699688-9E68-4788-8946-9EA4D82A2E71}"/>
              </a:ext>
            </a:extLst>
          </p:cNvPr>
          <p:cNvSpPr/>
          <p:nvPr/>
        </p:nvSpPr>
        <p:spPr>
          <a:xfrm>
            <a:off x="616305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26F8CB0D-CF20-D04C-00BD-8ACFA4B17EA6}"/>
              </a:ext>
            </a:extLst>
          </p:cNvPr>
          <p:cNvSpPr/>
          <p:nvPr/>
        </p:nvSpPr>
        <p:spPr>
          <a:xfrm>
            <a:off x="7059168" y="2048256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4F22E666-B0E7-10A0-7EA9-0AD71D018F56}"/>
              </a:ext>
            </a:extLst>
          </p:cNvPr>
          <p:cNvSpPr/>
          <p:nvPr/>
        </p:nvSpPr>
        <p:spPr>
          <a:xfrm>
            <a:off x="705916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A674A69-790A-E60A-9E75-5FE4AD7BA910}"/>
              </a:ext>
            </a:extLst>
          </p:cNvPr>
          <p:cNvSpPr/>
          <p:nvPr/>
        </p:nvSpPr>
        <p:spPr>
          <a:xfrm>
            <a:off x="671169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Baseline</a:t>
            </a:r>
            <a:endParaRPr lang="en-US" sz="115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C590966E-9329-F6FF-F884-76D9D6B1E0CA}"/>
              </a:ext>
            </a:extLst>
          </p:cNvPr>
          <p:cNvSpPr/>
          <p:nvPr/>
        </p:nvSpPr>
        <p:spPr>
          <a:xfrm>
            <a:off x="771753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B676C410-CF4B-4D5D-969C-B12AD27A1472}"/>
              </a:ext>
            </a:extLst>
          </p:cNvPr>
          <p:cNvSpPr/>
          <p:nvPr/>
        </p:nvSpPr>
        <p:spPr>
          <a:xfrm>
            <a:off x="8613648" y="2048256"/>
            <a:ext cx="621792" cy="621792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E6C2B4D6-7C5F-F1A4-C592-694453F86C7E}"/>
              </a:ext>
            </a:extLst>
          </p:cNvPr>
          <p:cNvSpPr/>
          <p:nvPr/>
        </p:nvSpPr>
        <p:spPr>
          <a:xfrm>
            <a:off x="861364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4F2B6BF6-05BA-6C16-68E5-F37324214104}"/>
              </a:ext>
            </a:extLst>
          </p:cNvPr>
          <p:cNvSpPr/>
          <p:nvPr/>
        </p:nvSpPr>
        <p:spPr>
          <a:xfrm>
            <a:off x="826617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Train</a:t>
            </a:r>
            <a:endParaRPr lang="en-US" sz="115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6F0BECCC-8983-25F4-389C-741F0B67DA08}"/>
              </a:ext>
            </a:extLst>
          </p:cNvPr>
          <p:cNvSpPr/>
          <p:nvPr/>
        </p:nvSpPr>
        <p:spPr>
          <a:xfrm>
            <a:off x="927201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3A39C6F1-5817-DA07-C713-2F0451E51233}"/>
              </a:ext>
            </a:extLst>
          </p:cNvPr>
          <p:cNvSpPr/>
          <p:nvPr/>
        </p:nvSpPr>
        <p:spPr>
          <a:xfrm>
            <a:off x="10168128" y="2048256"/>
            <a:ext cx="621792" cy="6217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7928DD57-8864-D389-A23F-0A4B6E4D2AED}"/>
              </a:ext>
            </a:extLst>
          </p:cNvPr>
          <p:cNvSpPr/>
          <p:nvPr/>
        </p:nvSpPr>
        <p:spPr>
          <a:xfrm>
            <a:off x="1016812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2F732E55-60C6-E628-ABD2-C0977241E34A}"/>
              </a:ext>
            </a:extLst>
          </p:cNvPr>
          <p:cNvSpPr/>
          <p:nvPr/>
        </p:nvSpPr>
        <p:spPr>
          <a:xfrm>
            <a:off x="982065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Evaluate</a:t>
            </a:r>
            <a:endParaRPr lang="en-US" sz="11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7D935811-3FAE-B6FD-A50C-6939E09D842B}"/>
              </a:ext>
            </a:extLst>
          </p:cNvPr>
          <p:cNvSpPr/>
          <p:nvPr/>
        </p:nvSpPr>
        <p:spPr>
          <a:xfrm>
            <a:off x="886968" y="3602736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1163C746-4163-E093-0FA4-CA76D7191AE1}"/>
              </a:ext>
            </a:extLst>
          </p:cNvPr>
          <p:cNvSpPr/>
          <p:nvPr/>
        </p:nvSpPr>
        <p:spPr>
          <a:xfrm>
            <a:off x="1051560" y="3730752"/>
            <a:ext cx="479145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pd.read_csv("classification_workshop.csv")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df[target]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stratify=y)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4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8ED2CD30-CD4E-E9D8-BD27-CF8552331159}"/>
              </a:ext>
            </a:extLst>
          </p:cNvPr>
          <p:cNvSpPr/>
          <p:nvPr/>
        </p:nvSpPr>
        <p:spPr>
          <a:xfrm>
            <a:off x="6601968" y="36027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What faculty produce</a:t>
            </a:r>
            <a:endParaRPr lang="en-US" sz="1500" dirty="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0BE7DEA5-3C59-8D5F-4696-E6764890B402}"/>
              </a:ext>
            </a:extLst>
          </p:cNvPr>
          <p:cNvSpPr/>
          <p:nvPr/>
        </p:nvSpPr>
        <p:spPr>
          <a:xfrm>
            <a:off x="6601968" y="3941064"/>
            <a:ext cx="43434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baseline comparison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first model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metric-based interpretation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One limitation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One recommended next step</a:t>
            </a:r>
            <a:endParaRPr lang="en-US" sz="1250" dirty="0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D799BADE-C4DA-346B-BD52-9FF63DA8848E}"/>
              </a:ext>
            </a:extLst>
          </p:cNvPr>
          <p:cNvSpPr/>
          <p:nvPr/>
        </p:nvSpPr>
        <p:spPr>
          <a:xfrm>
            <a:off x="6601968" y="566013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D35EE97-0857-C2DD-2739-A14C24942CD7}"/>
              </a:ext>
            </a:extLst>
          </p:cNvPr>
          <p:cNvSpPr/>
          <p:nvPr/>
        </p:nvSpPr>
        <p:spPr>
          <a:xfrm>
            <a:off x="6601968" y="57287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5 notebook</a:t>
            </a:r>
            <a:endParaRPr lang="en-US" sz="850" dirty="0"/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D2505C53-AE37-6FA3-1BDB-D2B43E7AB6BC}"/>
              </a:ext>
            </a:extLst>
          </p:cNvPr>
          <p:cNvSpPr/>
          <p:nvPr/>
        </p:nvSpPr>
        <p:spPr>
          <a:xfrm>
            <a:off x="8156448" y="56967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02_session2_complete_workflow.ipynb</a:t>
            </a:r>
            <a:endParaRPr lang="en-US" sz="1120" dirty="0"/>
          </a:p>
        </p:txBody>
      </p:sp>
      <p:sp>
        <p:nvSpPr>
          <p:cNvPr id="7" name="Shape 23">
            <a:extLst>
              <a:ext uri="{FF2B5EF4-FFF2-40B4-BE49-F238E27FC236}">
                <a16:creationId xmlns:a16="http://schemas.microsoft.com/office/drawing/2014/main" id="{9E8C9158-453C-5409-A295-6E114809263F}"/>
              </a:ext>
            </a:extLst>
          </p:cNvPr>
          <p:cNvSpPr/>
          <p:nvPr/>
        </p:nvSpPr>
        <p:spPr>
          <a:xfrm>
            <a:off x="1984248" y="5262833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8890">
            <a:solidFill>
              <a:srgbClr val="E6E6E6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111111"/>
                </a:solidFill>
              </a:rPr>
              <a:t>Questions?</a:t>
            </a:r>
          </a:p>
          <a:p>
            <a:endParaRPr lang="en-US" sz="1100" dirty="0">
              <a:solidFill>
                <a:srgbClr val="111111"/>
              </a:solidFill>
            </a:endParaRPr>
          </a:p>
          <a:p>
            <a:r>
              <a:rPr lang="en-US" sz="1100" dirty="0">
                <a:solidFill>
                  <a:srgbClr val="111111"/>
                </a:solidFill>
              </a:rPr>
              <a:t>• Are errors larger for one group?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Are mistakes tied to missing features?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Is one class poorly represented?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Is the target noisy?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2904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F232F-CBCB-B1C9-E730-B6CA8FEC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944489-95C4-0729-6734-1FF6CED57C6A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352B0F-F742-7F5A-C210-0AC3ECA3A03C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060574-BD26-CE1B-A0B6-14F19AD89C39}"/>
              </a:ext>
            </a:extLst>
          </p:cNvPr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output: first-pass model card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CC079F-C858-9D87-EDC9-68A4ADF37570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D10CF9-836C-E98F-DA11-90E92AEFEB94}"/>
              </a:ext>
            </a:extLst>
          </p:cNvPr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Each group should leave with a short model card summarizing the baseline analysis.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E5528F-E9D1-54E1-51C4-09A233651F0D}"/>
              </a:ext>
            </a:extLst>
          </p:cNvPr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C3EE1D-C63C-9123-3DC4-28FBFAEC6CFB}"/>
              </a:ext>
            </a:extLst>
          </p:cNvPr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Problem statement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is predicted, for whom or what, and why?</a:t>
            </a:r>
            <a:endParaRPr lang="en-US" sz="138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1BAE1BB-5D17-A511-EE66-3554F60E1A8F}"/>
              </a:ext>
            </a:extLst>
          </p:cNvPr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711EFB-64AB-DF3E-0A3A-6D12ECBB5578}"/>
              </a:ext>
            </a:extLst>
          </p:cNvPr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Dataset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Rows, variables, target, missing values, and leakage concerns</a:t>
            </a:r>
            <a:endParaRPr lang="en-US" sz="138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37331F6-DB00-0689-B4EC-D5A0CADD34BA}"/>
              </a:ext>
            </a:extLst>
          </p:cNvPr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F45E1F-0D6D-1FF6-D8FF-6FC714FAA543}"/>
              </a:ext>
            </a:extLst>
          </p:cNvPr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Baseline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Simple rule and its performance</a:t>
            </a:r>
            <a:endParaRPr lang="en-US" sz="138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FA674B-E32C-B69A-C502-32F770A337D5}"/>
              </a:ext>
            </a:extLst>
          </p:cNvPr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50FB07-4806-4D67-98A5-2271E81F78A2}"/>
              </a:ext>
            </a:extLst>
          </p:cNvPr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Model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Algorithm, inputs, split method, and metric</a:t>
            </a:r>
            <a:endParaRPr lang="en-US" sz="13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AAB7666-C69E-E3B0-0EC2-7E82D02DEA5C}"/>
              </a:ext>
            </a:extLst>
          </p:cNvPr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FAB7E7D-AF78-8600-FA5B-93B96C48B046}"/>
              </a:ext>
            </a:extLst>
          </p:cNvPr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Results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Performance compared with baseline and observed error pattern</a:t>
            </a:r>
            <a:endParaRPr lang="en-US" sz="138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19395A-7E88-5D17-30EC-A319037D0071}"/>
              </a:ext>
            </a:extLst>
          </p:cNvPr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F6905B-1C77-8D71-06CE-EB03FC6BFBC7}"/>
              </a:ext>
            </a:extLst>
          </p:cNvPr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Limitations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should not be concluded and what data are needed next?</a:t>
            </a:r>
            <a:endParaRPr lang="en-US" sz="138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FC2CFB-B864-902C-4787-50441E05328A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4907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outperform the baseline?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Was the improvement practically meaningful?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Which metric best represents success?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appear to overfit?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6868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Were any variables likely to introduce leakage?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Would the model generalize to another lab, machine, course, or population?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additional data should be collected?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limitation must be reported?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60120" y="5596128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4712" y="5715000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8102E"/>
                </a:solidFill>
              </a:rPr>
              <a:t>Synthesis: a baseline workflow is a scientific argument about whether the data support a useful prediction.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wrap-up: what you should take forward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complete first-pass ML workflow should be transparent, reproducible in class, and easy to critique.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Before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target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unit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Select 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Inspect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Check leakage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During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Establish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Use simple models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Keep comparison fair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Evaluate on held-out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After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Interpret errors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State limitations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Recommend next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Avoid causal overclaims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Day 4 endpoint: </a:t>
            </a:r>
            <a:r>
              <a:rPr lang="en-US" b="1" dirty="0">
                <a:solidFill>
                  <a:srgbClr val="C8102E"/>
                </a:solidFill>
              </a:rPr>
              <a:t>You </a:t>
            </a:r>
            <a:r>
              <a:rPr lang="en-US" sz="1800" b="1" dirty="0">
                <a:solidFill>
                  <a:srgbClr val="C8102E"/>
                </a:solidFill>
              </a:rPr>
              <a:t>can frame an applied ML problem and run a defensible baseline analysis.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1515</Words>
  <Application>Microsoft Office PowerPoint</Application>
  <PresentationFormat>Widescreen</PresentationFormat>
  <Paragraphs>357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Activity: Building a Baseline ML Model</dc:title>
  <dc:subject>Session 5 Applied AI Design Workshop</dc:subject>
  <dc:creator>Fred Livingston</dc:creator>
  <cp:lastModifiedBy>Fred Livingston</cp:lastModifiedBy>
  <cp:revision>11</cp:revision>
  <dcterms:created xsi:type="dcterms:W3CDTF">2026-07-14T20:51:56Z</dcterms:created>
  <dcterms:modified xsi:type="dcterms:W3CDTF">2026-07-16T04:14:04Z</dcterms:modified>
</cp:coreProperties>
</file>