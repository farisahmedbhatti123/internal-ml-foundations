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73" r:id="rId3"/>
    <p:sldId id="274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2" r:id="rId19"/>
    <p:sldId id="271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9" autoAdjust="0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88" y="3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5006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68EA9-C69C-127B-4EBA-8BECBC1A2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F4B645-E362-F8A8-EA6B-9B1D92258A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E541BA-B9CC-B403-11F8-32BF58500E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40D0BB-F817-6784-DE5B-1186DB86DE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9663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C State Engineering -- ANS / Conferences / 2021 Student Conference">
            <a:extLst>
              <a:ext uri="{FF2B5EF4-FFF2-40B4-BE49-F238E27FC236}">
                <a16:creationId xmlns:a16="http://schemas.microsoft.com/office/drawing/2014/main" id="{FCE649E6-3030-9D58-4EBB-48989173AA5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50402" y="369306"/>
            <a:ext cx="1551223" cy="432403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fjliving@ncsu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7132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102E"/>
                </a:solidFill>
              </a:rPr>
              <a:t>SESSION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13232" y="1234440"/>
            <a:ext cx="6172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1F2937"/>
                </a:solidFill>
              </a:rPr>
              <a:t>Classification Fundamentals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13232" y="2304288"/>
            <a:ext cx="6080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</a:rPr>
              <a:t>Logistic regression • Decision trees • Confusion matrices • Precision • Recall • F1-score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13232" y="294436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</a:rPr>
              <a:t>Applied AI Design Workshop for Faculty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13232" y="331012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Fred Livingston (</a:t>
            </a:r>
            <a:r>
              <a:rPr lang="en-US" sz="1200" dirty="0">
                <a:solidFill>
                  <a:srgbClr val="6B7280"/>
                </a:solidFill>
                <a:hlinkClick r:id="rId3"/>
              </a:rPr>
              <a:t>fjliving@ncsu.edu</a:t>
            </a:r>
            <a:r>
              <a:rPr lang="en-US" sz="1200" dirty="0">
                <a:solidFill>
                  <a:srgbClr val="6B7280"/>
                </a:solidFill>
              </a:rPr>
              <a:t>) 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730752"/>
            <a:ext cx="5852160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60920" y="960120"/>
            <a:ext cx="3886200" cy="960120"/>
          </a:xfrm>
          <a:prstGeom prst="roundRect">
            <a:avLst>
              <a:gd name="adj" fmla="val 7619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525512" y="1078992"/>
            <a:ext cx="355701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</a:rPr>
              <a:t>Goal: build intuition for predicting categories and choosing metrics based on the cost of errors.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60920" y="2331720"/>
            <a:ext cx="388620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525512" y="2450592"/>
            <a:ext cx="3557016" cy="2221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</a:rPr>
              <a:t>Session focus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</a:rPr>
              <a:t>• Classification problem framing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</a:rPr>
              <a:t>• Probabilities and thresholds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</a:rPr>
              <a:t>• Logistic regression and trees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</a:rPr>
              <a:t>• Confusion matrices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</a:rPr>
              <a:t>• Precision, recall, and F1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277078"/>
                </a:solidFill>
                <a:latin typeface="Aptos"/>
              </a:rPr>
              <a:t>APPLIED AI DESIGN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9326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C48"/>
                </a:solidFill>
                <a:latin typeface="Aptos Display"/>
              </a:rPr>
              <a:t>Day 3 recap: foundations established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05A62"/>
                </a:solidFill>
                <a:latin typeface="Aptos"/>
              </a:rPr>
              <a:t>DAY 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33856"/>
            <a:ext cx="10332720" cy="22860"/>
          </a:xfrm>
          <a:prstGeom prst="rect">
            <a:avLst/>
          </a:prstGeom>
          <a:solidFill>
            <a:srgbClr val="E0E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73152" cy="1325880"/>
          </a:xfrm>
          <a:prstGeom prst="rect">
            <a:avLst/>
          </a:prstGeom>
          <a:solidFill>
            <a:srgbClr val="27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536192"/>
            <a:ext cx="292607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42C48"/>
                </a:solidFill>
                <a:latin typeface="Aptos"/>
              </a:rPr>
              <a:t>Session 1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05A62"/>
                </a:solidFill>
                <a:latin typeface="Aptos"/>
              </a:rPr>
              <a:t>Translated engineering and disciplinary problems into ML tasks; defined inputs, targets, units, baselines, and success criteria.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69080" y="141732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069080" y="1417320"/>
            <a:ext cx="73152" cy="1325880"/>
          </a:xfrm>
          <a:prstGeom prst="rect">
            <a:avLst/>
          </a:prstGeom>
          <a:solidFill>
            <a:srgbClr val="27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70248" y="1536192"/>
            <a:ext cx="292607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42C48"/>
                </a:solidFill>
                <a:latin typeface="Aptos"/>
              </a:rPr>
              <a:t>Session 2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05A62"/>
                </a:solidFill>
                <a:latin typeface="Aptos"/>
              </a:rPr>
              <a:t>Compared regression, classification, clustering, dimensionality reduction, forecasting, and anomaly detection.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141732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452360" y="1417320"/>
            <a:ext cx="73152" cy="1325880"/>
          </a:xfrm>
          <a:prstGeom prst="rect">
            <a:avLst/>
          </a:prstGeom>
          <a:solidFill>
            <a:srgbClr val="27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53528" y="1536192"/>
            <a:ext cx="292607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42C48"/>
                </a:solidFill>
                <a:latin typeface="Aptos"/>
              </a:rPr>
              <a:t>Session 3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05A62"/>
                </a:solidFill>
                <a:latin typeface="Aptos"/>
              </a:rPr>
              <a:t>Introduced regression fundamentals, model baselines, residuals, and evaluation using MAE, RMSE, and R².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063240"/>
            <a:ext cx="48920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" y="3063240"/>
            <a:ext cx="73152" cy="1417320"/>
          </a:xfrm>
          <a:prstGeom prst="rect">
            <a:avLst/>
          </a:prstGeom>
          <a:solidFill>
            <a:srgbClr val="27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6968" y="3182112"/>
            <a:ext cx="4572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42C48"/>
                </a:solidFill>
                <a:latin typeface="Aptos"/>
              </a:rPr>
              <a:t>Technical skills practiced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05A62"/>
                </a:solidFill>
                <a:latin typeface="Aptos"/>
              </a:rPr>
              <a:t>Loaded data with pandas, identified X and y, inspected DataFrames, visualized relationships, and used a basic scikit-learn regression workflow.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3063240"/>
            <a:ext cx="48920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806440" y="3063240"/>
            <a:ext cx="73152" cy="1417320"/>
          </a:xfrm>
          <a:prstGeom prst="rect">
            <a:avLst/>
          </a:prstGeom>
          <a:solidFill>
            <a:srgbClr val="27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07607" y="3182112"/>
            <a:ext cx="4572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42C48"/>
                </a:solidFill>
                <a:latin typeface="Aptos"/>
              </a:rPr>
              <a:t>Day 4 transition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05A62"/>
                </a:solidFill>
                <a:latin typeface="Aptos"/>
              </a:rPr>
              <a:t>Move from continuous prediction to categorical prediction, then complete an end-to-end baseline workflow before data preparation and unsupervised discovery.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93776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277078"/>
                </a:solidFill>
                <a:latin typeface="Aptos"/>
              </a:rPr>
              <a:t>Opening prompt: Which Day 3 decision most affects whether a model is useful—problem framing, baseline selection, or metric choice?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277078"/>
                </a:solidFill>
                <a:latin typeface="Aptos"/>
              </a:rPr>
              <a:t>APPLIED AI DESIGN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9326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C48"/>
                </a:solidFill>
                <a:latin typeface="Aptos Display"/>
              </a:rPr>
              <a:t>Day 4 objectives and learning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05A62"/>
                </a:solidFill>
                <a:latin typeface="Aptos"/>
              </a:rPr>
              <a:t>DAY 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33856"/>
            <a:ext cx="10332720" cy="22860"/>
          </a:xfrm>
          <a:prstGeom prst="rect">
            <a:avLst/>
          </a:prstGeom>
          <a:solidFill>
            <a:srgbClr val="E0E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298448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50" b="1">
                <a:solidFill>
                  <a:srgbClr val="142C48"/>
                </a:solidFill>
                <a:latin typeface="Aptos"/>
              </a:rPr>
              <a:t>Objective: extend the applied ML workflow from regression to classification, baseline modeling, data preparation, and unsupervised learning.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489204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0E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874519"/>
            <a:ext cx="73152" cy="804672"/>
          </a:xfrm>
          <a:prstGeom prst="rect">
            <a:avLst/>
          </a:prstGeom>
          <a:solidFill>
            <a:srgbClr val="27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993391"/>
            <a:ext cx="4572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42C48"/>
                </a:solidFill>
                <a:latin typeface="Aptos"/>
              </a:rPr>
              <a:t>Classify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05A62"/>
                </a:solidFill>
                <a:latin typeface="Aptos"/>
              </a:rPr>
              <a:t>Apply logistic regression and decision trees to categorical outcomes.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843784"/>
            <a:ext cx="489204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0E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2843784"/>
            <a:ext cx="73152" cy="804672"/>
          </a:xfrm>
          <a:prstGeom prst="rect">
            <a:avLst/>
          </a:prstGeom>
          <a:solidFill>
            <a:srgbClr val="27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6968" y="2962656"/>
            <a:ext cx="4572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42C48"/>
                </a:solidFill>
                <a:latin typeface="Aptos"/>
              </a:rPr>
              <a:t>Evaluate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05A62"/>
                </a:solidFill>
                <a:latin typeface="Aptos"/>
              </a:rPr>
              <a:t>Interpret probabilities, confusion matrices, accuracy, precision, recall, and F1-score.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813048"/>
            <a:ext cx="489204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0E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3813048"/>
            <a:ext cx="73152" cy="804672"/>
          </a:xfrm>
          <a:prstGeom prst="rect">
            <a:avLst/>
          </a:prstGeom>
          <a:solidFill>
            <a:srgbClr val="27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6968" y="3931920"/>
            <a:ext cx="4572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42C48"/>
                </a:solidFill>
                <a:latin typeface="Aptos"/>
              </a:rPr>
              <a:t>Compare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05A62"/>
                </a:solidFill>
                <a:latin typeface="Aptos"/>
              </a:rPr>
              <a:t>Evaluate candidate models against a simple majority-class or mean baseline.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782312"/>
            <a:ext cx="489204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0E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4782312"/>
            <a:ext cx="73152" cy="804672"/>
          </a:xfrm>
          <a:prstGeom prst="rect">
            <a:avLst/>
          </a:prstGeom>
          <a:solidFill>
            <a:srgbClr val="277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6968" y="4901184"/>
            <a:ext cx="4572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42C48"/>
                </a:solidFill>
                <a:latin typeface="Aptos"/>
              </a:rPr>
              <a:t>Build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05A62"/>
                </a:solidFill>
                <a:latin typeface="Aptos"/>
              </a:rPr>
              <a:t>Complete a basic regression or classification workflow from preparation through initial evaluation.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06440" y="1874519"/>
            <a:ext cx="489204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0E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806440" y="1874519"/>
            <a:ext cx="73152" cy="804672"/>
          </a:xfrm>
          <a:prstGeom prst="rect">
            <a:avLst/>
          </a:prstGeom>
          <a:solidFill>
            <a:srgbClr val="142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07607" y="1993391"/>
            <a:ext cx="4572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42C48"/>
                </a:solidFill>
                <a:latin typeface="Aptos"/>
              </a:rPr>
              <a:t>Prepare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05A62"/>
                </a:solidFill>
                <a:latin typeface="Aptos"/>
              </a:rPr>
              <a:t>Identify missing values, outliers, data-type problems, categorical variables, and leakage risks.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06440" y="2843784"/>
            <a:ext cx="489204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0E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806440" y="2843784"/>
            <a:ext cx="73152" cy="804672"/>
          </a:xfrm>
          <a:prstGeom prst="rect">
            <a:avLst/>
          </a:prstGeom>
          <a:solidFill>
            <a:srgbClr val="142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007607" y="2962656"/>
            <a:ext cx="4572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42C48"/>
                </a:solidFill>
                <a:latin typeface="Aptos"/>
              </a:rPr>
              <a:t>Engineer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05A62"/>
                </a:solidFill>
                <a:latin typeface="Aptos"/>
              </a:rPr>
              <a:t>Apply scaling, encoding, feature selection, and domain-informed feature development.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06440" y="3813048"/>
            <a:ext cx="489204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0E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806440" y="3813048"/>
            <a:ext cx="73152" cy="804672"/>
          </a:xfrm>
          <a:prstGeom prst="rect">
            <a:avLst/>
          </a:prstGeom>
          <a:solidFill>
            <a:srgbClr val="142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007607" y="3931920"/>
            <a:ext cx="4572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42C48"/>
                </a:solidFill>
                <a:latin typeface="Aptos"/>
              </a:rPr>
              <a:t>Discover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05A62"/>
                </a:solidFill>
                <a:latin typeface="Aptos"/>
              </a:rPr>
              <a:t>Distinguish supervised from unsupervised learning and explain k-means, hierarchical clustering, and DBSCAN.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06440" y="4782312"/>
            <a:ext cx="489204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0E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806440" y="4782312"/>
            <a:ext cx="73152" cy="804672"/>
          </a:xfrm>
          <a:prstGeom prst="rect">
            <a:avLst/>
          </a:prstGeom>
          <a:solidFill>
            <a:srgbClr val="142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007607" y="4901184"/>
            <a:ext cx="4572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42C48"/>
                </a:solidFill>
                <a:latin typeface="Aptos"/>
              </a:rPr>
              <a:t>Interpret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05A62"/>
                </a:solidFill>
                <a:latin typeface="Aptos"/>
              </a:rPr>
              <a:t>Use disciplinary knowledge and validation evidence to judge whether clusters are meaningful.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Day 4 schedule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Day 4 schedule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737360" y="1234440"/>
            <a:ext cx="76809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1627632"/>
            <a:ext cx="99669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737360" y="1874520"/>
            <a:ext cx="76809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2267712"/>
            <a:ext cx="99669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737360" y="2514600"/>
            <a:ext cx="76809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1520" y="2907792"/>
            <a:ext cx="99669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737360" y="3154680"/>
            <a:ext cx="76809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1520" y="3547872"/>
            <a:ext cx="99669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737360" y="3794760"/>
            <a:ext cx="76809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31520" y="4187952"/>
            <a:ext cx="99669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737360" y="4434840"/>
            <a:ext cx="76809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31520" y="4828032"/>
            <a:ext cx="99669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737360" y="5074920"/>
            <a:ext cx="76809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31520" y="5468112"/>
            <a:ext cx="99669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948672" y="1261872"/>
            <a:ext cx="1179576" cy="1490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948672" y="3547872"/>
            <a:ext cx="117957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948672" y="4370832"/>
            <a:ext cx="1179576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sp>
        <p:nvSpPr>
          <p:cNvPr id="35" name="TextBox 34"/>
          <p:cNvSpPr txBox="1"/>
          <p:nvPr/>
        </p:nvSpPr>
        <p:spPr>
          <a:xfrm>
            <a:off x="2011680" y="1298448"/>
            <a:ext cx="85039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142C48"/>
                </a:solidFill>
                <a:latin typeface="Aptos"/>
              </a:rPr>
              <a:t>Session 1 — Classification Fundamentals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11680" y="1938528"/>
            <a:ext cx="85039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142C48"/>
                </a:solidFill>
                <a:latin typeface="Aptos"/>
              </a:rPr>
              <a:t>Session 2 — Hands-On Baseline ML Model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11680" y="2578608"/>
            <a:ext cx="85039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142C48"/>
                </a:solidFill>
                <a:latin typeface="Aptos"/>
              </a:rPr>
              <a:t>Break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11680" y="3218687"/>
            <a:ext cx="85039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142C48"/>
                </a:solidFill>
                <a:latin typeface="Aptos"/>
              </a:rPr>
              <a:t>Invited Presentation — LLM and AI Workflows on NCSU’s Hazel HPC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11680" y="3858768"/>
            <a:ext cx="85039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142C48"/>
                </a:solidFill>
                <a:latin typeface="Aptos"/>
              </a:rPr>
              <a:t>Session 3 — Data Preparation and Feature Engineering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11680" y="4498848"/>
            <a:ext cx="85039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142C48"/>
                </a:solidFill>
                <a:latin typeface="Aptos"/>
              </a:rPr>
              <a:t>Special Topic Session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11680" y="5138927"/>
            <a:ext cx="85039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142C48"/>
                </a:solidFill>
                <a:latin typeface="Aptos"/>
              </a:rPr>
              <a:t>Session 4 — Unsupervised Learning for Discovery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Session 1 learning outcomes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783080"/>
            <a:ext cx="1901952" cy="21488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901952"/>
            <a:ext cx="1572768" cy="1947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1F2937"/>
                </a:solidFill>
              </a:rPr>
              <a:t>Frame</a:t>
            </a:r>
            <a:endParaRPr lang="en-US" sz="1380" dirty="0"/>
          </a:p>
          <a:p>
            <a:pPr marL="0" indent="0" algn="ctr">
              <a:buNone/>
            </a:pPr>
            <a:r>
              <a:rPr lang="en-US" sz="1380" b="1" dirty="0">
                <a:solidFill>
                  <a:srgbClr val="1F2937"/>
                </a:solidFill>
              </a:rPr>
              <a:t>Recognize when a categorical target makes classification appropriate</a:t>
            </a:r>
            <a:endParaRPr lang="en-US" sz="1380" dirty="0"/>
          </a:p>
        </p:txBody>
      </p:sp>
      <p:sp>
        <p:nvSpPr>
          <p:cNvPr id="8" name="Shape 6"/>
          <p:cNvSpPr/>
          <p:nvPr/>
        </p:nvSpPr>
        <p:spPr>
          <a:xfrm>
            <a:off x="2926080" y="1783080"/>
            <a:ext cx="1901952" cy="2148840"/>
          </a:xfrm>
          <a:prstGeom prst="roundRect">
            <a:avLst>
              <a:gd name="adj" fmla="val 3846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090672" y="1901952"/>
            <a:ext cx="1572768" cy="1947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1F2937"/>
                </a:solidFill>
              </a:rPr>
              <a:t>Explain</a:t>
            </a:r>
            <a:endParaRPr lang="en-US" sz="1380" dirty="0"/>
          </a:p>
          <a:p>
            <a:pPr marL="0" indent="0" algn="ctr">
              <a:buNone/>
            </a:pPr>
            <a:r>
              <a:rPr lang="en-US" sz="1380" b="1" dirty="0">
                <a:solidFill>
                  <a:srgbClr val="1F2937"/>
                </a:solidFill>
              </a:rPr>
              <a:t>Describe logistic regression, decision trees, and predicted probabilities</a:t>
            </a:r>
            <a:endParaRPr lang="en-US" sz="1380" dirty="0"/>
          </a:p>
        </p:txBody>
      </p:sp>
      <p:sp>
        <p:nvSpPr>
          <p:cNvPr id="10" name="Shape 8"/>
          <p:cNvSpPr/>
          <p:nvPr/>
        </p:nvSpPr>
        <p:spPr>
          <a:xfrm>
            <a:off x="5193792" y="1783080"/>
            <a:ext cx="1901952" cy="21488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58384" y="1901952"/>
            <a:ext cx="1572768" cy="1947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1F2937"/>
                </a:solidFill>
              </a:rPr>
              <a:t>Evaluate</a:t>
            </a:r>
            <a:endParaRPr lang="en-US" sz="1380" dirty="0"/>
          </a:p>
          <a:p>
            <a:pPr marL="0" indent="0" algn="ctr">
              <a:buNone/>
            </a:pPr>
            <a:r>
              <a:rPr lang="en-US" sz="1380" b="1" dirty="0">
                <a:solidFill>
                  <a:srgbClr val="1F2937"/>
                </a:solidFill>
              </a:rPr>
              <a:t>Interpret confusion matrices and common classification metrics</a:t>
            </a:r>
            <a:endParaRPr lang="en-US" sz="1380" dirty="0"/>
          </a:p>
        </p:txBody>
      </p:sp>
      <p:sp>
        <p:nvSpPr>
          <p:cNvPr id="12" name="Shape 10"/>
          <p:cNvSpPr/>
          <p:nvPr/>
        </p:nvSpPr>
        <p:spPr>
          <a:xfrm>
            <a:off x="7461504" y="1783080"/>
            <a:ext cx="1901952" cy="2148840"/>
          </a:xfrm>
          <a:prstGeom prst="roundRect">
            <a:avLst>
              <a:gd name="adj" fmla="val 3846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626096" y="1901952"/>
            <a:ext cx="1572768" cy="1947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1F2937"/>
                </a:solidFill>
              </a:rPr>
              <a:t>Choose</a:t>
            </a:r>
            <a:endParaRPr lang="en-US" sz="1380" dirty="0"/>
          </a:p>
          <a:p>
            <a:pPr marL="0" indent="0" algn="ctr">
              <a:buNone/>
            </a:pPr>
            <a:r>
              <a:rPr lang="en-US" sz="1380" b="1" dirty="0">
                <a:solidFill>
                  <a:srgbClr val="1F2937"/>
                </a:solidFill>
              </a:rPr>
              <a:t>Select metrics based on consequences of false positives and false negatives</a:t>
            </a:r>
            <a:endParaRPr lang="en-US" sz="1380" dirty="0"/>
          </a:p>
        </p:txBody>
      </p:sp>
      <p:sp>
        <p:nvSpPr>
          <p:cNvPr id="14" name="Shape 12"/>
          <p:cNvSpPr/>
          <p:nvPr/>
        </p:nvSpPr>
        <p:spPr>
          <a:xfrm>
            <a:off x="9729216" y="1783080"/>
            <a:ext cx="1901952" cy="21488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893808" y="1901952"/>
            <a:ext cx="1572768" cy="1947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1F2937"/>
                </a:solidFill>
              </a:rPr>
              <a:t>Prepare</a:t>
            </a:r>
            <a:endParaRPr lang="en-US" sz="1380" dirty="0"/>
          </a:p>
          <a:p>
            <a:pPr marL="0" indent="0" algn="ctr">
              <a:buNone/>
            </a:pPr>
            <a:r>
              <a:rPr lang="en-US" sz="1380" b="1" dirty="0">
                <a:solidFill>
                  <a:srgbClr val="1F2937"/>
                </a:solidFill>
              </a:rPr>
              <a:t>Connect classification concepts to the baseline model activity</a:t>
            </a:r>
            <a:endParaRPr lang="en-US" sz="1380" dirty="0"/>
          </a:p>
        </p:txBody>
      </p:sp>
      <p:sp>
        <p:nvSpPr>
          <p:cNvPr id="16" name="Text 14"/>
          <p:cNvSpPr/>
          <p:nvPr/>
        </p:nvSpPr>
        <p:spPr>
          <a:xfrm>
            <a:off x="960120" y="5074920"/>
            <a:ext cx="100584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C8102E"/>
                </a:solidFill>
              </a:rPr>
              <a:t>Participant output: a classification problem statement, a baseline choice, an initial metric, and one discussion of error consequences.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makes a problem a classification problem?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234440"/>
            <a:ext cx="104241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</a:rPr>
              <a:t>Classification predicts a category or class label. The model is judged by whether the predicted class is correct and which errors matter most.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77240" y="1874520"/>
            <a:ext cx="32461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41832" y="1993392"/>
            <a:ext cx="2916936" cy="1947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Use classification when asking:</a:t>
            </a:r>
            <a:endParaRPr lang="en-US" sz="1500" dirty="0"/>
          </a:p>
          <a:p>
            <a:pPr marL="0" indent="0" algn="l">
              <a:buNone/>
            </a:pP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Which category?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Pass or fail?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Normal or faulty?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Eligible or not?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Which condition?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434840" y="1874520"/>
            <a:ext cx="32461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99432" y="1993392"/>
            <a:ext cx="2916936" cy="1947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Typical targets:</a:t>
            </a:r>
            <a:endParaRPr lang="en-US" sz="1500" dirty="0"/>
          </a:p>
          <a:p>
            <a:pPr marL="0" indent="0" algn="l">
              <a:buNone/>
            </a:pP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Defective / acceptable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Fault / no fault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Risk level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Material type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Operating mode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Course outcome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92440" y="1874520"/>
            <a:ext cx="32461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57032" y="1993392"/>
            <a:ext cx="2916936" cy="1947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Not classification when:</a:t>
            </a:r>
            <a:endParaRPr lang="en-US" sz="1500" dirty="0"/>
          </a:p>
          <a:p>
            <a:pPr marL="0" indent="0" algn="l">
              <a:buNone/>
            </a:pP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Target is continuous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Goal is discovering unknown groups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No labeled examples exist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The output is a ranking only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C8102E"/>
                </a:solidFill>
              </a:rPr>
              <a:t>Key discipline question: Which error is more costly — a false alarm or a missed case?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Activity: write a classification problem statement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207008"/>
            <a:ext cx="105156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</a:rPr>
              <a:t>Use the template to convert a disciplinary problem into a classification task.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1874520"/>
            <a:ext cx="10378440" cy="9144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78992" y="1993392"/>
            <a:ext cx="1004925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8102E"/>
                </a:solidFill>
              </a:rPr>
              <a:t>Using __________ as inputs, develop a classification model to predict __________ for each __________, with performance evaluated using __________.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14400" y="3429000"/>
            <a:ext cx="21488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78992" y="3547872"/>
            <a:ext cx="1819656" cy="969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2937"/>
                </a:solidFill>
              </a:rPr>
              <a:t>Inputs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F2937"/>
                </a:solidFill>
              </a:rPr>
              <a:t>Variables available before prediction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520440" y="3429000"/>
            <a:ext cx="21488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85032" y="3547872"/>
            <a:ext cx="1819656" cy="969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2937"/>
                </a:solidFill>
              </a:rPr>
              <a:t>Class label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F2937"/>
                </a:solidFill>
              </a:rPr>
              <a:t>Category or state to predict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26480" y="3429000"/>
            <a:ext cx="21488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91072" y="3547872"/>
            <a:ext cx="1819656" cy="969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2937"/>
                </a:solidFill>
              </a:rPr>
              <a:t>Unit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F2937"/>
                </a:solidFill>
              </a:rPr>
              <a:t>Part, sample, student, machine cycle, image, day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732520" y="3429000"/>
            <a:ext cx="21488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897112" y="3547872"/>
            <a:ext cx="1819656" cy="969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2937"/>
                </a:solidFill>
              </a:rPr>
              <a:t>Metric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F2937"/>
                </a:solidFill>
              </a:rPr>
              <a:t>Accuracy, precision, recall, F1, or class-specific target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005840" y="5486400"/>
            <a:ext cx="100584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</a:rPr>
              <a:t>Quick check: are the labels trustworthy, consistent, and available for enough examples?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Example: product quality classification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207008"/>
            <a:ext cx="102412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</a:rPr>
              <a:t>A classification dataset pairs measured features with a categorical label such as acceptable or defective.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102E"/>
                </a:solidFill>
              </a:rPr>
              <a:t>Part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29384" y="1828800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102E"/>
                </a:solidFill>
              </a:rPr>
              <a:t>Temp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90088" y="1828800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102E"/>
                </a:solidFill>
              </a:rPr>
              <a:t>Speed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50792" y="1828800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102E"/>
                </a:solidFill>
              </a:rPr>
              <a:t>Vibration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111496" y="1828800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102E"/>
                </a:solidFill>
              </a:rPr>
              <a:t>Roughness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72200" y="1828800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102E"/>
                </a:solidFill>
              </a:rPr>
              <a:t>Label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2267712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29384" y="2267712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185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990088" y="2267712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42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050792" y="2267712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0.18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11496" y="2267712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2.4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72200" y="2267712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Accept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2542032"/>
            <a:ext cx="6309360" cy="0"/>
          </a:xfrm>
          <a:prstGeom prst="line">
            <a:avLst/>
          </a:prstGeom>
          <a:noFill/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68680" y="2688336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929384" y="2688336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190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990088" y="2688336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46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050792" y="2688336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0.35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11496" y="2688336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4.2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72200" y="2688336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Defect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22960" y="2962656"/>
            <a:ext cx="6309360" cy="0"/>
          </a:xfrm>
          <a:prstGeom prst="line">
            <a:avLst/>
          </a:prstGeom>
          <a:noFill/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68680" y="3108960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929384" y="3108960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174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990088" y="3108960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39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050792" y="3108960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0.22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111496" y="3108960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2.9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72200" y="3108960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Accept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22960" y="3383280"/>
            <a:ext cx="6309360" cy="0"/>
          </a:xfrm>
          <a:prstGeom prst="line">
            <a:avLst/>
          </a:prstGeom>
          <a:noFill/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68680" y="3529584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4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929384" y="3529584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205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990088" y="3529584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52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050792" y="3529584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0.48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111496" y="3529584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5.1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172200" y="3529584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Defect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22960" y="3803904"/>
            <a:ext cx="6309360" cy="0"/>
          </a:xfrm>
          <a:prstGeom prst="line">
            <a:avLst/>
          </a:prstGeom>
          <a:noFill/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68680" y="3950208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5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929384" y="3950208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198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2990088" y="3950208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44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050792" y="3950208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0.20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111496" y="3950208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2.5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172200" y="3950208"/>
            <a:ext cx="95097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Accept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822960" y="4224528"/>
            <a:ext cx="6309360" cy="0"/>
          </a:xfrm>
          <a:prstGeom prst="line">
            <a:avLst/>
          </a:prstGeom>
          <a:noFill/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7498080" y="1691640"/>
            <a:ext cx="3657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7662672" y="1810512"/>
            <a:ext cx="3328416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Prediction objective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Classify whether a part is acceptable before final inspection.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7498080" y="3017520"/>
            <a:ext cx="3657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662672" y="3136392"/>
            <a:ext cx="3328416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Baseline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Predict the majority class for every part.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498080" y="4343400"/>
            <a:ext cx="3657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7662672" y="4462272"/>
            <a:ext cx="3328416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Metric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Use recall for defects when missed defects are expensive.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 with a classification baseline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216152"/>
            <a:ext cx="103327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F2937"/>
                </a:solidFill>
              </a:rPr>
              <a:t>A baseline clarifies whether the classifier adds value beyond the simplest possible decision rule.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1874520"/>
            <a:ext cx="32004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87552" y="1993392"/>
            <a:ext cx="2871216" cy="2176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Majority-class baseline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Predict the most frequent class for every case.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Essential when classes are imbalanced.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80560" y="1874520"/>
            <a:ext cx="32004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45152" y="1993392"/>
            <a:ext cx="2871216" cy="2176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Random or stratified baseline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Predict classes based on observed class proportions.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Useful for sanity checking.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38160" y="1874520"/>
            <a:ext cx="32004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302752" y="1993392"/>
            <a:ext cx="2871216" cy="2176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Domain-rule baseline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Use a threshold, checklist, expert rule, or existing procedure.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Often the fairest comparison.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5394960"/>
            <a:ext cx="103327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102E"/>
                </a:solidFill>
              </a:rPr>
              <a:t>Discussion prompt: Would stakeholders accept a model that beats accuracy but misses the most important cases?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Logistic regression: probabilities for class membership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170432"/>
            <a:ext cx="104241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</a:rPr>
              <a:t>Logistic regression estimates the probability that an observation belongs to a class, then applies a decision threshold.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4892040"/>
            <a:ext cx="4937760" cy="0"/>
          </a:xfrm>
          <a:prstGeom prst="line">
            <a:avLst/>
          </a:prstGeom>
          <a:noFill/>
          <a:ln w="1524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68680" y="4892040"/>
            <a:ext cx="0" cy="0"/>
          </a:xfrm>
          <a:prstGeom prst="line">
            <a:avLst/>
          </a:prstGeom>
          <a:noFill/>
          <a:ln w="1524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" y="4874983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67435" y="4871232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66190" y="4866663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164946" y="4861100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263701" y="4854333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362456" y="4846108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461211" y="4836122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559966" y="4824012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658722" y="4809351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757477" y="4791635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856232" y="4770275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954987" y="4744595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053742" y="4713821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152498" y="4677091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251253" y="4633459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350008" y="4581920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448763" y="4521443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547518" y="4451031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646274" y="4369792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745029" y="4277038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843784" y="4172393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942539" y="4055912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041294" y="3928183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140050" y="3790400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238805" y="3644376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337560" y="3492492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436315" y="3337560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535070" y="3182628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633826" y="3030744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3732581" y="2884720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3831336" y="2746937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3930091" y="2619208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028846" y="2502727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127602" y="2398082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226357" y="2305328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325112" y="2224089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423867" y="2153677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4522622" y="2093200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4621378" y="2041661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4720133" y="1998029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4818888" y="1961299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4917643" y="1930525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5016398" y="1904845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5115154" y="1883485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5213909" y="1865769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5312664" y="1851108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5411419" y="1838998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5510174" y="1829012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5608930" y="1820787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5707685" y="1814020"/>
            <a:ext cx="98755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868680" y="3337560"/>
            <a:ext cx="493776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2331720" y="5166360"/>
            <a:ext cx="17373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Feature score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109728" y="3108960"/>
            <a:ext cx="5943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P(class)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6492240" y="1783080"/>
            <a:ext cx="4663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6656832" y="1901952"/>
            <a:ext cx="433425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937"/>
                </a:solidFill>
              </a:rPr>
              <a:t>Decision rule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F2937"/>
                </a:solidFill>
              </a:rPr>
              <a:t>If P(defect) ≥ threshold → classify as defect</a:t>
            </a:r>
            <a:endParaRPr lang="en-US" sz="1700" dirty="0"/>
          </a:p>
        </p:txBody>
      </p:sp>
      <p:sp>
        <p:nvSpPr>
          <p:cNvPr id="64" name="Shape 62"/>
          <p:cNvSpPr/>
          <p:nvPr/>
        </p:nvSpPr>
        <p:spPr>
          <a:xfrm>
            <a:off x="6492240" y="3108960"/>
            <a:ext cx="4663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6656832" y="3227832"/>
            <a:ext cx="433425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Interpretation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Coefficients describe how features shift log-odds, not direct class labels.</a:t>
            </a:r>
            <a:endParaRPr lang="en-US" sz="1500" dirty="0"/>
          </a:p>
        </p:txBody>
      </p:sp>
      <p:sp>
        <p:nvSpPr>
          <p:cNvPr id="66" name="Shape 64"/>
          <p:cNvSpPr/>
          <p:nvPr/>
        </p:nvSpPr>
        <p:spPr>
          <a:xfrm>
            <a:off x="6492240" y="4434840"/>
            <a:ext cx="4663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6656832" y="4553712"/>
            <a:ext cx="433425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Caution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The default 0.50 threshold may not match the cost of errors.</a:t>
            </a:r>
            <a:endParaRPr lang="en-US" sz="1500" dirty="0"/>
          </a:p>
        </p:txBody>
      </p:sp>
      <p:sp>
        <p:nvSpPr>
          <p:cNvPr id="68" name="Text 66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 trees: interpretable rule-based classification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207008"/>
            <a:ext cx="104241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</a:rPr>
              <a:t>Decision trees split the data into increasingly pure groups using feature-based rules.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187452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33272" y="1993392"/>
            <a:ext cx="236829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</a:rPr>
              <a:t>Root question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</a:rPr>
              <a:t>Is vibration &gt; 0.30?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886200" y="187452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050792" y="1993392"/>
            <a:ext cx="236829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</a:rPr>
              <a:t>Branch question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</a:rPr>
              <a:t>Is roughness &gt; 3.5?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03720" y="187452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FEF2F2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068312" y="1993392"/>
            <a:ext cx="154533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102E"/>
                </a:solidFill>
              </a:rPr>
              <a:t>Leaf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C8102E"/>
                </a:solidFill>
              </a:rPr>
              <a:t>Defect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144000" y="187452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308592" y="1993392"/>
            <a:ext cx="154533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34A"/>
                </a:solidFill>
              </a:rPr>
              <a:t>Leaf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A34A"/>
                </a:solidFill>
              </a:rPr>
              <a:t>Accept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3337560"/>
            <a:ext cx="101498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937"/>
                </a:solidFill>
              </a:rPr>
              <a:t>A path through the tree becomes a rule: if vibration is high, flag defect; otherwise inspect roughness.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68680" y="4206240"/>
            <a:ext cx="31089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33272" y="4325112"/>
            <a:ext cx="277977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Strength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Easy to explain as a sequence of rules.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434840" y="4206240"/>
            <a:ext cx="31089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99432" y="4325112"/>
            <a:ext cx="277977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Risk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Deep trees can overfit training data.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001000" y="4206240"/>
            <a:ext cx="31089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165592" y="4325112"/>
            <a:ext cx="277977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Control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Limit depth, require minimum samples per leaf, or prune.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Confusion matrix: the basic language of classification error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207008"/>
            <a:ext cx="102412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</a:rPr>
              <a:t>A confusion matrix separates correct predictions from different types of mistakes.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651760" y="1783080"/>
            <a:ext cx="30175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7280"/>
                </a:solidFill>
              </a:rPr>
              <a:t>Predicted class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" y="3246120"/>
            <a:ext cx="5486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280"/>
                </a:solidFill>
              </a:rPr>
              <a:t>Actual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2880" y="3520440"/>
            <a:ext cx="5486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280"/>
                </a:solidFill>
              </a:rPr>
              <a:t>class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28800" y="2240280"/>
            <a:ext cx="1691640" cy="502920"/>
          </a:xfrm>
          <a:prstGeom prst="roundRect">
            <a:avLst>
              <a:gd name="adj" fmla="val 14545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993392" y="2359152"/>
            <a:ext cx="136245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</a:rPr>
              <a:t>Defect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0" y="2240280"/>
            <a:ext cx="1691640" cy="502920"/>
          </a:xfrm>
          <a:prstGeom prst="roundRect">
            <a:avLst>
              <a:gd name="adj" fmla="val 14545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822192" y="2359152"/>
            <a:ext cx="136245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</a:rPr>
              <a:t>Accept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68680" y="2880360"/>
            <a:ext cx="777240" cy="91440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2967228"/>
            <a:ext cx="612648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</a:rPr>
              <a:t>Defect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68680" y="3931920"/>
            <a:ext cx="777240" cy="91440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50976" y="4050792"/>
            <a:ext cx="612648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</a:rPr>
              <a:t>Accept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828800" y="288036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993392" y="2999232"/>
            <a:ext cx="136245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8102E"/>
                </a:solidFill>
              </a:rPr>
              <a:t>TP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C8102E"/>
                </a:solidFill>
              </a:rPr>
              <a:t>Detected defects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657600" y="288036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822192" y="2999232"/>
            <a:ext cx="136245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A580C"/>
                </a:solidFill>
              </a:rPr>
              <a:t>FN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EA580C"/>
                </a:solidFill>
              </a:rPr>
              <a:t>Missed defects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828800" y="393192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993392" y="4050792"/>
            <a:ext cx="136245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</a:rPr>
              <a:t>FP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</a:rPr>
              <a:t>False alarms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657600" y="393192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822192" y="4050792"/>
            <a:ext cx="136245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A34A"/>
                </a:solidFill>
              </a:rPr>
              <a:t>TN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6A34A"/>
                </a:solidFill>
              </a:rPr>
              <a:t>Correct accepts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583680" y="1874520"/>
            <a:ext cx="4480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748272" y="1993392"/>
            <a:ext cx="4151376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937"/>
                </a:solidFill>
              </a:rPr>
              <a:t>False negative: a defect is missed.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6583680" y="3063240"/>
            <a:ext cx="4480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748272" y="3182112"/>
            <a:ext cx="4151376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937"/>
                </a:solidFill>
              </a:rPr>
              <a:t>False positive: an acceptable part is flagged.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6583680" y="4251960"/>
            <a:ext cx="4480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748272" y="4370832"/>
            <a:ext cx="4151376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937"/>
                </a:solidFill>
              </a:rPr>
              <a:t>Different applications assign different costs to these errors.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Classification metrics: accuracy is not enough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216152"/>
            <a:ext cx="104241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</a:rPr>
              <a:t>Metrics should match the consequences of different mistakes, especially for imbalanced classes.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14630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C8102E"/>
                </a:solidFill>
              </a:rPr>
              <a:t>Accuracy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423160" y="1828800"/>
            <a:ext cx="32004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Overall percent correct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852160" y="1828800"/>
            <a:ext cx="51663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6B7280"/>
                </a:solidFill>
              </a:rPr>
              <a:t>Can be misleading when one class dominates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2212848"/>
            <a:ext cx="1056132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2697480"/>
            <a:ext cx="14630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C8102E"/>
                </a:solidFill>
              </a:rPr>
              <a:t>Precision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423160" y="2697480"/>
            <a:ext cx="32004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70000" lnSpcReduction="2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Of predicted positives, how many were correct?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852160" y="2697480"/>
            <a:ext cx="51663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6B7280"/>
                </a:solidFill>
              </a:rPr>
              <a:t>Use when false alarms are costly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" y="3081528"/>
            <a:ext cx="1056132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3566160"/>
            <a:ext cx="14630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C8102E"/>
                </a:solidFill>
              </a:rPr>
              <a:t>Recall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423160" y="3566160"/>
            <a:ext cx="32004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Of actual positives, how many were found?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852160" y="3566160"/>
            <a:ext cx="51663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6B7280"/>
                </a:solidFill>
              </a:rPr>
              <a:t>Use when missed cases are costly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22960" y="3950208"/>
            <a:ext cx="1056132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68680" y="4434840"/>
            <a:ext cx="14630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C8102E"/>
                </a:solidFill>
              </a:rPr>
              <a:t>F1-score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2423160" y="4434840"/>
            <a:ext cx="32004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Balance of precision and recall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852160" y="4434840"/>
            <a:ext cx="51663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6B7280"/>
                </a:solidFill>
              </a:rPr>
              <a:t>Useful when both false alarms and misses matter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22960" y="4818888"/>
            <a:ext cx="1056132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60120" y="5486400"/>
            <a:ext cx="10195560" cy="502920"/>
          </a:xfrm>
          <a:prstGeom prst="roundRect">
            <a:avLst>
              <a:gd name="adj" fmla="val 14545"/>
            </a:avLst>
          </a:prstGeom>
          <a:solidFill>
            <a:srgbClr val="FEF2F2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124712" y="5605272"/>
            <a:ext cx="986637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102E"/>
                </a:solidFill>
              </a:rPr>
              <a:t>Metric choice is a design decision: it defines which mistakes the model is allowed to make.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 imbalance: when accuracy hides failure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207008"/>
            <a:ext cx="104241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</a:rPr>
              <a:t>A model can appear highly accurate by ignoring rare but important classes.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1828800"/>
            <a:ext cx="292608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33272" y="1947672"/>
            <a:ext cx="2596896" cy="2724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Scenario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1000 parts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950 acceptable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50 defective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Majority baseline predicts every part as acceptable.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97680" y="1828800"/>
            <a:ext cx="2926080" cy="2926080"/>
          </a:xfrm>
          <a:prstGeom prst="roundRect">
            <a:avLst>
              <a:gd name="adj" fmla="val 2500"/>
            </a:avLst>
          </a:prstGeom>
          <a:solidFill>
            <a:srgbClr val="FEF2F2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462272" y="1947672"/>
            <a:ext cx="2596896" cy="2724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C8102E"/>
                </a:solidFill>
              </a:rPr>
              <a:t>Result</a:t>
            </a:r>
            <a:endParaRPr lang="en-US" sz="1700" dirty="0"/>
          </a:p>
          <a:p>
            <a:pPr marL="0" indent="0" algn="l">
              <a:buNone/>
            </a:pP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C8102E"/>
                </a:solidFill>
              </a:rPr>
              <a:t>Accuracy = 95%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C8102E"/>
                </a:solidFill>
              </a:rPr>
              <a:t>Defect recall = 0%</a:t>
            </a:r>
            <a:endParaRPr lang="en-US" sz="1700" dirty="0"/>
          </a:p>
          <a:p>
            <a:pPr marL="0" indent="0" algn="l">
              <a:buNone/>
            </a:pP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C8102E"/>
                </a:solidFill>
              </a:rPr>
              <a:t>The model misses every defective part.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726680" y="1828800"/>
            <a:ext cx="292608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891272" y="1947672"/>
            <a:ext cx="2596896" cy="2724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Better questions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• How many defects are found?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• How many false alarms occur?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• What threshold should trigger review?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 thresholds: choosing where to draw the line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207008"/>
            <a:ext cx="104241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</a:rPr>
              <a:t>Many classifiers return probabilities. Changing the threshold changes false positives and false negatives.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880360"/>
            <a:ext cx="9875520" cy="0"/>
          </a:xfrm>
          <a:prstGeom prst="line">
            <a:avLst/>
          </a:prstGeom>
          <a:noFill/>
          <a:ln w="1778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14400" y="2743200"/>
            <a:ext cx="0" cy="27432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3044952"/>
            <a:ext cx="2743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2743200"/>
            <a:ext cx="0" cy="27432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46120" y="3044952"/>
            <a:ext cx="2743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0.25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52160" y="2743200"/>
            <a:ext cx="0" cy="27432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715000" y="3044952"/>
            <a:ext cx="2743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0.5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321040" y="2743200"/>
            <a:ext cx="0" cy="27432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183880" y="3044952"/>
            <a:ext cx="2743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0.75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789920" y="2743200"/>
            <a:ext cx="0" cy="27432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652760" y="3044952"/>
            <a:ext cx="2743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1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852160" y="2331720"/>
            <a:ext cx="0" cy="109728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83480" y="1965960"/>
            <a:ext cx="1828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102E"/>
                </a:solidFill>
              </a:rPr>
              <a:t>Default threshold 0.50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68680" y="3794760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33272" y="3913632"/>
            <a:ext cx="2871216" cy="1033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</a:rPr>
              <a:t>Lower threshold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</a:rPr>
              <a:t>More positives flagged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</a:rPr>
              <a:t>Higher recall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</a:rPr>
              <a:t>More false alarms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480560" y="3794760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645152" y="3913632"/>
            <a:ext cx="2871216" cy="1033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</a:rPr>
              <a:t>Higher threshold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</a:rPr>
              <a:t>Fewer positives flagged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</a:rPr>
              <a:t>Higher precision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</a:rPr>
              <a:t>More missed cases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092440" y="3794760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257032" y="3913632"/>
            <a:ext cx="2871216" cy="1033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</a:rPr>
              <a:t>Best threshold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</a:rPr>
              <a:t>Depends on cost, capacity, risk, and review process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Activity: interpret model outputs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207008"/>
            <a:ext cx="102412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</a:rPr>
              <a:t>Compare two classifiers and decide which is more appropriate for quality inspection.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1828800"/>
            <a:ext cx="30175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33272" y="1947672"/>
            <a:ext cx="2688336" cy="1947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</a:rPr>
              <a:t>Model A</a:t>
            </a:r>
            <a:endParaRPr lang="en-US" sz="1800" dirty="0"/>
          </a:p>
          <a:p>
            <a:pPr marL="0" indent="0" algn="ctr">
              <a:buNone/>
            </a:pP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</a:rPr>
              <a:t>Accuracy: 94%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</a:rPr>
              <a:t>Precision: 70%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</a:rPr>
              <a:t>Recall: 40%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</a:rPr>
              <a:t>F1-score: 51%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0" y="1828800"/>
            <a:ext cx="30175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36592" y="1947672"/>
            <a:ext cx="2688336" cy="1947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</a:rPr>
              <a:t>Model B</a:t>
            </a:r>
            <a:endParaRPr lang="en-US" sz="1800" dirty="0"/>
          </a:p>
          <a:p>
            <a:pPr marL="0" indent="0" algn="ctr">
              <a:buNone/>
            </a:pP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</a:rPr>
              <a:t>Accuracy: 91%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</a:rPr>
              <a:t>Precision: 55%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</a:rPr>
              <a:t>Recall: 82%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</a:rPr>
              <a:t>F1-score: 66%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275320" y="1828800"/>
            <a:ext cx="3017520" cy="2148840"/>
          </a:xfrm>
          <a:prstGeom prst="roundRect">
            <a:avLst>
              <a:gd name="adj" fmla="val 3404"/>
            </a:avLst>
          </a:prstGeom>
          <a:solidFill>
            <a:srgbClr val="FEF2F2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439912" y="1947672"/>
            <a:ext cx="2688336" cy="1947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8102E"/>
                </a:solidFill>
              </a:rPr>
              <a:t>Decision</a:t>
            </a:r>
            <a:endParaRPr lang="en-US" sz="1500" dirty="0"/>
          </a:p>
          <a:p>
            <a:pPr marL="0" indent="0" algn="ctr">
              <a:buNone/>
            </a:pP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C8102E"/>
                </a:solidFill>
              </a:rPr>
              <a:t>Which model should be selected if missed defects are costly?</a:t>
            </a:r>
            <a:endParaRPr lang="en-US" sz="1500" dirty="0"/>
          </a:p>
          <a:p>
            <a:pPr marL="0" indent="0" algn="ctr">
              <a:buNone/>
            </a:pP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C8102E"/>
                </a:solidFill>
              </a:rPr>
              <a:t>Which if false alarms are costly?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5074920"/>
            <a:ext cx="103327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</a:rPr>
              <a:t>Debrief: a lower accuracy model may be the better disciplinary choice when it reduces the more serious error.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15</a:t>
            </a:r>
            <a:endParaRPr lang="en-US" sz="800" dirty="0"/>
          </a:p>
        </p:txBody>
      </p:sp>
      <p:sp>
        <p:nvSpPr>
          <p:cNvPr id="22" name="Text 0">
            <a:extLst>
              <a:ext uri="{FF2B5EF4-FFF2-40B4-BE49-F238E27FC236}">
                <a16:creationId xmlns:a16="http://schemas.microsoft.com/office/drawing/2014/main" id="{C6281735-823F-19F5-42F7-328E6A62CC4D}"/>
              </a:ext>
            </a:extLst>
          </p:cNvPr>
          <p:cNvSpPr/>
          <p:nvPr/>
        </p:nvSpPr>
        <p:spPr>
          <a:xfrm>
            <a:off x="502920" y="1121887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Session 1 technical skill: minimal classification workflow</a:t>
            </a:r>
            <a:endParaRPr lang="en-US" sz="2500" dirty="0"/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14B6195B-EBE0-8671-A676-2CA0AA89DA5C}"/>
              </a:ext>
            </a:extLst>
          </p:cNvPr>
          <p:cNvSpPr/>
          <p:nvPr/>
        </p:nvSpPr>
        <p:spPr>
          <a:xfrm>
            <a:off x="521208" y="1643095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</a:rPr>
              <a:t>Goal: compare a majority-class baseline with logistic regression using classification metrics.</a:t>
            </a:r>
            <a:endParaRPr lang="en-US" sz="1150" dirty="0"/>
          </a:p>
        </p:txBody>
      </p:sp>
      <p:sp>
        <p:nvSpPr>
          <p:cNvPr id="27" name="Shape 2">
            <a:extLst>
              <a:ext uri="{FF2B5EF4-FFF2-40B4-BE49-F238E27FC236}">
                <a16:creationId xmlns:a16="http://schemas.microsoft.com/office/drawing/2014/main" id="{EC2EEF0D-C0B8-2F3C-1274-3F414B5F4A10}"/>
              </a:ext>
            </a:extLst>
          </p:cNvPr>
          <p:cNvSpPr/>
          <p:nvPr/>
        </p:nvSpPr>
        <p:spPr>
          <a:xfrm>
            <a:off x="640080" y="2036287"/>
            <a:ext cx="5394960" cy="2057400"/>
          </a:xfrm>
          <a:prstGeom prst="roundRect">
            <a:avLst>
              <a:gd name="adj" fmla="val 2667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AC7229A9-B141-B575-35C5-5601502D3F1F}"/>
              </a:ext>
            </a:extLst>
          </p:cNvPr>
          <p:cNvSpPr/>
          <p:nvPr/>
        </p:nvSpPr>
        <p:spPr>
          <a:xfrm>
            <a:off x="804672" y="2164303"/>
            <a:ext cx="5065776" cy="1801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from sklearn.linear_model import LogisticRegression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from sklearn.metrics import accuracy_score, precision_score, recall_score, f1_score, confusion_matrix</a:t>
            </a:r>
            <a:endParaRPr lang="en-US" sz="820" dirty="0"/>
          </a:p>
          <a:p>
            <a:pPr marL="0" indent="0">
              <a:buNone/>
            </a:pP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X = df[features]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y = df["defect"]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X_train, X_test, y_train, y_test = train_test_split(X, y, stratify=y, random_state=42)</a:t>
            </a:r>
            <a:endParaRPr lang="en-US" sz="820" dirty="0"/>
          </a:p>
        </p:txBody>
      </p:sp>
      <p:sp>
        <p:nvSpPr>
          <p:cNvPr id="31" name="Shape 4">
            <a:extLst>
              <a:ext uri="{FF2B5EF4-FFF2-40B4-BE49-F238E27FC236}">
                <a16:creationId xmlns:a16="http://schemas.microsoft.com/office/drawing/2014/main" id="{2FCF3615-911E-CE0E-08BA-5F55DBA679D7}"/>
              </a:ext>
            </a:extLst>
          </p:cNvPr>
          <p:cNvSpPr/>
          <p:nvPr/>
        </p:nvSpPr>
        <p:spPr>
          <a:xfrm>
            <a:off x="6309360" y="2036287"/>
            <a:ext cx="5029200" cy="2057400"/>
          </a:xfrm>
          <a:prstGeom prst="roundRect">
            <a:avLst>
              <a:gd name="adj" fmla="val 2667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5">
            <a:extLst>
              <a:ext uri="{FF2B5EF4-FFF2-40B4-BE49-F238E27FC236}">
                <a16:creationId xmlns:a16="http://schemas.microsoft.com/office/drawing/2014/main" id="{83C2D0F4-FAF8-76AD-F73B-83107D2E9F29}"/>
              </a:ext>
            </a:extLst>
          </p:cNvPr>
          <p:cNvSpPr/>
          <p:nvPr/>
        </p:nvSpPr>
        <p:spPr>
          <a:xfrm>
            <a:off x="6473952" y="2164303"/>
            <a:ext cx="4700016" cy="1801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baseline = np.full(len(y_test), y_train.mode()[0])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model = LogisticRegression(max_iter=1000)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model.fit(X_train, y_train)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pred = model.predict(X_test)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recall = recall_score(y_test, pred)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f1 = f1_score(y_test, pred)</a:t>
            </a:r>
            <a:endParaRPr lang="en-US" sz="850" dirty="0"/>
          </a:p>
        </p:txBody>
      </p:sp>
      <p:sp>
        <p:nvSpPr>
          <p:cNvPr id="35" name="Text 6">
            <a:extLst>
              <a:ext uri="{FF2B5EF4-FFF2-40B4-BE49-F238E27FC236}">
                <a16:creationId xmlns:a16="http://schemas.microsoft.com/office/drawing/2014/main" id="{FD705D23-ACC3-76CF-8771-450A1460CEEC}"/>
              </a:ext>
            </a:extLst>
          </p:cNvPr>
          <p:cNvSpPr/>
          <p:nvPr/>
        </p:nvSpPr>
        <p:spPr>
          <a:xfrm>
            <a:off x="822960" y="4642327"/>
            <a:ext cx="530352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Accuracy: overall proportion correct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Precision: when model flags a defect, how often is it right?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Recall: of all true defects, how many were found?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F1-score: balance of precision and recall</a:t>
            </a:r>
            <a:endParaRPr lang="en-US" sz="1250" dirty="0"/>
          </a:p>
        </p:txBody>
      </p:sp>
      <p:sp>
        <p:nvSpPr>
          <p:cNvPr id="37" name="Shape 7">
            <a:extLst>
              <a:ext uri="{FF2B5EF4-FFF2-40B4-BE49-F238E27FC236}">
                <a16:creationId xmlns:a16="http://schemas.microsoft.com/office/drawing/2014/main" id="{5E683041-30B2-08D3-DF2F-08300F4EC5AD}"/>
              </a:ext>
            </a:extLst>
          </p:cNvPr>
          <p:cNvSpPr/>
          <p:nvPr/>
        </p:nvSpPr>
        <p:spPr>
          <a:xfrm>
            <a:off x="6309360" y="4779487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8">
            <a:extLst>
              <a:ext uri="{FF2B5EF4-FFF2-40B4-BE49-F238E27FC236}">
                <a16:creationId xmlns:a16="http://schemas.microsoft.com/office/drawing/2014/main" id="{98C1297D-0D89-0D6E-E6D1-4E97EEE319ED}"/>
              </a:ext>
            </a:extLst>
          </p:cNvPr>
          <p:cNvSpPr/>
          <p:nvPr/>
        </p:nvSpPr>
        <p:spPr>
          <a:xfrm>
            <a:off x="6309360" y="4848067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Session 1 notebook</a:t>
            </a:r>
            <a:endParaRPr lang="en-US" sz="850" dirty="0"/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096B0486-D30C-A995-B11E-2CB2DE700C2A}"/>
              </a:ext>
            </a:extLst>
          </p:cNvPr>
          <p:cNvSpPr/>
          <p:nvPr/>
        </p:nvSpPr>
        <p:spPr>
          <a:xfrm>
            <a:off x="7891272" y="4816063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1182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04_session4_classification_sklearn.ipynb</a:t>
            </a:r>
            <a:endParaRPr lang="en-US" sz="11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3A7D4B-73FE-DFE4-3EA0-CA0718102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FF4934D-A2ED-93A7-A941-F08ACF3A66CB}"/>
              </a:ext>
            </a:extLst>
          </p:cNvPr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0BC13B1-2D88-E431-0A59-C216C45E8F69}"/>
              </a:ext>
            </a:extLst>
          </p:cNvPr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07BCBF1-FDF8-F2A6-AE9C-574E8070BC3D}"/>
              </a:ext>
            </a:extLst>
          </p:cNvPr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1</a:t>
            </a:r>
            <a:endParaRPr lang="en-US" sz="10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DF6AEAC6-3348-290A-35B4-F23607E3FC7B}"/>
              </a:ext>
            </a:extLst>
          </p:cNvPr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15</a:t>
            </a:r>
            <a:endParaRPr lang="en-US" sz="800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84CCDA0A-1AE3-2399-BB72-64F5F8BFCA9F}"/>
              </a:ext>
            </a:extLst>
          </p:cNvPr>
          <p:cNvSpPr/>
          <p:nvPr/>
        </p:nvSpPr>
        <p:spPr>
          <a:xfrm>
            <a:off x="484632" y="144475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Classification interpretation: inspect the confusion matrix</a:t>
            </a:r>
            <a:endParaRPr lang="en-US" sz="250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B77A401E-7B26-2A9B-CA28-298415AA09B7}"/>
              </a:ext>
            </a:extLst>
          </p:cNvPr>
          <p:cNvSpPr/>
          <p:nvPr/>
        </p:nvSpPr>
        <p:spPr>
          <a:xfrm>
            <a:off x="502920" y="196596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</a:rPr>
              <a:t>The preferred metric depends on the consequence of each error type.</a:t>
            </a:r>
            <a:endParaRPr lang="en-US" sz="1150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87B41922-1E21-EB95-1F15-EA0669631D41}"/>
              </a:ext>
            </a:extLst>
          </p:cNvPr>
          <p:cNvSpPr/>
          <p:nvPr/>
        </p:nvSpPr>
        <p:spPr>
          <a:xfrm>
            <a:off x="941832" y="2633472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0650BA5A-12DF-0364-E4A5-7DAC1B423640}"/>
              </a:ext>
            </a:extLst>
          </p:cNvPr>
          <p:cNvSpPr/>
          <p:nvPr/>
        </p:nvSpPr>
        <p:spPr>
          <a:xfrm>
            <a:off x="3090672" y="2633472"/>
            <a:ext cx="214884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355B"/>
                </a:solidFill>
              </a:rPr>
              <a:t>Predicted acceptable</a:t>
            </a:r>
            <a:endParaRPr lang="en-US" sz="12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50D76049-8B97-A4A8-BC50-0D3171B53B3A}"/>
              </a:ext>
            </a:extLst>
          </p:cNvPr>
          <p:cNvSpPr/>
          <p:nvPr/>
        </p:nvSpPr>
        <p:spPr>
          <a:xfrm>
            <a:off x="5239512" y="2633472"/>
            <a:ext cx="214884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355B"/>
                </a:solidFill>
              </a:rPr>
              <a:t>Predicted defect</a:t>
            </a:r>
            <a:endParaRPr lang="en-US" sz="1200" dirty="0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4EDBB19D-5D94-0920-93AD-7083983FC5C9}"/>
              </a:ext>
            </a:extLst>
          </p:cNvPr>
          <p:cNvSpPr/>
          <p:nvPr/>
        </p:nvSpPr>
        <p:spPr>
          <a:xfrm>
            <a:off x="941832" y="3410712"/>
            <a:ext cx="214884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355B"/>
                </a:solidFill>
              </a:rPr>
              <a:t>Actual acceptable</a:t>
            </a:r>
            <a:endParaRPr lang="en-US" sz="1200" dirty="0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4B8E5963-8082-9CFF-5E2F-B39586924EDA}"/>
              </a:ext>
            </a:extLst>
          </p:cNvPr>
          <p:cNvSpPr/>
          <p:nvPr/>
        </p:nvSpPr>
        <p:spPr>
          <a:xfrm>
            <a:off x="3090672" y="3410712"/>
            <a:ext cx="214884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6534"/>
                </a:solidFill>
              </a:rPr>
              <a:t>True Negative</a:t>
            </a:r>
            <a:endParaRPr lang="en-US" sz="1500" dirty="0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00EA9DF9-D7BA-C362-C00A-E263A7270C4E}"/>
              </a:ext>
            </a:extLst>
          </p:cNvPr>
          <p:cNvSpPr/>
          <p:nvPr/>
        </p:nvSpPr>
        <p:spPr>
          <a:xfrm>
            <a:off x="5239512" y="3410712"/>
            <a:ext cx="214884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97316"/>
                </a:solidFill>
              </a:rPr>
              <a:t>False Positive</a:t>
            </a:r>
            <a:endParaRPr lang="en-US" sz="1500" dirty="0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E262C08D-C311-DB50-93E5-079F6E40F006}"/>
              </a:ext>
            </a:extLst>
          </p:cNvPr>
          <p:cNvSpPr/>
          <p:nvPr/>
        </p:nvSpPr>
        <p:spPr>
          <a:xfrm>
            <a:off x="941832" y="4187952"/>
            <a:ext cx="214884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355B"/>
                </a:solidFill>
              </a:rPr>
              <a:t>Actual defect</a:t>
            </a:r>
            <a:endParaRPr lang="en-US" sz="1200" dirty="0"/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4067B905-0F1E-BA8E-29E9-26CB3CFE0D4C}"/>
              </a:ext>
            </a:extLst>
          </p:cNvPr>
          <p:cNvSpPr/>
          <p:nvPr/>
        </p:nvSpPr>
        <p:spPr>
          <a:xfrm>
            <a:off x="3090672" y="4187952"/>
            <a:ext cx="214884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97316"/>
                </a:solidFill>
              </a:rPr>
              <a:t>False Negative</a:t>
            </a:r>
            <a:endParaRPr lang="en-US" sz="1500" dirty="0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A7B7C6A8-1E6A-FCB2-FD71-DEDAF7A65353}"/>
              </a:ext>
            </a:extLst>
          </p:cNvPr>
          <p:cNvSpPr/>
          <p:nvPr/>
        </p:nvSpPr>
        <p:spPr>
          <a:xfrm>
            <a:off x="5239512" y="4187952"/>
            <a:ext cx="214884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6534"/>
                </a:solidFill>
              </a:rPr>
              <a:t>True Positive</a:t>
            </a:r>
            <a:endParaRPr lang="en-US" sz="1500" dirty="0"/>
          </a:p>
        </p:txBody>
      </p:sp>
      <p:sp>
        <p:nvSpPr>
          <p:cNvPr id="36" name="Shape 11">
            <a:extLst>
              <a:ext uri="{FF2B5EF4-FFF2-40B4-BE49-F238E27FC236}">
                <a16:creationId xmlns:a16="http://schemas.microsoft.com/office/drawing/2014/main" id="{7298AABF-6F09-B2BC-DEB5-43190CB3C02B}"/>
              </a:ext>
            </a:extLst>
          </p:cNvPr>
          <p:cNvSpPr/>
          <p:nvPr/>
        </p:nvSpPr>
        <p:spPr>
          <a:xfrm>
            <a:off x="941832" y="2633472"/>
            <a:ext cx="0" cy="233172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12">
            <a:extLst>
              <a:ext uri="{FF2B5EF4-FFF2-40B4-BE49-F238E27FC236}">
                <a16:creationId xmlns:a16="http://schemas.microsoft.com/office/drawing/2014/main" id="{BD4D6ED5-B03C-6027-410F-6D4E60A97DEB}"/>
              </a:ext>
            </a:extLst>
          </p:cNvPr>
          <p:cNvSpPr/>
          <p:nvPr/>
        </p:nvSpPr>
        <p:spPr>
          <a:xfrm>
            <a:off x="3090672" y="2633472"/>
            <a:ext cx="0" cy="233172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13">
            <a:extLst>
              <a:ext uri="{FF2B5EF4-FFF2-40B4-BE49-F238E27FC236}">
                <a16:creationId xmlns:a16="http://schemas.microsoft.com/office/drawing/2014/main" id="{DDFCF22C-9FD7-B0B3-B7BA-B674A716D418}"/>
              </a:ext>
            </a:extLst>
          </p:cNvPr>
          <p:cNvSpPr/>
          <p:nvPr/>
        </p:nvSpPr>
        <p:spPr>
          <a:xfrm>
            <a:off x="5239512" y="2633472"/>
            <a:ext cx="0" cy="233172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14">
            <a:extLst>
              <a:ext uri="{FF2B5EF4-FFF2-40B4-BE49-F238E27FC236}">
                <a16:creationId xmlns:a16="http://schemas.microsoft.com/office/drawing/2014/main" id="{4C540DDE-9382-A687-CE7B-CEC81D381AC9}"/>
              </a:ext>
            </a:extLst>
          </p:cNvPr>
          <p:cNvSpPr/>
          <p:nvPr/>
        </p:nvSpPr>
        <p:spPr>
          <a:xfrm>
            <a:off x="7388352" y="2633472"/>
            <a:ext cx="0" cy="233172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15">
            <a:extLst>
              <a:ext uri="{FF2B5EF4-FFF2-40B4-BE49-F238E27FC236}">
                <a16:creationId xmlns:a16="http://schemas.microsoft.com/office/drawing/2014/main" id="{03FBBA7A-A6C2-8034-979D-7418CDA0C7E9}"/>
              </a:ext>
            </a:extLst>
          </p:cNvPr>
          <p:cNvSpPr/>
          <p:nvPr/>
        </p:nvSpPr>
        <p:spPr>
          <a:xfrm>
            <a:off x="941832" y="2633472"/>
            <a:ext cx="644652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16">
            <a:extLst>
              <a:ext uri="{FF2B5EF4-FFF2-40B4-BE49-F238E27FC236}">
                <a16:creationId xmlns:a16="http://schemas.microsoft.com/office/drawing/2014/main" id="{93F997C3-09CF-80B1-B628-416BF1823458}"/>
              </a:ext>
            </a:extLst>
          </p:cNvPr>
          <p:cNvSpPr/>
          <p:nvPr/>
        </p:nvSpPr>
        <p:spPr>
          <a:xfrm>
            <a:off x="941832" y="3410712"/>
            <a:ext cx="644652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17">
            <a:extLst>
              <a:ext uri="{FF2B5EF4-FFF2-40B4-BE49-F238E27FC236}">
                <a16:creationId xmlns:a16="http://schemas.microsoft.com/office/drawing/2014/main" id="{507FF472-ECC8-528B-FCD7-DDDE4D91531F}"/>
              </a:ext>
            </a:extLst>
          </p:cNvPr>
          <p:cNvSpPr/>
          <p:nvPr/>
        </p:nvSpPr>
        <p:spPr>
          <a:xfrm>
            <a:off x="941832" y="4187952"/>
            <a:ext cx="644652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18">
            <a:extLst>
              <a:ext uri="{FF2B5EF4-FFF2-40B4-BE49-F238E27FC236}">
                <a16:creationId xmlns:a16="http://schemas.microsoft.com/office/drawing/2014/main" id="{868A57AF-90E2-784C-3957-1015CA9C3030}"/>
              </a:ext>
            </a:extLst>
          </p:cNvPr>
          <p:cNvSpPr/>
          <p:nvPr/>
        </p:nvSpPr>
        <p:spPr>
          <a:xfrm>
            <a:off x="941832" y="4965192"/>
            <a:ext cx="644652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897A8950-0AE8-36BC-6335-9BCBEDC1F3DA}"/>
              </a:ext>
            </a:extLst>
          </p:cNvPr>
          <p:cNvSpPr/>
          <p:nvPr/>
        </p:nvSpPr>
        <p:spPr>
          <a:xfrm>
            <a:off x="7662672" y="27249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534"/>
                </a:solidFill>
              </a:rPr>
              <a:t>Instructor prompt</a:t>
            </a:r>
            <a:endParaRPr lang="en-US" sz="1500" dirty="0"/>
          </a:p>
        </p:txBody>
      </p:sp>
      <p:sp>
        <p:nvSpPr>
          <p:cNvPr id="57" name="Text 20">
            <a:extLst>
              <a:ext uri="{FF2B5EF4-FFF2-40B4-BE49-F238E27FC236}">
                <a16:creationId xmlns:a16="http://schemas.microsoft.com/office/drawing/2014/main" id="{52AB11F2-F477-72A3-8D6F-2B0F9D657784}"/>
              </a:ext>
            </a:extLst>
          </p:cNvPr>
          <p:cNvSpPr/>
          <p:nvPr/>
        </p:nvSpPr>
        <p:spPr>
          <a:xfrm>
            <a:off x="7662672" y="3063240"/>
            <a:ext cx="347472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</a:rPr>
              <a:t>“Which error matters more in this application: a false alarm or a missed defect?”</a:t>
            </a:r>
            <a:endParaRPr lang="en-US" sz="1250" dirty="0"/>
          </a:p>
        </p:txBody>
      </p:sp>
      <p:sp>
        <p:nvSpPr>
          <p:cNvPr id="59" name="Text 21">
            <a:extLst>
              <a:ext uri="{FF2B5EF4-FFF2-40B4-BE49-F238E27FC236}">
                <a16:creationId xmlns:a16="http://schemas.microsoft.com/office/drawing/2014/main" id="{AD3F8897-3DB4-8FBF-6CD6-19A4ED3651F1}"/>
              </a:ext>
            </a:extLst>
          </p:cNvPr>
          <p:cNvSpPr/>
          <p:nvPr/>
        </p:nvSpPr>
        <p:spPr>
          <a:xfrm>
            <a:off x="7662672" y="4005072"/>
            <a:ext cx="347472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can be misleading when defects are rare.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Recall is critical when missed defects are expensive.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Precision is critical when false alarms are expensive.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14184297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Classroom discussion prompts and transition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68680" y="1325880"/>
            <a:ext cx="47091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33272" y="1444752"/>
            <a:ext cx="437997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F2937"/>
                </a:solidFill>
              </a:rPr>
              <a:t>Why can accuracy be misleading?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17920" y="1325880"/>
            <a:ext cx="47091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382512" y="1444752"/>
            <a:ext cx="437997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F2937"/>
                </a:solidFill>
              </a:rPr>
              <a:t>Which error is more costly: false positive or false negative?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68680" y="2359152"/>
            <a:ext cx="47091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33272" y="2478024"/>
            <a:ext cx="437997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F2937"/>
                </a:solidFill>
              </a:rPr>
              <a:t>Should the threshold always be 0.50?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217920" y="2359152"/>
            <a:ext cx="47091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82512" y="2478024"/>
            <a:ext cx="437997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F2937"/>
                </a:solidFill>
              </a:rPr>
              <a:t>When is a decision tree preferable to logistic regression?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68680" y="3392424"/>
            <a:ext cx="47091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33272" y="3511296"/>
            <a:ext cx="437997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F2937"/>
                </a:solidFill>
              </a:rPr>
              <a:t>How trustworthy are the class labels?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217920" y="3392424"/>
            <a:ext cx="47091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82512" y="3511296"/>
            <a:ext cx="437997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F2937"/>
                </a:solidFill>
              </a:rPr>
              <a:t>What baseline represents current practice?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960120" y="4983480"/>
            <a:ext cx="10195560" cy="502920"/>
          </a:xfrm>
          <a:prstGeom prst="roundRect">
            <a:avLst>
              <a:gd name="adj" fmla="val 14545"/>
            </a:avLst>
          </a:prstGeom>
          <a:solidFill>
            <a:srgbClr val="FEF2F2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124712" y="5102352"/>
            <a:ext cx="986637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8102E"/>
                </a:solidFill>
              </a:rPr>
              <a:t>Session synthesis: classification is not just about predicting labels — it is about choosing errors that align with disciplinary consequences.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60120" y="5715000"/>
            <a:ext cx="101955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124712" y="5833872"/>
            <a:ext cx="986637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</a:rPr>
              <a:t>Next: Hands-on baseline model activity — apply regression or classification to a small dataset.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1984</Words>
  <Application>Microsoft Office PowerPoint</Application>
  <PresentationFormat>Widescreen</PresentationFormat>
  <Paragraphs>394</Paragraphs>
  <Slides>19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Cascadia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NC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4 Session 1 — Classification Fundamentals</dc:title>
  <dc:subject>Session 4 Applied AI Design Workshop</dc:subject>
  <dc:creator>Fred Livingston</dc:creator>
  <cp:lastModifiedBy>Fred Livingston</cp:lastModifiedBy>
  <cp:revision>7</cp:revision>
  <dcterms:created xsi:type="dcterms:W3CDTF">2026-07-14T20:49:31Z</dcterms:created>
  <dcterms:modified xsi:type="dcterms:W3CDTF">2026-07-16T03:48:20Z</dcterms:modified>
</cp:coreProperties>
</file>